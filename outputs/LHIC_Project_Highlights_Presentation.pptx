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67" r:id="rId3"/>
    <p:sldId id="257" r:id="rId4"/>
    <p:sldId id="268" r:id="rId5"/>
    <p:sldId id="269" r:id="rId6"/>
    <p:sldId id="270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00FB92"/>
    <a:srgbClr val="8E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3"/>
  </p:normalViewPr>
  <p:slideViewPr>
    <p:cSldViewPr snapToGrid="0">
      <p:cViewPr>
        <p:scale>
          <a:sx n="92" d="100"/>
          <a:sy n="92" d="100"/>
        </p:scale>
        <p:origin x="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Controlled task success</c:v>
          </c:tx>
          <c:spPr>
            <a:solidFill>
              <a:srgbClr val="FF9300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1"/>
          <c:dPt>
            <c:idx val="1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1CA-A640-8CAA-E78E61311C1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Semantic target</c:v>
              </c:pt>
              <c:pt idx="1">
                <c:v>Static selector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20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>
                    <a:outerShdw blurRad="76200" dir="18900000" sy="23000" kx="-1200000" algn="bl" rotWithShape="0">
                      <a:prstClr val="black">
                        <a:alpha val="20000"/>
                      </a:prstClr>
                    </a:outerShdw>
                  </a:effectLst>
                </c14:spPr>
              </c14:invertSolidFillFmt>
            </c:ext>
            <c:ext xmlns:c16="http://schemas.microsoft.com/office/drawing/2014/chart" uri="{C3380CC4-5D6E-409C-BE32-E72D297353CC}">
              <c16:uniqueId val="{00000000-E1CA-A640-8CAA-E78E61311C1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zero"/>
    <c:showDLblsOverMax val="1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TW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3BD88-56F9-F33D-9C07-006E03D1E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C2B0C-A8E5-DA75-5392-64F50C62B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552CC-CF66-CB1D-55AF-B27383D81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598ED-9958-4BC6-742D-14D2DE6F660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8521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83AA0-6CAE-E35B-49FE-B64D1B03C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C90B9-36DE-A1AB-F5B6-16E355336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3B2DA-ABC6-A272-FE9F-390418B2B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E5229-FF64-F9DF-55CF-E8463B768F8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0656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12964-3209-2727-CC3A-1E7DB1442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E2E52-B8D6-4866-EA08-22BC231C5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BCFBE-E32B-6596-591D-172E9D7D7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D851A-F277-CDCD-B998-22DB286BC13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6557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8998C-5041-3547-98E4-5953EACDC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67768-E88C-A06E-6749-005FFE7AC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FA83B3-238F-889E-F906-AA174BF69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3B14A-401D-44E1-0A69-BCFDEFBA8FD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4042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1008FFD-9F24-40AD-BC0C-CF706D53C1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D39426-A49B-48EF-9B9D-43A8D7A171B4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8F129D-6CDD-4B23-ADE3-1DCE4DE7D40D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47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LHIC  /  PROJECT HIGHLIGHTS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BDCD02-B39F-43BE-8D79-E28670857FC3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4953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044"/>
          </a:bodyPr>
          <a:lstStyle/>
          <a:p>
            <a:pPr algn="l"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Local execution.</a:t>
            </a:r>
          </a:p>
          <a:p>
            <a:pPr algn="l"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Verifiable outcomes.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546CE4-EC70-4D38-B68B-6ECDE3B85B20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476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 i="0">
                <a:solidFill>
                  <a:srgbClr val="BECCD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BECCDE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Local Human Intent Controller turns intent into typed actions, local automation, explicit proof, and redacted traces.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13B6A00C-C5AB-4031-A73C-B8827CA8089E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1828800" cy="304800"/>
          </a:xfrm>
          <a:prstGeom prst="roundRect">
            <a:avLst>
              <a:gd name="adj" fmla="val 37500"/>
            </a:avLst>
          </a:prstGeom>
          <a:solidFill>
            <a:srgbClr val="F0F8DF"/>
          </a:solidFill>
          <a:ln w="0">
            <a:solidFill>
              <a:srgbClr val="F0F8D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9B86F3-0EAE-4E75-AF0A-7735EB0CCDDD}"/>
              </a:ext>
            </a:extLst>
          </p:cNvPr>
          <p:cNvSpPr>
            <a:spLocks noGrp="1"/>
          </p:cNvSpPr>
          <p:nvPr/>
        </p:nvSpPr>
        <p:spPr>
          <a:xfrm>
            <a:off x="781050" y="5114925"/>
            <a:ext cx="1638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MODEL-FREE FAST PATH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15EA814A-0AA9-4FCA-9F6B-C67FEC22207E}"/>
              </a:ext>
            </a:extLst>
          </p:cNvPr>
          <p:cNvSpPr>
            <a:spLocks noGrp="1"/>
          </p:cNvSpPr>
          <p:nvPr/>
        </p:nvSpPr>
        <p:spPr>
          <a:xfrm>
            <a:off x="2628900" y="5048250"/>
            <a:ext cx="1466850" cy="304800"/>
          </a:xfrm>
          <a:prstGeom prst="roundRect">
            <a:avLst>
              <a:gd name="adj" fmla="val 37500"/>
            </a:avLst>
          </a:prstGeom>
          <a:solidFill>
            <a:srgbClr val="E4F7F9"/>
          </a:solidFill>
          <a:ln w="0">
            <a:solidFill>
              <a:srgbClr val="E4F7F9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FFAB76-54DB-4704-96DC-F4028D0C874A}"/>
              </a:ext>
            </a:extLst>
          </p:cNvPr>
          <p:cNvSpPr>
            <a:spLocks noGrp="1"/>
          </p:cNvSpPr>
          <p:nvPr/>
        </p:nvSpPr>
        <p:spPr>
          <a:xfrm>
            <a:off x="2724150" y="5114925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 i="0">
                <a:solidFill>
                  <a:srgbClr val="168F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8F9A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VERIFIER-FIRST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EE967B4F-8338-4B7D-8F50-39B399AEC3EC}"/>
              </a:ext>
            </a:extLst>
          </p:cNvPr>
          <p:cNvSpPr>
            <a:spLocks noGrp="1"/>
          </p:cNvSpPr>
          <p:nvPr/>
        </p:nvSpPr>
        <p:spPr>
          <a:xfrm>
            <a:off x="4210050" y="5048250"/>
            <a:ext cx="1562100" cy="304800"/>
          </a:xfrm>
          <a:prstGeom prst="roundRect">
            <a:avLst>
              <a:gd name="adj" fmla="val 37500"/>
            </a:avLst>
          </a:prstGeom>
          <a:solidFill>
            <a:srgbClr val="1D3150"/>
          </a:solidFill>
          <a:ln w="9525">
            <a:solidFill>
              <a:srgbClr val="4F6382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A5DD948-3E47-48C8-8357-9040B9D60E36}"/>
              </a:ext>
            </a:extLst>
          </p:cNvPr>
          <p:cNvSpPr>
            <a:spLocks noGrp="1"/>
          </p:cNvSpPr>
          <p:nvPr/>
        </p:nvSpPr>
        <p:spPr>
          <a:xfrm>
            <a:off x="4305300" y="5114925"/>
            <a:ext cx="1371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HUMAN AUTHORITY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A638E6-0EE2-4B6F-84AB-2D24DFB42382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 i="0">
                <a:solidFill>
                  <a:srgbClr val="8FA3B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FA3BC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Technical &amp; product briefing  •  20 July 2026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9B78E762-7688-4D12-911F-0BB258164A35}"/>
              </a:ext>
            </a:extLst>
          </p:cNvPr>
          <p:cNvSpPr>
            <a:spLocks noGrp="1"/>
          </p:cNvSpPr>
          <p:nvPr/>
        </p:nvSpPr>
        <p:spPr>
          <a:xfrm>
            <a:off x="5981700" y="704850"/>
            <a:ext cx="5600700" cy="5200650"/>
          </a:xfrm>
          <a:prstGeom prst="roundRect">
            <a:avLst>
              <a:gd name="adj" fmla="val 2930"/>
            </a:avLst>
          </a:prstGeom>
          <a:solidFill>
            <a:srgbClr val="0C203A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D17F4056-DCAF-4332-97AA-FA52EC2B006E}"/>
              </a:ext>
            </a:extLst>
          </p:cNvPr>
          <p:cNvSpPr>
            <a:spLocks noGrp="1"/>
          </p:cNvSpPr>
          <p:nvPr/>
        </p:nvSpPr>
        <p:spPr>
          <a:xfrm>
            <a:off x="9277350" y="933450"/>
            <a:ext cx="1962150" cy="304800"/>
          </a:xfrm>
          <a:prstGeom prst="roundRect">
            <a:avLst>
              <a:gd name="adj" fmla="val 37500"/>
            </a:avLst>
          </a:prstGeom>
          <a:solidFill>
            <a:srgbClr val="0B1B31"/>
          </a:solidFill>
          <a:ln w="9525">
            <a:solidFill>
              <a:srgbClr val="657D31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AFE140-B4D6-4C8F-88F9-47F32D6EC7DA}"/>
              </a:ext>
            </a:extLst>
          </p:cNvPr>
          <p:cNvSpPr>
            <a:spLocks noGrp="1"/>
          </p:cNvSpPr>
          <p:nvPr/>
        </p:nvSpPr>
        <p:spPr>
          <a:xfrm>
            <a:off x="9372600" y="1000125"/>
            <a:ext cx="177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9F34A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CONTROLLED LOCAL DEMO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5BA9FB-800D-4B43-8039-15EE10BF35D0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8FA3B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A3BC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01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9" name="投影片縮放 18">
                <a:extLst>
                  <a:ext uri="{FF2B5EF4-FFF2-40B4-BE49-F238E27FC236}">
                    <a16:creationId xmlns:a16="http://schemas.microsoft.com/office/drawing/2014/main" id="{E8E5500B-FC29-231C-CFD5-D93EB9B869A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87890566"/>
                  </p:ext>
                </p:extLst>
              </p:nvPr>
            </p:nvGraphicFramePr>
            <p:xfrm>
              <a:off x="6457950" y="1857375"/>
              <a:ext cx="5068110" cy="2850812"/>
            </p:xfrm>
            <a:graphic>
              <a:graphicData uri="http://schemas.microsoft.com/office/powerpoint/2016/slidezoom">
                <pslz:sldZm>
                  <pslz:sldZmObj sldId="267" cId="710745928">
                    <pslz:zmPr id="{A06951C3-BCA7-294A-9CF2-D206427C05E2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068110" cy="285081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9" name="投影片縮放 18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E8E5500B-FC29-231C-CFD5-D93EB9B869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57950" y="1857375"/>
                <a:ext cx="5068110" cy="285081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437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BA6C1-F95F-C981-382E-CDC9E868D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FA1DB081-76FA-E8D4-84A2-A4969EEBA6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588A11-93CE-5617-FE97-DF38CDB64B40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4D48A4E2-F154-607F-D3AE-6B7E4BA8E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6204" y="471487"/>
            <a:ext cx="11075549" cy="6229997"/>
          </a:xfrm>
          <a:prstGeom prst="roundRect">
            <a:avLst>
              <a:gd name="adj" fmla="val 0"/>
            </a:avLst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5A8B1883-F680-92FE-8642-A224F40E3664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8FA3B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A3BC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10745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52108FD-9B64-4BE6-8724-5506C3030E7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CORE THESIS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37FD5A-2300-43FC-A271-D8A01DD14F3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Intelligence can propose. LHIC decides what happened.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C13EAD-7F53-42BB-A200-00B5FF77724D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1BF1E6-807E-4DA2-B29F-B432B38DFFA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762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The execution boundary is the product.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50D2D9-CD95-4EC5-8E05-6A7E41363EB1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47625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Routine work stays local and deterministic. Ambiguous work may use a model, but every proposal is revalidated. High-risk or global work returns authority to the human.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43D4026F-C677-48E4-AC48-5D9EFE578EC6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4762500" cy="1028700"/>
          </a:xfrm>
          <a:prstGeom prst="roundRect">
            <a:avLst>
              <a:gd name="adj" fmla="val 11111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9BE987-ED5C-4C79-AD9D-EB80C87AC211}"/>
              </a:ext>
            </a:extLst>
          </p:cNvPr>
          <p:cNvSpPr>
            <a:spLocks noGrp="1"/>
          </p:cNvSpPr>
          <p:nvPr/>
        </p:nvSpPr>
        <p:spPr>
          <a:xfrm>
            <a:off x="876300" y="4876800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F34A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SUCCESS ≠ “THE CLICK RAN”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4706EB-C046-4D11-8F66-4C4D685C0319}"/>
              </a:ext>
            </a:extLst>
          </p:cNvPr>
          <p:cNvSpPr>
            <a:spLocks noGrp="1"/>
          </p:cNvSpPr>
          <p:nvPr/>
        </p:nvSpPr>
        <p:spPr>
          <a:xfrm>
            <a:off x="876300" y="51911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684"/>
          </a:bodyPr>
          <a:lstStyle/>
          <a:p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Success is a declared postcondition with verifier evidence and a redacted trace.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E0CAF698-94F0-4780-A76E-3723F5DBDB67}"/>
              </a:ext>
            </a:extLst>
          </p:cNvPr>
          <p:cNvSpPr>
            <a:spLocks noGrp="1"/>
          </p:cNvSpPr>
          <p:nvPr/>
        </p:nvSpPr>
        <p:spPr>
          <a:xfrm>
            <a:off x="5981700" y="15811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EB593289-FDB6-4EA7-B4E0-220E30E11D14}"/>
              </a:ext>
            </a:extLst>
          </p:cNvPr>
          <p:cNvSpPr>
            <a:spLocks noGrp="1"/>
          </p:cNvSpPr>
          <p:nvPr/>
        </p:nvSpPr>
        <p:spPr>
          <a:xfrm>
            <a:off x="5981700" y="1581150"/>
            <a:ext cx="95250" cy="1257300"/>
          </a:xfrm>
          <a:prstGeom prst="roundRect">
            <a:avLst>
              <a:gd name="adj" fmla="val 50000"/>
            </a:avLst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5C972D-75A0-4A17-BD79-3A5799823724}"/>
              </a:ext>
            </a:extLst>
          </p:cNvPr>
          <p:cNvSpPr>
            <a:spLocks noGrp="1"/>
          </p:cNvSpPr>
          <p:nvPr/>
        </p:nvSpPr>
        <p:spPr>
          <a:xfrm>
            <a:off x="6248400" y="1771650"/>
            <a:ext cx="470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Fast Path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2E8BEE-4831-40C3-9971-3FDDD2CCDE83}"/>
              </a:ext>
            </a:extLst>
          </p:cNvPr>
          <p:cNvSpPr>
            <a:spLocks noGrp="1"/>
          </p:cNvSpPr>
          <p:nvPr/>
        </p:nvSpPr>
        <p:spPr>
          <a:xfrm>
            <a:off x="6248400" y="2105025"/>
            <a:ext cx="470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LOCAL / DETERMINISTIC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733397-591A-49C4-A4F8-AC419E7E0E12}"/>
              </a:ext>
            </a:extLst>
          </p:cNvPr>
          <p:cNvSpPr>
            <a:spLocks noGrp="1"/>
          </p:cNvSpPr>
          <p:nvPr/>
        </p:nvSpPr>
        <p:spPr>
          <a:xfrm>
            <a:off x="6248400" y="2362200"/>
            <a:ext cx="4705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Playwright + DOM + accessibility. No LLM. No MCP. No browser coordinates.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32043521-7FA3-466F-A80E-0C16EAA051B6}"/>
              </a:ext>
            </a:extLst>
          </p:cNvPr>
          <p:cNvSpPr>
            <a:spLocks noGrp="1"/>
          </p:cNvSpPr>
          <p:nvPr/>
        </p:nvSpPr>
        <p:spPr>
          <a:xfrm>
            <a:off x="5981700" y="30099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6D4528D3-76DC-4048-85CE-DD18D0D2B76E}"/>
              </a:ext>
            </a:extLst>
          </p:cNvPr>
          <p:cNvSpPr>
            <a:spLocks noGrp="1"/>
          </p:cNvSpPr>
          <p:nvPr/>
        </p:nvSpPr>
        <p:spPr>
          <a:xfrm>
            <a:off x="5981700" y="3009900"/>
            <a:ext cx="95250" cy="1257300"/>
          </a:xfrm>
          <a:prstGeom prst="roundRect">
            <a:avLst>
              <a:gd name="adj" fmla="val 50000"/>
            </a:avLst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2CCD6D-1E0F-4452-B401-B1DC28C14B57}"/>
              </a:ext>
            </a:extLst>
          </p:cNvPr>
          <p:cNvSpPr>
            <a:spLocks noGrp="1"/>
          </p:cNvSpPr>
          <p:nvPr/>
        </p:nvSpPr>
        <p:spPr>
          <a:xfrm>
            <a:off x="6248400" y="3200400"/>
            <a:ext cx="470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Slow Path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F621CDF-B3DE-4623-8BB7-B863F8D6342C}"/>
              </a:ext>
            </a:extLst>
          </p:cNvPr>
          <p:cNvSpPr>
            <a:spLocks noGrp="1"/>
          </p:cNvSpPr>
          <p:nvPr/>
        </p:nvSpPr>
        <p:spPr>
          <a:xfrm>
            <a:off x="6248400" y="3533775"/>
            <a:ext cx="470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E7B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OPTIONAL / BOUNDED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39C126-6DF6-47DB-BD8E-D718CA2BD7F6}"/>
              </a:ext>
            </a:extLst>
          </p:cNvPr>
          <p:cNvSpPr>
            <a:spLocks noGrp="1"/>
          </p:cNvSpPr>
          <p:nvPr/>
        </p:nvSpPr>
        <p:spPr>
          <a:xfrm>
            <a:off x="6248400" y="3790950"/>
            <a:ext cx="4705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Strict structured plan, redacted request, 30-second timeout, full schema and policy checks.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54719C48-CA82-4178-8D5C-BDF195F9C608}"/>
              </a:ext>
            </a:extLst>
          </p:cNvPr>
          <p:cNvSpPr>
            <a:spLocks noGrp="1"/>
          </p:cNvSpPr>
          <p:nvPr/>
        </p:nvSpPr>
        <p:spPr>
          <a:xfrm>
            <a:off x="5981700" y="44386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FAC4412F-40A4-49F0-AEDB-AC8C676B270C}"/>
              </a:ext>
            </a:extLst>
          </p:cNvPr>
          <p:cNvSpPr>
            <a:spLocks noGrp="1"/>
          </p:cNvSpPr>
          <p:nvPr/>
        </p:nvSpPr>
        <p:spPr>
          <a:xfrm>
            <a:off x="5981700" y="4438650"/>
            <a:ext cx="95250" cy="1257300"/>
          </a:xfrm>
          <a:prstGeom prst="roundRect">
            <a:avLst>
              <a:gd name="adj" fmla="val 50000"/>
            </a:avLst>
          </a:prstGeom>
          <a:solidFill>
            <a:srgbClr val="759E20"/>
          </a:solidFill>
          <a:ln w="0">
            <a:solidFill>
              <a:srgbClr val="759E20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91E7ED-C398-4AF5-9116-A81C8F39F840}"/>
              </a:ext>
            </a:extLst>
          </p:cNvPr>
          <p:cNvSpPr>
            <a:spLocks noGrp="1"/>
          </p:cNvSpPr>
          <p:nvPr/>
        </p:nvSpPr>
        <p:spPr>
          <a:xfrm>
            <a:off x="6248400" y="4629150"/>
            <a:ext cx="470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Human authority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B0FA956-EE8F-4D71-BBE5-4A9481F1E6A7}"/>
              </a:ext>
            </a:extLst>
          </p:cNvPr>
          <p:cNvSpPr>
            <a:spLocks noGrp="1"/>
          </p:cNvSpPr>
          <p:nvPr/>
        </p:nvSpPr>
        <p:spPr>
          <a:xfrm>
            <a:off x="6248400" y="4962525"/>
            <a:ext cx="470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EXACT-ACTION APPROVAL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7E9FF0-277E-4CD7-8B57-06468CEE4BE8}"/>
              </a:ext>
            </a:extLst>
          </p:cNvPr>
          <p:cNvSpPr>
            <a:spLocks noGrp="1"/>
          </p:cNvSpPr>
          <p:nvPr/>
        </p:nvSpPr>
        <p:spPr>
          <a:xfrm>
            <a:off x="6248400" y="5219700"/>
            <a:ext cx="4705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Required for high/unknown risk and every native desktop action; pre/post window and process proof.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E3C9D0-BFDE-4639-BC1D-EBE7C6B4A8B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Source: repository architecture, routing profiles, OpenAI planner, and global-control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238906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DD1D1-98F9-E634-ABAB-D97A4885E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56004B3F-36D6-B72D-51E0-AA200FE324C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CORE THESIS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3EFD69-8D51-7959-7760-D050AA16EF68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Intelligence can propose. LHIC decides what happened.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F4AC0-07A5-C847-9F2D-87D03DB12C9A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75BDAF-B625-7881-09CB-D6925025689A}"/>
              </a:ext>
            </a:extLst>
          </p:cNvPr>
          <p:cNvSpPr>
            <a:spLocks noGrp="1"/>
          </p:cNvSpPr>
          <p:nvPr/>
        </p:nvSpPr>
        <p:spPr>
          <a:xfrm>
            <a:off x="876300" y="51911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684"/>
          </a:bodyPr>
          <a:lstStyle/>
          <a:p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Success is a declared postcondition with verifier evidence and a redacted trace.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25408E3D-8B62-02E5-EC9D-7AB11B6DBC8A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6776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71BE82AB-0741-3419-43F0-5F23925DE64E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95250" cy="1257300"/>
          </a:xfrm>
          <a:prstGeom prst="roundRect">
            <a:avLst>
              <a:gd name="adj" fmla="val 50000"/>
            </a:avLst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569552-A218-ADC5-B430-F4FAEDDC2D0E}"/>
              </a:ext>
            </a:extLst>
          </p:cNvPr>
          <p:cNvSpPr>
            <a:spLocks noGrp="1"/>
          </p:cNvSpPr>
          <p:nvPr/>
        </p:nvSpPr>
        <p:spPr>
          <a:xfrm>
            <a:off x="781050" y="1447800"/>
            <a:ext cx="470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800" b="1" i="0" dirty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Fast Path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D96F6E-F897-99C3-6627-2460AF98CABD}"/>
              </a:ext>
            </a:extLst>
          </p:cNvPr>
          <p:cNvSpPr>
            <a:spLocks noGrp="1"/>
          </p:cNvSpPr>
          <p:nvPr/>
        </p:nvSpPr>
        <p:spPr>
          <a:xfrm>
            <a:off x="781050" y="1781175"/>
            <a:ext cx="470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400" b="1" i="0" dirty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LOCAL / DETERMINISTIC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07EA7E-9B8B-E8DF-9AA6-93BC43439FFF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4705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00" b="0" i="0" dirty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Playwright + DOM + accessibility. No LLM. No MCP. No browser coordinates.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0BAD4C6-BD2F-7636-5EE2-71F136E1DA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Source: repository architecture, routing profiles, OpenAI planner, and global-control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870442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71340-18F4-0AB4-7A04-C04FA0E3A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B7554595-FBDC-D922-EB6C-E98316AA981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CORE THESIS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04E702-E7E7-90BD-51A6-653301BC905B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Intelligence can propose. LHIC decides what happened.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21A240-253D-E5D0-32FD-36FDB78C044B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CE1751-89CD-ED43-9AF5-B4FA9CF9BA77}"/>
              </a:ext>
            </a:extLst>
          </p:cNvPr>
          <p:cNvSpPr>
            <a:spLocks noGrp="1"/>
          </p:cNvSpPr>
          <p:nvPr/>
        </p:nvSpPr>
        <p:spPr>
          <a:xfrm>
            <a:off x="876300" y="51911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684"/>
          </a:bodyPr>
          <a:lstStyle/>
          <a:p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Success is a declared postcondition with verifier evidence and a redacted trace.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9F6EBC8B-2D31-E0D6-5B76-82B17FDEA7F4}"/>
              </a:ext>
            </a:extLst>
          </p:cNvPr>
          <p:cNvSpPr>
            <a:spLocks noGrp="1"/>
          </p:cNvSpPr>
          <p:nvPr/>
        </p:nvSpPr>
        <p:spPr>
          <a:xfrm>
            <a:off x="266700" y="1466850"/>
            <a:ext cx="116586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26784D4C-D1C8-C667-6DAE-BDE08EDB5C49}"/>
              </a:ext>
            </a:extLst>
          </p:cNvPr>
          <p:cNvSpPr>
            <a:spLocks noGrp="1"/>
          </p:cNvSpPr>
          <p:nvPr/>
        </p:nvSpPr>
        <p:spPr>
          <a:xfrm>
            <a:off x="266700" y="1466850"/>
            <a:ext cx="212748" cy="1257300"/>
          </a:xfrm>
          <a:prstGeom prst="roundRect">
            <a:avLst>
              <a:gd name="adj" fmla="val 50000"/>
            </a:avLst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189955-E17E-6C7E-994E-1A318C4C2477}"/>
              </a:ext>
            </a:extLst>
          </p:cNvPr>
          <p:cNvSpPr>
            <a:spLocks noGrp="1"/>
          </p:cNvSpPr>
          <p:nvPr/>
        </p:nvSpPr>
        <p:spPr>
          <a:xfrm>
            <a:off x="533400" y="1657350"/>
            <a:ext cx="1050976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Slow Path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54A1D7-4253-7DE2-3C6C-C75E0AD0C2C2}"/>
              </a:ext>
            </a:extLst>
          </p:cNvPr>
          <p:cNvSpPr>
            <a:spLocks noGrp="1"/>
          </p:cNvSpPr>
          <p:nvPr/>
        </p:nvSpPr>
        <p:spPr>
          <a:xfrm>
            <a:off x="533400" y="1990725"/>
            <a:ext cx="1050976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8E7B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OPTIONAL / BOUNDED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D9531A-511B-ACC7-8FED-44E8D2661E3D}"/>
              </a:ext>
            </a:extLst>
          </p:cNvPr>
          <p:cNvSpPr>
            <a:spLocks noGrp="1"/>
          </p:cNvSpPr>
          <p:nvPr/>
        </p:nvSpPr>
        <p:spPr>
          <a:xfrm>
            <a:off x="533400" y="2247900"/>
            <a:ext cx="105097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00" b="0" i="0" dirty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Strict structured plan, redacted request, 30-second timeout, full schema and policy checks.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8EAED67-EE59-B2EA-3AE8-5D6D5687F50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Source: repository architecture, routing profiles, OpenAI planner, and global-control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532206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66D24-BD66-2C8C-A0A0-DE7019409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7CEBDC76-2855-D2AC-AE33-2A07DD84579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CORE THESIS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7DCD3F-3753-A5C8-F505-1DDEC545B9E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Intelligence can propose. LHIC decides what happened.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275749-984C-4B9A-4D5C-24509218ACCC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07292E-FAA2-79D1-8557-B2DC6A21D2B2}"/>
              </a:ext>
            </a:extLst>
          </p:cNvPr>
          <p:cNvSpPr>
            <a:spLocks noGrp="1"/>
          </p:cNvSpPr>
          <p:nvPr/>
        </p:nvSpPr>
        <p:spPr>
          <a:xfrm>
            <a:off x="876300" y="51911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684"/>
          </a:bodyPr>
          <a:lstStyle/>
          <a:p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Success is a declared postcondition with verifier evidence and a redacted trace.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958A6C00-EBD9-9820-7FA2-1D5FA5801DAD}"/>
              </a:ext>
            </a:extLst>
          </p:cNvPr>
          <p:cNvSpPr>
            <a:spLocks noGrp="1"/>
          </p:cNvSpPr>
          <p:nvPr/>
        </p:nvSpPr>
        <p:spPr>
          <a:xfrm>
            <a:off x="533399" y="1147762"/>
            <a:ext cx="11264153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64B54BED-E1D5-4C74-F705-C79AE0278D79}"/>
              </a:ext>
            </a:extLst>
          </p:cNvPr>
          <p:cNvSpPr>
            <a:spLocks noGrp="1"/>
          </p:cNvSpPr>
          <p:nvPr/>
        </p:nvSpPr>
        <p:spPr>
          <a:xfrm>
            <a:off x="533400" y="1147762"/>
            <a:ext cx="205550" cy="1257300"/>
          </a:xfrm>
          <a:prstGeom prst="roundRect">
            <a:avLst>
              <a:gd name="adj" fmla="val 50000"/>
            </a:avLst>
          </a:prstGeom>
          <a:solidFill>
            <a:srgbClr val="759E20"/>
          </a:solidFill>
          <a:ln w="0">
            <a:solidFill>
              <a:srgbClr val="759E20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47A397-53A0-1026-9531-A1E392ED9E1A}"/>
              </a:ext>
            </a:extLst>
          </p:cNvPr>
          <p:cNvSpPr>
            <a:spLocks noGrp="1"/>
          </p:cNvSpPr>
          <p:nvPr/>
        </p:nvSpPr>
        <p:spPr>
          <a:xfrm>
            <a:off x="800100" y="1338262"/>
            <a:ext cx="1015418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Human authority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6A6745-D25D-858E-8C30-FCECB9947B3E}"/>
              </a:ext>
            </a:extLst>
          </p:cNvPr>
          <p:cNvSpPr>
            <a:spLocks noGrp="1"/>
          </p:cNvSpPr>
          <p:nvPr/>
        </p:nvSpPr>
        <p:spPr>
          <a:xfrm>
            <a:off x="800100" y="1671637"/>
            <a:ext cx="1015418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2000" b="1" i="0" dirty="0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EXACT-ACTION APPROVAL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0A8866-6290-6C79-C2F8-6EC2C53C097B}"/>
              </a:ext>
            </a:extLst>
          </p:cNvPr>
          <p:cNvSpPr>
            <a:spLocks noGrp="1"/>
          </p:cNvSpPr>
          <p:nvPr/>
        </p:nvSpPr>
        <p:spPr>
          <a:xfrm>
            <a:off x="800100" y="1928812"/>
            <a:ext cx="1015418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00" b="0" i="0" dirty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Required for high/unknown risk and every native desktop action; pre/post window and process proof.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D2D4273-0F56-E3CB-7A49-039DD3B629B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Source: repository architecture, routing profiles, OpenAI planner, and global-control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807130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C5A75668-6C7A-4E1A-9944-9923DB1BF07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ARCHITECTURE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1867DE-ADB6-4B57-A3EA-2BEDDD2D6BA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A deterministic control loop with proof at the end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EE2BE2-EA1C-452A-8378-C2B581648C3C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6A6A41-4106-4114-A675-865A221E76A8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Every transition is typed, budgeted, and inspectable.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6884D2AC-F7BD-49FE-A122-C487E742E49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562100" cy="1333500"/>
          </a:xfrm>
          <a:prstGeom prst="roundRect">
            <a:avLst>
              <a:gd name="adj" fmla="val 8571"/>
            </a:avLst>
          </a:prstGeom>
          <a:solidFill>
            <a:srgbClr val="071628"/>
          </a:solidFill>
          <a:ln w="9525">
            <a:solidFill>
              <a:srgbClr val="07162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F6B416D-395A-49F2-94DF-095ACA406867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152400" cy="152400"/>
          </a:xfrm>
          <a:prstGeom prst="ellipse">
            <a:avLst/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53DD0F-5EC6-4422-BE38-8889F71F8C15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1181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INTENT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A9B6E1-F1BA-4DCD-9D59-254FAAA47759}"/>
              </a:ext>
            </a:extLst>
          </p:cNvPr>
          <p:cNvSpPr>
            <a:spLocks noGrp="1"/>
          </p:cNvSpPr>
          <p:nvPr/>
        </p:nvSpPr>
        <p:spPr>
          <a:xfrm>
            <a:off x="800100" y="29718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Goal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28D343-3E1F-445D-B50F-AE1D8A083822}"/>
              </a:ext>
            </a:extLst>
          </p:cNvPr>
          <p:cNvSpPr>
            <a:spLocks noGrp="1"/>
          </p:cNvSpPr>
          <p:nvPr/>
        </p:nvSpPr>
        <p:spPr>
          <a:xfrm>
            <a:off x="2228850" y="2743200"/>
            <a:ext cx="38100" cy="28575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9E2C30-6AC4-4D46-A9A5-8A365305C04B}"/>
              </a:ext>
            </a:extLst>
          </p:cNvPr>
          <p:cNvSpPr>
            <a:spLocks noGrp="1"/>
          </p:cNvSpPr>
          <p:nvPr/>
        </p:nvSpPr>
        <p:spPr>
          <a:xfrm>
            <a:off x="2209800" y="257175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542"/>
          </a:bodyPr>
          <a:lstStyle/>
          <a:p>
            <a:pPr algn="ctr">
              <a:defRPr sz="24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F01A0D6C-EF28-403B-9FDE-03EF7B29F1AC}"/>
              </a:ext>
            </a:extLst>
          </p:cNvPr>
          <p:cNvSpPr>
            <a:spLocks noGrp="1"/>
          </p:cNvSpPr>
          <p:nvPr/>
        </p:nvSpPr>
        <p:spPr>
          <a:xfrm>
            <a:off x="2476500" y="2095500"/>
            <a:ext cx="1562100" cy="133350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40F62EF6-4160-410A-B382-71D6EA6A9E8A}"/>
              </a:ext>
            </a:extLst>
          </p:cNvPr>
          <p:cNvSpPr>
            <a:spLocks noGrp="1"/>
          </p:cNvSpPr>
          <p:nvPr/>
        </p:nvSpPr>
        <p:spPr>
          <a:xfrm>
            <a:off x="2667000" y="2286000"/>
            <a:ext cx="152400" cy="152400"/>
          </a:xfrm>
          <a:prstGeom prst="ellipse">
            <a:avLst/>
          </a:prstGeom>
          <a:solidFill>
            <a:srgbClr val="3980C6"/>
          </a:solidFill>
          <a:ln w="0">
            <a:solidFill>
              <a:srgbClr val="3980C6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325BB9-0DF4-4E8E-A662-4A2D3A39967F}"/>
              </a:ext>
            </a:extLst>
          </p:cNvPr>
          <p:cNvSpPr>
            <a:spLocks noGrp="1"/>
          </p:cNvSpPr>
          <p:nvPr/>
        </p:nvSpPr>
        <p:spPr>
          <a:xfrm>
            <a:off x="2667000" y="2571750"/>
            <a:ext cx="1181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SENSE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1E9496-ECC3-4CB8-953B-723D15C30884}"/>
              </a:ext>
            </a:extLst>
          </p:cNvPr>
          <p:cNvSpPr>
            <a:spLocks noGrp="1"/>
          </p:cNvSpPr>
          <p:nvPr/>
        </p:nvSpPr>
        <p:spPr>
          <a:xfrm>
            <a:off x="2667000" y="29718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DOM + AX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D8BB04-138A-45BE-B929-D4466035178A}"/>
              </a:ext>
            </a:extLst>
          </p:cNvPr>
          <p:cNvSpPr>
            <a:spLocks noGrp="1"/>
          </p:cNvSpPr>
          <p:nvPr/>
        </p:nvSpPr>
        <p:spPr>
          <a:xfrm>
            <a:off x="4095750" y="2743200"/>
            <a:ext cx="38100" cy="28575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1E3040-3E15-47E7-9772-65AE47ECBD9A}"/>
              </a:ext>
            </a:extLst>
          </p:cNvPr>
          <p:cNvSpPr>
            <a:spLocks noGrp="1"/>
          </p:cNvSpPr>
          <p:nvPr/>
        </p:nvSpPr>
        <p:spPr>
          <a:xfrm>
            <a:off x="4076700" y="257175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542"/>
          </a:bodyPr>
          <a:lstStyle/>
          <a:p>
            <a:pPr algn="ctr">
              <a:defRPr sz="24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BAD16D5D-00C7-4AA2-BFB4-45530C3F192F}"/>
              </a:ext>
            </a:extLst>
          </p:cNvPr>
          <p:cNvSpPr>
            <a:spLocks noGrp="1"/>
          </p:cNvSpPr>
          <p:nvPr/>
        </p:nvSpPr>
        <p:spPr>
          <a:xfrm>
            <a:off x="4343400" y="2095500"/>
            <a:ext cx="1562100" cy="133350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9C6D9F24-1507-4BE9-A373-4C31D7C927A7}"/>
              </a:ext>
            </a:extLst>
          </p:cNvPr>
          <p:cNvSpPr>
            <a:spLocks noGrp="1"/>
          </p:cNvSpPr>
          <p:nvPr/>
        </p:nvSpPr>
        <p:spPr>
          <a:xfrm>
            <a:off x="4533900" y="2286000"/>
            <a:ext cx="152400" cy="152400"/>
          </a:xfrm>
          <a:prstGeom prst="ellipse">
            <a:avLst/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C1A9D5-F9F7-4AFA-85F0-CAEE62F1546B}"/>
              </a:ext>
            </a:extLst>
          </p:cNvPr>
          <p:cNvSpPr>
            <a:spLocks noGrp="1"/>
          </p:cNvSpPr>
          <p:nvPr/>
        </p:nvSpPr>
        <p:spPr>
          <a:xfrm>
            <a:off x="4533900" y="2571750"/>
            <a:ext cx="1181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PLAN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A17A09-9474-40F8-B8CA-38A5F5BE634D}"/>
              </a:ext>
            </a:extLst>
          </p:cNvPr>
          <p:cNvSpPr>
            <a:spLocks noGrp="1"/>
          </p:cNvSpPr>
          <p:nvPr/>
        </p:nvSpPr>
        <p:spPr>
          <a:xfrm>
            <a:off x="4533900" y="29718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Typed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DE0969C-844F-472D-AC3A-B45C31E8DD82}"/>
              </a:ext>
            </a:extLst>
          </p:cNvPr>
          <p:cNvSpPr>
            <a:spLocks noGrp="1"/>
          </p:cNvSpPr>
          <p:nvPr/>
        </p:nvSpPr>
        <p:spPr>
          <a:xfrm>
            <a:off x="5962650" y="2743200"/>
            <a:ext cx="38100" cy="28575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A2FBA3-7E04-44AC-89CC-ED32323E9AB5}"/>
              </a:ext>
            </a:extLst>
          </p:cNvPr>
          <p:cNvSpPr>
            <a:spLocks noGrp="1"/>
          </p:cNvSpPr>
          <p:nvPr/>
        </p:nvSpPr>
        <p:spPr>
          <a:xfrm>
            <a:off x="5943600" y="257175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542"/>
          </a:bodyPr>
          <a:lstStyle/>
          <a:p>
            <a:pPr algn="ctr">
              <a:defRPr sz="24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77410E14-952D-4045-93F8-759B8DE05E2D}"/>
              </a:ext>
            </a:extLst>
          </p:cNvPr>
          <p:cNvSpPr>
            <a:spLocks noGrp="1"/>
          </p:cNvSpPr>
          <p:nvPr/>
        </p:nvSpPr>
        <p:spPr>
          <a:xfrm>
            <a:off x="6210300" y="2095500"/>
            <a:ext cx="1562100" cy="133350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748D7B90-4AD4-4F78-8328-5578528D8D1E}"/>
              </a:ext>
            </a:extLst>
          </p:cNvPr>
          <p:cNvSpPr>
            <a:spLocks noGrp="1"/>
          </p:cNvSpPr>
          <p:nvPr/>
        </p:nvSpPr>
        <p:spPr>
          <a:xfrm>
            <a:off x="6400800" y="2286000"/>
            <a:ext cx="152400" cy="152400"/>
          </a:xfrm>
          <a:prstGeom prst="ellipse">
            <a:avLst/>
          </a:prstGeom>
          <a:solidFill>
            <a:srgbClr val="178B98"/>
          </a:solidFill>
          <a:ln w="0">
            <a:solidFill>
              <a:srgbClr val="178B9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1AEA525-58AE-464F-AA05-F4A84B7CE7F6}"/>
              </a:ext>
            </a:extLst>
          </p:cNvPr>
          <p:cNvSpPr>
            <a:spLocks noGrp="1"/>
          </p:cNvSpPr>
          <p:nvPr/>
        </p:nvSpPr>
        <p:spPr>
          <a:xfrm>
            <a:off x="6400800" y="2571750"/>
            <a:ext cx="1181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ACT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BF45A35-A9B5-4D5C-AC67-8B9F93C4D8AC}"/>
              </a:ext>
            </a:extLst>
          </p:cNvPr>
          <p:cNvSpPr>
            <a:spLocks noGrp="1"/>
          </p:cNvSpPr>
          <p:nvPr/>
        </p:nvSpPr>
        <p:spPr>
          <a:xfrm>
            <a:off x="6400800" y="29718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Local SDK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C3D773-192D-4BC5-8D7C-8E0FC0ADC69E}"/>
              </a:ext>
            </a:extLst>
          </p:cNvPr>
          <p:cNvSpPr>
            <a:spLocks noGrp="1"/>
          </p:cNvSpPr>
          <p:nvPr/>
        </p:nvSpPr>
        <p:spPr>
          <a:xfrm>
            <a:off x="7829550" y="2743200"/>
            <a:ext cx="38100" cy="28575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A4E65A1-74AF-42C3-A372-5F900A24A0E7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542"/>
          </a:bodyPr>
          <a:lstStyle/>
          <a:p>
            <a:pPr algn="ctr">
              <a:defRPr sz="24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33001C92-216E-43D6-B542-E3B5F93C64CB}"/>
              </a:ext>
            </a:extLst>
          </p:cNvPr>
          <p:cNvSpPr>
            <a:spLocks noGrp="1"/>
          </p:cNvSpPr>
          <p:nvPr/>
        </p:nvSpPr>
        <p:spPr>
          <a:xfrm>
            <a:off x="8077200" y="2095500"/>
            <a:ext cx="1562100" cy="133350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E23F5B3C-68A9-421A-A951-1DCD55D6A1B3}"/>
              </a:ext>
            </a:extLst>
          </p:cNvPr>
          <p:cNvSpPr>
            <a:spLocks noGrp="1"/>
          </p:cNvSpPr>
          <p:nvPr/>
        </p:nvSpPr>
        <p:spPr>
          <a:xfrm>
            <a:off x="8267700" y="2286000"/>
            <a:ext cx="152400" cy="152400"/>
          </a:xfrm>
          <a:prstGeom prst="ellipse">
            <a:avLst/>
          </a:prstGeom>
          <a:solidFill>
            <a:srgbClr val="759E20"/>
          </a:solidFill>
          <a:ln w="0">
            <a:solidFill>
              <a:srgbClr val="759E20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4EAD59F-C1E7-454F-BFD5-481631325226}"/>
              </a:ext>
            </a:extLst>
          </p:cNvPr>
          <p:cNvSpPr>
            <a:spLocks noGrp="1"/>
          </p:cNvSpPr>
          <p:nvPr/>
        </p:nvSpPr>
        <p:spPr>
          <a:xfrm>
            <a:off x="8267700" y="2571750"/>
            <a:ext cx="1181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PROVE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C4E9F36-1D84-435D-A95D-2300AFDC0585}"/>
              </a:ext>
            </a:extLst>
          </p:cNvPr>
          <p:cNvSpPr>
            <a:spLocks noGrp="1"/>
          </p:cNvSpPr>
          <p:nvPr/>
        </p:nvSpPr>
        <p:spPr>
          <a:xfrm>
            <a:off x="8267700" y="29718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Verifier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D915B0B-A0C4-47DB-A1CA-43AF4AE6C67F}"/>
              </a:ext>
            </a:extLst>
          </p:cNvPr>
          <p:cNvSpPr>
            <a:spLocks noGrp="1"/>
          </p:cNvSpPr>
          <p:nvPr/>
        </p:nvSpPr>
        <p:spPr>
          <a:xfrm>
            <a:off x="9696450" y="2743200"/>
            <a:ext cx="38100" cy="28575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B5BAC7B-A838-4A14-BE80-7A0CDC746395}"/>
              </a:ext>
            </a:extLst>
          </p:cNvPr>
          <p:cNvSpPr>
            <a:spLocks noGrp="1"/>
          </p:cNvSpPr>
          <p:nvPr/>
        </p:nvSpPr>
        <p:spPr>
          <a:xfrm>
            <a:off x="9677400" y="257175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542"/>
          </a:bodyPr>
          <a:lstStyle/>
          <a:p>
            <a:pPr algn="ctr">
              <a:defRPr sz="24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A37177B1-E265-4F98-B710-F1B1FDD88526}"/>
              </a:ext>
            </a:extLst>
          </p:cNvPr>
          <p:cNvSpPr>
            <a:spLocks noGrp="1"/>
          </p:cNvSpPr>
          <p:nvPr/>
        </p:nvSpPr>
        <p:spPr>
          <a:xfrm>
            <a:off x="9944100" y="2095500"/>
            <a:ext cx="1562100" cy="1333500"/>
          </a:xfrm>
          <a:prstGeom prst="roundRect">
            <a:avLst>
              <a:gd name="adj" fmla="val 8571"/>
            </a:avLst>
          </a:prstGeom>
          <a:solidFill>
            <a:srgbClr val="071628"/>
          </a:solidFill>
          <a:ln w="9525">
            <a:solidFill>
              <a:srgbClr val="07162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B3B62D2F-DE9B-4541-A5AB-6DAB947E1B01}"/>
              </a:ext>
            </a:extLst>
          </p:cNvPr>
          <p:cNvSpPr>
            <a:spLocks noGrp="1"/>
          </p:cNvSpPr>
          <p:nvPr/>
        </p:nvSpPr>
        <p:spPr>
          <a:xfrm>
            <a:off x="10134600" y="2286000"/>
            <a:ext cx="152400" cy="152400"/>
          </a:xfrm>
          <a:prstGeom prst="ellipse">
            <a:avLst/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318E005-75CD-42B6-BB0B-8913137E0DEC}"/>
              </a:ext>
            </a:extLst>
          </p:cNvPr>
          <p:cNvSpPr>
            <a:spLocks noGrp="1"/>
          </p:cNvSpPr>
          <p:nvPr/>
        </p:nvSpPr>
        <p:spPr>
          <a:xfrm>
            <a:off x="10134600" y="2571750"/>
            <a:ext cx="1181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TRACE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E9E1E7F-3EE9-4FA1-A382-4B8FE35ADB5A}"/>
              </a:ext>
            </a:extLst>
          </p:cNvPr>
          <p:cNvSpPr>
            <a:spLocks noGrp="1"/>
          </p:cNvSpPr>
          <p:nvPr/>
        </p:nvSpPr>
        <p:spPr>
          <a:xfrm>
            <a:off x="10134600" y="29718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Redacted</a:t>
            </a:r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1E00D7B3-848D-455F-A2AA-17EB5FF16162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3390900" cy="142875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 w="9525">
            <a:solidFill>
              <a:srgbClr val="CADC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697E97B-A4A7-49DA-8CBD-0832DCCE5F5F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01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A0E2629-855A-46AF-83B3-64D61BEAF3AE}"/>
              </a:ext>
            </a:extLst>
          </p:cNvPr>
          <p:cNvSpPr>
            <a:spLocks noGrp="1"/>
          </p:cNvSpPr>
          <p:nvPr/>
        </p:nvSpPr>
        <p:spPr>
          <a:xfrm>
            <a:off x="1333500" y="42576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Exactly one target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D8504F2-9B8D-4EC2-96A8-5578B68A8874}"/>
              </a:ext>
            </a:extLst>
          </p:cNvPr>
          <p:cNvSpPr>
            <a:spLocks noGrp="1"/>
          </p:cNvSpPr>
          <p:nvPr/>
        </p:nvSpPr>
        <p:spPr>
          <a:xfrm>
            <a:off x="819150" y="4762500"/>
            <a:ext cx="2971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Ambiguity rejects the action; selector memory is earned only after proof.</a:t>
            </a:r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ACAA958E-794E-4329-86DD-29D469CB8314}"/>
              </a:ext>
            </a:extLst>
          </p:cNvPr>
          <p:cNvSpPr>
            <a:spLocks noGrp="1"/>
          </p:cNvSpPr>
          <p:nvPr/>
        </p:nvSpPr>
        <p:spPr>
          <a:xfrm>
            <a:off x="4305300" y="4095750"/>
            <a:ext cx="3390900" cy="142875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 w="9525">
            <a:solidFill>
              <a:srgbClr val="CADC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1BF249E-CD7B-4432-96F2-D480988B58C2}"/>
              </a:ext>
            </a:extLst>
          </p:cNvPr>
          <p:cNvSpPr>
            <a:spLocks noGrp="1"/>
          </p:cNvSpPr>
          <p:nvPr/>
        </p:nvSpPr>
        <p:spPr>
          <a:xfrm>
            <a:off x="4514850" y="4286250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02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496F8B9-9430-46B3-A575-6C754AF199EF}"/>
              </a:ext>
            </a:extLst>
          </p:cNvPr>
          <p:cNvSpPr>
            <a:spLocks noGrp="1"/>
          </p:cNvSpPr>
          <p:nvPr/>
        </p:nvSpPr>
        <p:spPr>
          <a:xfrm>
            <a:off x="5029200" y="42576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One local recovery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2134EAE-0B0C-43C4-BA90-733E8608EC3E}"/>
              </a:ext>
            </a:extLst>
          </p:cNvPr>
          <p:cNvSpPr>
            <a:spLocks noGrp="1"/>
          </p:cNvSpPr>
          <p:nvPr/>
        </p:nvSpPr>
        <p:spPr>
          <a:xfrm>
            <a:off x="4514850" y="4762500"/>
            <a:ext cx="2971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Then an optional slow planner—only if the routing profile still has budget.</a:t>
            </a:r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338ED44A-6DA6-4B3C-A386-38A7321CA9DE}"/>
              </a:ext>
            </a:extLst>
          </p:cNvPr>
          <p:cNvSpPr>
            <a:spLocks noGrp="1"/>
          </p:cNvSpPr>
          <p:nvPr/>
        </p:nvSpPr>
        <p:spPr>
          <a:xfrm>
            <a:off x="8001000" y="4095750"/>
            <a:ext cx="3390900" cy="142875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 w="9525">
            <a:solidFill>
              <a:srgbClr val="CADC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33FDDBD-FD92-462C-83DA-29C86F2FFA5F}"/>
              </a:ext>
            </a:extLst>
          </p:cNvPr>
          <p:cNvSpPr>
            <a:spLocks noGrp="1"/>
          </p:cNvSpPr>
          <p:nvPr/>
        </p:nvSpPr>
        <p:spPr>
          <a:xfrm>
            <a:off x="8210550" y="4286250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03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8A1A553-51AB-4C9E-B1ED-921C0C42AD4B}"/>
              </a:ext>
            </a:extLst>
          </p:cNvPr>
          <p:cNvSpPr>
            <a:spLocks noGrp="1"/>
          </p:cNvSpPr>
          <p:nvPr/>
        </p:nvSpPr>
        <p:spPr>
          <a:xfrm>
            <a:off x="8724900" y="42576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Evidence before learning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9835B47-6B32-42F7-9C44-76F258CFE136}"/>
              </a:ext>
            </a:extLst>
          </p:cNvPr>
          <p:cNvSpPr>
            <a:spLocks noGrp="1"/>
          </p:cNvSpPr>
          <p:nvPr/>
        </p:nvSpPr>
        <p:spPr>
          <a:xfrm>
            <a:off x="8210550" y="4762500"/>
            <a:ext cx="2971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Verified task IDs and unseen-UI holdout gate skill promotion.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1AA5EC8-A055-4946-9415-A68093172DB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Source: browser-plan-v1 schema, target resolver, multipath controller, verifier, trace, and learning code.</a:t>
            </a:r>
          </a:p>
        </p:txBody>
      </p:sp>
    </p:spTree>
    <p:extLst>
      <p:ext uri="{BB962C8B-B14F-4D97-AF65-F5344CB8AC3E}">
        <p14:creationId xmlns:p14="http://schemas.microsoft.com/office/powerpoint/2010/main" val="2134552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6C53CF6A-651D-44DC-A5ED-E1F08AED0D5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PROJECT HIGHLIGHTS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FE651A-03D8-4196-AB53-EB805958382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Four engineering choices define LHIC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47E613-6F89-48A6-AE31-12994A80C9A4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BF05BE-CD50-4F20-9DCA-670334D98507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The project is differentiated by constraints that survive changes in planner or interface.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81EEC4EE-43B5-4B9F-ADBE-1E32EC30234B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52197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A0143808-DD66-4CBA-9303-47C1D55F8D84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133350" cy="1676400"/>
          </a:xfrm>
          <a:prstGeom prst="roundRect">
            <a:avLst>
              <a:gd name="adj" fmla="val 50000"/>
            </a:avLst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8F10C-5EF9-4AB9-AEB2-FE6E289A9485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F617B0-7594-4480-97F8-4E7BEF3BE6FA}"/>
              </a:ext>
            </a:extLst>
          </p:cNvPr>
          <p:cNvSpPr>
            <a:spLocks noGrp="1"/>
          </p:cNvSpPr>
          <p:nvPr/>
        </p:nvSpPr>
        <p:spPr>
          <a:xfrm>
            <a:off x="1676400" y="214312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Verifier-first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BE5A9E-7154-4D54-AB71-F3E713A491FC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4457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Every step states its postcondition before execution. Missing evidence fails closed.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5F68DE94-8F53-425F-9C66-71F5A2D8EE21}"/>
              </a:ext>
            </a:extLst>
          </p:cNvPr>
          <p:cNvSpPr>
            <a:spLocks noGrp="1"/>
          </p:cNvSpPr>
          <p:nvPr/>
        </p:nvSpPr>
        <p:spPr>
          <a:xfrm>
            <a:off x="6134100" y="1905000"/>
            <a:ext cx="52197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96A94797-C46D-4D5B-AFE1-57F029FFFF52}"/>
              </a:ext>
            </a:extLst>
          </p:cNvPr>
          <p:cNvSpPr>
            <a:spLocks noGrp="1"/>
          </p:cNvSpPr>
          <p:nvPr/>
        </p:nvSpPr>
        <p:spPr>
          <a:xfrm>
            <a:off x="6134100" y="1905000"/>
            <a:ext cx="133350" cy="1676400"/>
          </a:xfrm>
          <a:prstGeom prst="roundRect">
            <a:avLst>
              <a:gd name="adj" fmla="val 50000"/>
            </a:avLst>
          </a:prstGeom>
          <a:solidFill>
            <a:srgbClr val="759E20"/>
          </a:solidFill>
          <a:ln w="0">
            <a:solidFill>
              <a:srgbClr val="759E20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CB574C-A07A-440B-949F-8872FE17D013}"/>
              </a:ext>
            </a:extLst>
          </p:cNvPr>
          <p:cNvSpPr>
            <a:spLocks noGrp="1"/>
          </p:cNvSpPr>
          <p:nvPr/>
        </p:nvSpPr>
        <p:spPr>
          <a:xfrm>
            <a:off x="6457950" y="217170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761A93-C8A2-4E2C-88FD-DD25D36E9F7D}"/>
              </a:ext>
            </a:extLst>
          </p:cNvPr>
          <p:cNvSpPr>
            <a:spLocks noGrp="1"/>
          </p:cNvSpPr>
          <p:nvPr/>
        </p:nvSpPr>
        <p:spPr>
          <a:xfrm>
            <a:off x="7200900" y="214312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Exact human authority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7AB67BB-C6B8-411D-A58A-ED7301375869}"/>
              </a:ext>
            </a:extLst>
          </p:cNvPr>
          <p:cNvSpPr>
            <a:spLocks noGrp="1"/>
          </p:cNvSpPr>
          <p:nvPr/>
        </p:nvSpPr>
        <p:spPr>
          <a:xfrm>
            <a:off x="6457950" y="2743200"/>
            <a:ext cx="4457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Approval hashes the entire action, expires quickly, and cannot be replayed.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8453E216-8E23-4E3E-9531-DD042ACD8C46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52197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EE7DDB4F-D338-43E7-9DE2-6C840E0EA6DD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33350" cy="1676400"/>
          </a:xfrm>
          <a:prstGeom prst="roundRect">
            <a:avLst>
              <a:gd name="adj" fmla="val 50000"/>
            </a:avLst>
          </a:prstGeom>
          <a:solidFill>
            <a:srgbClr val="3980C6"/>
          </a:solidFill>
          <a:ln w="0">
            <a:solidFill>
              <a:srgbClr val="3980C6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8F34B7-F17A-4AC2-9E17-E9E9AA47113E}"/>
              </a:ext>
            </a:extLst>
          </p:cNvPr>
          <p:cNvSpPr>
            <a:spLocks noGrp="1"/>
          </p:cNvSpPr>
          <p:nvPr/>
        </p:nvSpPr>
        <p:spPr>
          <a:xfrm>
            <a:off x="933450" y="413385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2FD0CA-C773-4293-AC34-0DE7B82D63BC}"/>
              </a:ext>
            </a:extLst>
          </p:cNvPr>
          <p:cNvSpPr>
            <a:spLocks noGrp="1"/>
          </p:cNvSpPr>
          <p:nvPr/>
        </p:nvSpPr>
        <p:spPr>
          <a:xfrm>
            <a:off x="1676400" y="410527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Semantic resilience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C0CA63-79B9-4938-9491-AEC6B8469B17}"/>
              </a:ext>
            </a:extLst>
          </p:cNvPr>
          <p:cNvSpPr>
            <a:spLocks noGrp="1"/>
          </p:cNvSpPr>
          <p:nvPr/>
        </p:nvSpPr>
        <p:spPr>
          <a:xfrm>
            <a:off x="933450" y="4705350"/>
            <a:ext cx="4457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DOM and accessibility targets must resolve uniquely; verified history can heal selectors.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E235A3CF-9034-4F2E-9A1D-0D7728B412DF}"/>
              </a:ext>
            </a:extLst>
          </p:cNvPr>
          <p:cNvSpPr>
            <a:spLocks noGrp="1"/>
          </p:cNvSpPr>
          <p:nvPr/>
        </p:nvSpPr>
        <p:spPr>
          <a:xfrm>
            <a:off x="6134100" y="3867150"/>
            <a:ext cx="52197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0E440B4C-C51D-401D-B317-268CB35AF58A}"/>
              </a:ext>
            </a:extLst>
          </p:cNvPr>
          <p:cNvSpPr>
            <a:spLocks noGrp="1"/>
          </p:cNvSpPr>
          <p:nvPr/>
        </p:nvSpPr>
        <p:spPr>
          <a:xfrm>
            <a:off x="6134100" y="3867150"/>
            <a:ext cx="133350" cy="1676400"/>
          </a:xfrm>
          <a:prstGeom prst="roundRect">
            <a:avLst>
              <a:gd name="adj" fmla="val 50000"/>
            </a:avLst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EE22D96-76C4-466E-A959-339EF7DF291C}"/>
              </a:ext>
            </a:extLst>
          </p:cNvPr>
          <p:cNvSpPr>
            <a:spLocks noGrp="1"/>
          </p:cNvSpPr>
          <p:nvPr/>
        </p:nvSpPr>
        <p:spPr>
          <a:xfrm>
            <a:off x="6457950" y="413385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E7B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DC154BD-FC54-41CC-BB47-3E160131792B}"/>
              </a:ext>
            </a:extLst>
          </p:cNvPr>
          <p:cNvSpPr>
            <a:spLocks noGrp="1"/>
          </p:cNvSpPr>
          <p:nvPr/>
        </p:nvSpPr>
        <p:spPr>
          <a:xfrm>
            <a:off x="7200900" y="410527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Evidence-gated learning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D8A3B6-9105-484A-963A-88BB1AA5C3D2}"/>
              </a:ext>
            </a:extLst>
          </p:cNvPr>
          <p:cNvSpPr>
            <a:spLocks noGrp="1"/>
          </p:cNvSpPr>
          <p:nvPr/>
        </p:nvSpPr>
        <p:spPr>
          <a:xfrm>
            <a:off x="6457950" y="4705350"/>
            <a:ext cx="4457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Three independent verified task IDs plus an unseen-UI holdout are required.</a:t>
            </a: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7D3871AA-C5C5-4A51-8D07-76EE0AC45176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2152650" cy="304800"/>
          </a:xfrm>
          <a:prstGeom prst="roundRect">
            <a:avLst>
              <a:gd name="adj" fmla="val 37500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8AF86EE-7AED-497A-8890-1819EEF929ED}"/>
              </a:ext>
            </a:extLst>
          </p:cNvPr>
          <p:cNvSpPr>
            <a:spLocks noGrp="1"/>
          </p:cNvSpPr>
          <p:nvPr/>
        </p:nvSpPr>
        <p:spPr>
          <a:xfrm>
            <a:off x="704850" y="6019800"/>
            <a:ext cx="1962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PLUS: HARDENED TRACES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431D1FAA-57AF-4E3E-80F6-B8A87D30511D}"/>
              </a:ext>
            </a:extLst>
          </p:cNvPr>
          <p:cNvSpPr>
            <a:spLocks noGrp="1"/>
          </p:cNvSpPr>
          <p:nvPr/>
        </p:nvSpPr>
        <p:spPr>
          <a:xfrm>
            <a:off x="2895600" y="5953125"/>
            <a:ext cx="2609850" cy="304800"/>
          </a:xfrm>
          <a:prstGeom prst="roundRect">
            <a:avLst>
              <a:gd name="adj" fmla="val 37500"/>
            </a:avLst>
          </a:prstGeom>
          <a:solidFill>
            <a:srgbClr val="E4F7F9"/>
          </a:solidFill>
          <a:ln w="0">
            <a:solidFill>
              <a:srgbClr val="E4F7F9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E7B3B1C-0138-4F1B-8346-D29131A0E2EE}"/>
              </a:ext>
            </a:extLst>
          </p:cNvPr>
          <p:cNvSpPr>
            <a:spLocks noGrp="1"/>
          </p:cNvSpPr>
          <p:nvPr/>
        </p:nvSpPr>
        <p:spPr>
          <a:xfrm>
            <a:off x="2990850" y="6019800"/>
            <a:ext cx="2419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 i="0">
                <a:solidFill>
                  <a:srgbClr val="168F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8F9A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MULTIPLE OPERATOR SURFACES</a:t>
            </a: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81D4E1E9-E25C-4420-A58D-54F49D1F8CAA}"/>
              </a:ext>
            </a:extLst>
          </p:cNvPr>
          <p:cNvSpPr>
            <a:spLocks noGrp="1"/>
          </p:cNvSpPr>
          <p:nvPr/>
        </p:nvSpPr>
        <p:spPr>
          <a:xfrm>
            <a:off x="5638800" y="5953125"/>
            <a:ext cx="2381250" cy="304800"/>
          </a:xfrm>
          <a:prstGeom prst="roundRect">
            <a:avLst>
              <a:gd name="adj" fmla="val 37500"/>
            </a:avLst>
          </a:prstGeom>
          <a:solidFill>
            <a:srgbClr val="F0F8DF"/>
          </a:solidFill>
          <a:ln w="0">
            <a:solidFill>
              <a:srgbClr val="F0F8D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EC983CE-9999-46E3-A286-9759B2D05050}"/>
              </a:ext>
            </a:extLst>
          </p:cNvPr>
          <p:cNvSpPr>
            <a:spLocks noGrp="1"/>
          </p:cNvSpPr>
          <p:nvPr/>
        </p:nvSpPr>
        <p:spPr>
          <a:xfrm>
            <a:off x="5734050" y="601980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LOCAL-FIRST SKILL MEMORY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359C055-9066-450F-AF13-1124E442BC1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Source: security, trace, memory, selector resolver, and schema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883988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0C4FFF16-21EE-43D6-BB06-476441B5696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CONTROLLED PROOF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286E6C-49D3-4E8E-9153-BF621532AEB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The current checkout passed its full local evidence suite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DB1F94-923C-4BE8-ADE5-BDB92799C3E5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98148D-205E-4C54-A9A7-5420D215AA8A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Internal regression evidence—not an external market or state-of-the-art claim.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294F1345-10FD-4674-8464-93303718068D}"/>
              </a:ext>
            </a:extLst>
          </p:cNvPr>
          <p:cNvSpPr>
            <a:spLocks noGrp="1"/>
          </p:cNvSpPr>
          <p:nvPr/>
        </p:nvSpPr>
        <p:spPr>
          <a:xfrm>
            <a:off x="9620250" y="1200150"/>
            <a:ext cx="1847850" cy="304800"/>
          </a:xfrm>
          <a:prstGeom prst="roundRect">
            <a:avLst>
              <a:gd name="adj" fmla="val 37500"/>
            </a:avLst>
          </a:prstGeom>
          <a:solidFill>
            <a:srgbClr val="F0F8DF"/>
          </a:solidFill>
          <a:ln w="9525">
            <a:solidFill>
              <a:srgbClr val="AFCB75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267B8E-0CCC-4E29-A752-0921916BFDAC}"/>
              </a:ext>
            </a:extLst>
          </p:cNvPr>
          <p:cNvSpPr>
            <a:spLocks noGrp="1"/>
          </p:cNvSpPr>
          <p:nvPr/>
        </p:nvSpPr>
        <p:spPr>
          <a:xfrm>
            <a:off x="9715500" y="1266825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CONTROLLED LOCAL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CA4F1F57-1671-4A43-A86D-69F88F03EA23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2533650" cy="2324100"/>
          </a:xfrm>
          <a:prstGeom prst="roundRect">
            <a:avLst>
              <a:gd name="adj" fmla="val 4918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837D1B-3269-4571-BCFD-6AD17E5C9B2E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2076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2850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9F34A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341/341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63447D-DD37-4237-8E27-D8C25871CCCF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TESTS PASSED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8AB908-014E-4A3C-B8B3-9304EC86A753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2076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93 test files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13F80F31-4659-49C7-93DB-105B053A904A}"/>
              </a:ext>
            </a:extLst>
          </p:cNvPr>
          <p:cNvSpPr>
            <a:spLocks noGrp="1"/>
          </p:cNvSpPr>
          <p:nvPr/>
        </p:nvSpPr>
        <p:spPr>
          <a:xfrm>
            <a:off x="3314700" y="1962150"/>
            <a:ext cx="2533650" cy="2324100"/>
          </a:xfrm>
          <a:prstGeom prst="roundRect">
            <a:avLst>
              <a:gd name="adj" fmla="val 4918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498AB3C-E728-42A6-84B0-685C6F61E8AD}"/>
              </a:ext>
            </a:extLst>
          </p:cNvPr>
          <p:cNvSpPr>
            <a:spLocks noGrp="1"/>
          </p:cNvSpPr>
          <p:nvPr/>
        </p:nvSpPr>
        <p:spPr>
          <a:xfrm>
            <a:off x="3543300" y="2228850"/>
            <a:ext cx="2076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31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100%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0448B1-F622-4E2D-80D4-501C7FFC1FCD}"/>
              </a:ext>
            </a:extLst>
          </p:cNvPr>
          <p:cNvSpPr>
            <a:spLocks noGrp="1"/>
          </p:cNvSpPr>
          <p:nvPr/>
        </p:nvSpPr>
        <p:spPr>
          <a:xfrm>
            <a:off x="3543300" y="302895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TASK SUCCESS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5608FD-499F-4184-A916-A3942137F946}"/>
              </a:ext>
            </a:extLst>
          </p:cNvPr>
          <p:cNvSpPr>
            <a:spLocks noGrp="1"/>
          </p:cNvSpPr>
          <p:nvPr/>
        </p:nvSpPr>
        <p:spPr>
          <a:xfrm>
            <a:off x="3543300" y="3390900"/>
            <a:ext cx="2076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300 executions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81CBB74D-B5BB-44A5-982D-64B4AD6D7CDD}"/>
              </a:ext>
            </a:extLst>
          </p:cNvPr>
          <p:cNvSpPr>
            <a:spLocks noGrp="1"/>
          </p:cNvSpPr>
          <p:nvPr/>
        </p:nvSpPr>
        <p:spPr>
          <a:xfrm>
            <a:off x="6019800" y="1962150"/>
            <a:ext cx="2533650" cy="2324100"/>
          </a:xfrm>
          <a:prstGeom prst="roundRect">
            <a:avLst>
              <a:gd name="adj" fmla="val 4918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5CD2B1-4913-41D7-A2D9-2A7E8F17D5CF}"/>
              </a:ext>
            </a:extLst>
          </p:cNvPr>
          <p:cNvSpPr>
            <a:spLocks noGrp="1"/>
          </p:cNvSpPr>
          <p:nvPr/>
        </p:nvSpPr>
        <p:spPr>
          <a:xfrm>
            <a:off x="6248400" y="2228850"/>
            <a:ext cx="2076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31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774 ms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A5BFBF-D07F-4F70-BD8E-781B98236056}"/>
              </a:ext>
            </a:extLst>
          </p:cNvPr>
          <p:cNvSpPr>
            <a:spLocks noGrp="1"/>
          </p:cNvSpPr>
          <p:nvPr/>
        </p:nvSpPr>
        <p:spPr>
          <a:xfrm>
            <a:off x="6248400" y="302895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P95 LATENCY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E3F8B3-0E1D-4064-9E69-BB91D3CE6FC2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076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60 fixtures × 5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B7FE596A-8BC0-4E7E-BA0E-92AF9A408112}"/>
              </a:ext>
            </a:extLst>
          </p:cNvPr>
          <p:cNvSpPr>
            <a:spLocks noGrp="1"/>
          </p:cNvSpPr>
          <p:nvPr/>
        </p:nvSpPr>
        <p:spPr>
          <a:xfrm>
            <a:off x="8724900" y="1962150"/>
            <a:ext cx="2533650" cy="2324100"/>
          </a:xfrm>
          <a:prstGeom prst="roundRect">
            <a:avLst>
              <a:gd name="adj" fmla="val 4918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771FAC-9605-4C00-962A-397B139B2873}"/>
              </a:ext>
            </a:extLst>
          </p:cNvPr>
          <p:cNvSpPr>
            <a:spLocks noGrp="1"/>
          </p:cNvSpPr>
          <p:nvPr/>
        </p:nvSpPr>
        <p:spPr>
          <a:xfrm>
            <a:off x="8953500" y="2228850"/>
            <a:ext cx="2076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3150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B9F34A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18EEA5-A97A-433E-9629-C1C8F77A4066}"/>
              </a:ext>
            </a:extLst>
          </p:cNvPr>
          <p:cNvSpPr>
            <a:spLocks noGrp="1"/>
          </p:cNvSpPr>
          <p:nvPr/>
        </p:nvSpPr>
        <p:spPr>
          <a:xfrm>
            <a:off x="8953500" y="302895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MODEL + MCP CALLS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E1FA071-6B25-4ADD-B677-B3AA9C0C0314}"/>
              </a:ext>
            </a:extLst>
          </p:cNvPr>
          <p:cNvSpPr>
            <a:spLocks noGrp="1"/>
          </p:cNvSpPr>
          <p:nvPr/>
        </p:nvSpPr>
        <p:spPr>
          <a:xfrm>
            <a:off x="8953500" y="3390900"/>
            <a:ext cx="2076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per Fast Path task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AE7B371E-7CAB-4EAA-8238-6B3428F8D33D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10744200" cy="1066800"/>
          </a:xfrm>
          <a:prstGeom prst="roundRect">
            <a:avLst>
              <a:gd name="adj" fmla="val 10714"/>
            </a:avLst>
          </a:prstGeom>
          <a:solidFill>
            <a:srgbClr val="F7F9FC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E2D2A9F-9374-40CC-985D-5BB9E3A9289B}"/>
              </a:ext>
            </a:extLst>
          </p:cNvPr>
          <p:cNvSpPr>
            <a:spLocks noGrp="1"/>
          </p:cNvSpPr>
          <p:nvPr/>
        </p:nvSpPr>
        <p:spPr>
          <a:xfrm>
            <a:off x="819150" y="491490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100%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6355610-5CDA-4E4E-98F3-349B7B5ACC7D}"/>
              </a:ext>
            </a:extLst>
          </p:cNvPr>
          <p:cNvSpPr>
            <a:spLocks noGrp="1"/>
          </p:cNvSpPr>
          <p:nvPr/>
        </p:nvSpPr>
        <p:spPr>
          <a:xfrm>
            <a:off x="819150" y="5286375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structured actions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622E0B5-D0F7-4BD0-85DD-675231EAE2BD}"/>
              </a:ext>
            </a:extLst>
          </p:cNvPr>
          <p:cNvSpPr>
            <a:spLocks noGrp="1"/>
          </p:cNvSpPr>
          <p:nvPr/>
        </p:nvSpPr>
        <p:spPr>
          <a:xfrm>
            <a:off x="2571750" y="4905375"/>
            <a:ext cx="9525" cy="628650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D33E169-0DD5-4E4B-8626-6A30EED36F48}"/>
              </a:ext>
            </a:extLst>
          </p:cNvPr>
          <p:cNvSpPr>
            <a:spLocks noGrp="1"/>
          </p:cNvSpPr>
          <p:nvPr/>
        </p:nvSpPr>
        <p:spPr>
          <a:xfrm>
            <a:off x="2895600" y="491490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6EB965-D5B0-42FE-8B22-D8CBFF8E0D53}"/>
              </a:ext>
            </a:extLst>
          </p:cNvPr>
          <p:cNvSpPr>
            <a:spLocks noGrp="1"/>
          </p:cNvSpPr>
          <p:nvPr/>
        </p:nvSpPr>
        <p:spPr>
          <a:xfrm>
            <a:off x="2895600" y="5286375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raw coordinates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368E037-C81A-4649-BD6A-2E556EB6D63B}"/>
              </a:ext>
            </a:extLst>
          </p:cNvPr>
          <p:cNvSpPr>
            <a:spLocks noGrp="1"/>
          </p:cNvSpPr>
          <p:nvPr/>
        </p:nvSpPr>
        <p:spPr>
          <a:xfrm>
            <a:off x="4648200" y="4905375"/>
            <a:ext cx="9525" cy="628650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4EF022A-9ABA-4ACA-B46C-FC009A2B2DAF}"/>
              </a:ext>
            </a:extLst>
          </p:cNvPr>
          <p:cNvSpPr>
            <a:spLocks noGrp="1"/>
          </p:cNvSpPr>
          <p:nvPr/>
        </p:nvSpPr>
        <p:spPr>
          <a:xfrm>
            <a:off x="4972050" y="491490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100%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D68E23A-F36D-465D-83C1-050B1873535E}"/>
              </a:ext>
            </a:extLst>
          </p:cNvPr>
          <p:cNvSpPr>
            <a:spLocks noGrp="1"/>
          </p:cNvSpPr>
          <p:nvPr/>
        </p:nvSpPr>
        <p:spPr>
          <a:xfrm>
            <a:off x="4972050" y="5286375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verifier pass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2865F92-EFC4-4857-BABE-31211DEF5DD3}"/>
              </a:ext>
            </a:extLst>
          </p:cNvPr>
          <p:cNvSpPr>
            <a:spLocks noGrp="1"/>
          </p:cNvSpPr>
          <p:nvPr/>
        </p:nvSpPr>
        <p:spPr>
          <a:xfrm>
            <a:off x="6724650" y="4905375"/>
            <a:ext cx="9525" cy="628650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1A698CF-D18E-4A84-B38F-5D5B667A6BC5}"/>
              </a:ext>
            </a:extLst>
          </p:cNvPr>
          <p:cNvSpPr>
            <a:spLocks noGrp="1"/>
          </p:cNvSpPr>
          <p:nvPr/>
        </p:nvSpPr>
        <p:spPr>
          <a:xfrm>
            <a:off x="7048500" y="491490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A1483E6-E56E-40B4-9701-AA8964C6BD5B}"/>
              </a:ext>
            </a:extLst>
          </p:cNvPr>
          <p:cNvSpPr>
            <a:spLocks noGrp="1"/>
          </p:cNvSpPr>
          <p:nvPr/>
        </p:nvSpPr>
        <p:spPr>
          <a:xfrm>
            <a:off x="7048500" y="5286375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false-positive success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2304D5C-8515-4EB8-9EE9-F74745119CB6}"/>
              </a:ext>
            </a:extLst>
          </p:cNvPr>
          <p:cNvSpPr>
            <a:spLocks noGrp="1"/>
          </p:cNvSpPr>
          <p:nvPr/>
        </p:nvSpPr>
        <p:spPr>
          <a:xfrm>
            <a:off x="8801100" y="4905375"/>
            <a:ext cx="9525" cy="628650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D4682B6-5BCB-4369-AEEB-53C636ABDD15}"/>
              </a:ext>
            </a:extLst>
          </p:cNvPr>
          <p:cNvSpPr>
            <a:spLocks noGrp="1"/>
          </p:cNvSpPr>
          <p:nvPr/>
        </p:nvSpPr>
        <p:spPr>
          <a:xfrm>
            <a:off x="9124950" y="491490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1987A94-0955-4160-836A-C4E131A451C8}"/>
              </a:ext>
            </a:extLst>
          </p:cNvPr>
          <p:cNvSpPr>
            <a:spLocks noGrp="1"/>
          </p:cNvSpPr>
          <p:nvPr/>
        </p:nvSpPr>
        <p:spPr>
          <a:xfrm>
            <a:off x="9124950" y="5286375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human intervention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AE1D78B-A52E-4861-B255-B51C5AEA7AA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Source: npm run bench:internal, executed 20 Jul 2026 • local fixture regression • all configured gates passed.</a:t>
            </a:r>
          </a:p>
        </p:txBody>
      </p:sp>
    </p:spTree>
    <p:extLst>
      <p:ext uri="{BB962C8B-B14F-4D97-AF65-F5344CB8AC3E}">
        <p14:creationId xmlns:p14="http://schemas.microsoft.com/office/powerpoint/2010/main" val="41437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5BEF1D0-30B6-43AF-AFFA-8A55C3A3218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RESILIENCE SIGNAL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779FFE-74E4-497F-86FF-485A6F5C332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Semantic targeting survived the controlled selector ablation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6004BD-E471-4561-B0B6-2800043BD875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537401-F530-437E-BBAF-3CA586D87F13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A deliberately limited static selector baseline is useful for regression contrast—not market comparison.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2717440E-6AD7-4CE6-B95D-ED71014E3ADE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6191250" cy="394335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aphicFrame>
        <p:nvGraphicFramePr>
          <p:cNvPr id="25" name="Chart"/>
          <p:cNvGraphicFramePr/>
          <p:nvPr>
            <p:extLst>
              <p:ext uri="{D42A27DB-BD31-4B8C-83A1-F6EECF244321}">
                <p14:modId xmlns:p14="http://schemas.microsoft.com/office/powerpoint/2010/main" val="2618766998"/>
              </p:ext>
            </p:extLst>
          </p:nvPr>
        </p:nvGraphicFramePr>
        <p:xfrm>
          <a:off x="1009650" y="2209800"/>
          <a:ext cx="5410200" cy="3105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圓角矩形 6">
            <a:extLst>
              <a:ext uri="{FF2B5EF4-FFF2-40B4-BE49-F238E27FC236}">
                <a16:creationId xmlns:a16="http://schemas.microsoft.com/office/drawing/2014/main" id="{D4622C2F-2CFF-4AD3-9ED0-5B32FADF2412}"/>
              </a:ext>
            </a:extLst>
          </p:cNvPr>
          <p:cNvSpPr>
            <a:spLocks noGrp="1"/>
          </p:cNvSpPr>
          <p:nvPr/>
        </p:nvSpPr>
        <p:spPr>
          <a:xfrm>
            <a:off x="7200900" y="1809750"/>
            <a:ext cx="4152900" cy="1676400"/>
          </a:xfrm>
          <a:prstGeom prst="roundRect">
            <a:avLst>
              <a:gd name="adj" fmla="val 6818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1F36DE-4498-4BA8-8D0F-3A39327D42AA}"/>
              </a:ext>
            </a:extLst>
          </p:cNvPr>
          <p:cNvSpPr>
            <a:spLocks noGrp="1"/>
          </p:cNvSpPr>
          <p:nvPr/>
        </p:nvSpPr>
        <p:spPr>
          <a:xfrm>
            <a:off x="7429500" y="2000250"/>
            <a:ext cx="3695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3150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B9F34A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+80 pp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EB4695-EBFB-4A4D-BF5E-19733F4BA51E}"/>
              </a:ext>
            </a:extLst>
          </p:cNvPr>
          <p:cNvSpPr>
            <a:spLocks noGrp="1"/>
          </p:cNvSpPr>
          <p:nvPr/>
        </p:nvSpPr>
        <p:spPr>
          <a:xfrm>
            <a:off x="7429500" y="2647950"/>
            <a:ext cx="3695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CONTROLLED DELTA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B083CA-A701-4CD1-A7A5-06CD962AC05A}"/>
              </a:ext>
            </a:extLst>
          </p:cNvPr>
          <p:cNvSpPr>
            <a:spLocks noGrp="1"/>
          </p:cNvSpPr>
          <p:nvPr/>
        </p:nvSpPr>
        <p:spPr>
          <a:xfrm>
            <a:off x="7429500" y="2990850"/>
            <a:ext cx="3695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100% semantic route vs 20% intentionally limited static selector route.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B8F6D7C0-77CA-4C88-B2CE-48F4276C40AE}"/>
              </a:ext>
            </a:extLst>
          </p:cNvPr>
          <p:cNvSpPr>
            <a:spLocks noGrp="1"/>
          </p:cNvSpPr>
          <p:nvPr/>
        </p:nvSpPr>
        <p:spPr>
          <a:xfrm>
            <a:off x="7200900" y="3714750"/>
            <a:ext cx="41529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396903-FF4E-48AD-B882-42C68F4EF41A}"/>
              </a:ext>
            </a:extLst>
          </p:cNvPr>
          <p:cNvSpPr>
            <a:spLocks noGrp="1"/>
          </p:cNvSpPr>
          <p:nvPr/>
        </p:nvSpPr>
        <p:spPr>
          <a:xfrm>
            <a:off x="7467600" y="39814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What this does prove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51A3CC4C-89D0-4232-9B6C-36CC5393A1D9}"/>
              </a:ext>
            </a:extLst>
          </p:cNvPr>
          <p:cNvSpPr>
            <a:spLocks noGrp="1"/>
          </p:cNvSpPr>
          <p:nvPr/>
        </p:nvSpPr>
        <p:spPr>
          <a:xfrm>
            <a:off x="7467600" y="4505325"/>
            <a:ext cx="76200" cy="76200"/>
          </a:xfrm>
          <a:prstGeom prst="ellipse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B2890-B504-415B-9B5D-448F86238B00}"/>
              </a:ext>
            </a:extLst>
          </p:cNvPr>
          <p:cNvSpPr>
            <a:spLocks noGrp="1"/>
          </p:cNvSpPr>
          <p:nvPr/>
        </p:nvSpPr>
        <p:spPr>
          <a:xfrm>
            <a:off x="7677150" y="4429125"/>
            <a:ext cx="3162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Semantic resolution is wired into execution.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5CAEE155-5494-446C-BBCD-CA8336D3B06E}"/>
              </a:ext>
            </a:extLst>
          </p:cNvPr>
          <p:cNvSpPr>
            <a:spLocks noGrp="1"/>
          </p:cNvSpPr>
          <p:nvPr/>
        </p:nvSpPr>
        <p:spPr>
          <a:xfrm>
            <a:off x="7467600" y="4991100"/>
            <a:ext cx="76200" cy="76200"/>
          </a:xfrm>
          <a:prstGeom prst="ellipse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9F6084F-898A-4426-9BC2-CA3393941B0B}"/>
              </a:ext>
            </a:extLst>
          </p:cNvPr>
          <p:cNvSpPr>
            <a:spLocks noGrp="1"/>
          </p:cNvSpPr>
          <p:nvPr/>
        </p:nvSpPr>
        <p:spPr>
          <a:xfrm>
            <a:off x="7677150" y="4914900"/>
            <a:ext cx="3162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Healing preserves verifier evidence.</a:t>
            </a: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526DCC9B-7BFA-4D4A-9E34-A05C53D22408}"/>
              </a:ext>
            </a:extLst>
          </p:cNvPr>
          <p:cNvSpPr>
            <a:spLocks noGrp="1"/>
          </p:cNvSpPr>
          <p:nvPr/>
        </p:nvSpPr>
        <p:spPr>
          <a:xfrm>
            <a:off x="7467600" y="5334000"/>
            <a:ext cx="3143250" cy="304800"/>
          </a:xfrm>
          <a:prstGeom prst="roundRect">
            <a:avLst>
              <a:gd name="adj" fmla="val 37500"/>
            </a:avLst>
          </a:prstGeom>
          <a:solidFill>
            <a:srgbClr val="FFF3E4"/>
          </a:solidFill>
          <a:ln w="9525">
            <a:solidFill>
              <a:srgbClr val="E9C28D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4D51A3-923B-4F43-8FB1-BA771A29BF1E}"/>
              </a:ext>
            </a:extLst>
          </p:cNvPr>
          <p:cNvSpPr>
            <a:spLocks noGrp="1"/>
          </p:cNvSpPr>
          <p:nvPr/>
        </p:nvSpPr>
        <p:spPr>
          <a:xfrm>
            <a:off x="7562850" y="540067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A4641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46415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NO EXTERNAL-SUBMISSION ELIGIBILITY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FD5C7EB-01DF-4721-99B4-0E141DEA927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Source: npm run bench:simulate, seed 20260715 • controlled ablation • externalSubmissionEligible=false.</a:t>
            </a:r>
          </a:p>
        </p:txBody>
      </p:sp>
    </p:spTree>
    <p:extLst>
      <p:ext uri="{BB962C8B-B14F-4D97-AF65-F5344CB8AC3E}">
        <p14:creationId xmlns:p14="http://schemas.microsoft.com/office/powerpoint/2010/main" val="108615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781C2EE8-E176-4999-961D-DC30B2B92E7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SAFETY MODEL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DFFA62-8E04-4FE2-B61D-D72E9C8B166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Trust is enforced in the execution layer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72B034-A727-439A-90A5-A6B1C3B419A3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00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9B9CD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4B3416-6534-4D16-BD97-0AECEF38684A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9B9CD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Network, authority, evidence, and provider controls reinforce each other.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0E934152-4D7B-4D43-B787-7D13C18B42C6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3371850" cy="3695700"/>
          </a:xfrm>
          <a:prstGeom prst="roundRect">
            <a:avLst>
              <a:gd name="adj" fmla="val 3390"/>
            </a:avLst>
          </a:prstGeom>
          <a:solidFill>
            <a:srgbClr val="0D2340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42D0000-F9A9-4D24-AADE-94BB732A9555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171450" cy="171450"/>
          </a:xfrm>
          <a:prstGeom prst="ellipse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0A4106-3BBF-45DC-B998-FDBC39B4A69E}"/>
              </a:ext>
            </a:extLst>
          </p:cNvPr>
          <p:cNvSpPr>
            <a:spLocks noGrp="1"/>
          </p:cNvSpPr>
          <p:nvPr/>
        </p:nvSpPr>
        <p:spPr>
          <a:xfrm>
            <a:off x="1181100" y="20859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NETWORK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C944A1-D32D-4A11-9ECE-4E5F84530397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28384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Reject private targets, credentialed URLs, unsafe redirects, and invalid protocols.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C4D993-8BAA-4DE5-988D-6CA98E1CEEA6}"/>
              </a:ext>
            </a:extLst>
          </p:cNvPr>
          <p:cNvSpPr>
            <a:spLocks noGrp="1"/>
          </p:cNvSpPr>
          <p:nvPr/>
        </p:nvSpPr>
        <p:spPr>
          <a:xfrm>
            <a:off x="876300" y="3905250"/>
            <a:ext cx="2838450" cy="9525"/>
          </a:xfrm>
          <a:prstGeom prst="rect">
            <a:avLst/>
          </a:prstGeom>
          <a:solidFill>
            <a:srgbClr val="34506F"/>
          </a:solidFill>
          <a:ln w="0">
            <a:solidFill>
              <a:srgbClr val="34506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5D833B2F-5877-4F18-ABA9-7C7D83488B87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76200" cy="76200"/>
          </a:xfrm>
          <a:prstGeom prst="ellipse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A5C0EA-C8CD-4BE2-A203-3048599FD931}"/>
              </a:ext>
            </a:extLst>
          </p:cNvPr>
          <p:cNvSpPr>
            <a:spLocks noGrp="1"/>
          </p:cNvSpPr>
          <p:nvPr/>
        </p:nvSpPr>
        <p:spPr>
          <a:xfrm>
            <a:off x="1085850" y="41148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DNS + redirect checks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64A7FBD0-E293-4F31-892A-C63FED858F47}"/>
              </a:ext>
            </a:extLst>
          </p:cNvPr>
          <p:cNvSpPr>
            <a:spLocks noGrp="1"/>
          </p:cNvSpPr>
          <p:nvPr/>
        </p:nvSpPr>
        <p:spPr>
          <a:xfrm>
            <a:off x="876300" y="4591050"/>
            <a:ext cx="76200" cy="76200"/>
          </a:xfrm>
          <a:prstGeom prst="ellipse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4C233D-5C0A-4492-8DFE-40F7F7F6C93E}"/>
              </a:ext>
            </a:extLst>
          </p:cNvPr>
          <p:cNvSpPr>
            <a:spLocks noGrp="1"/>
          </p:cNvSpPr>
          <p:nvPr/>
        </p:nvSpPr>
        <p:spPr>
          <a:xfrm>
            <a:off x="1085850" y="45148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Origin / protocol policy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ED050349-4230-4AB7-9E51-AD35C4F5E945}"/>
              </a:ext>
            </a:extLst>
          </p:cNvPr>
          <p:cNvSpPr>
            <a:spLocks noGrp="1"/>
          </p:cNvSpPr>
          <p:nvPr/>
        </p:nvSpPr>
        <p:spPr>
          <a:xfrm>
            <a:off x="876300" y="4991100"/>
            <a:ext cx="76200" cy="76200"/>
          </a:xfrm>
          <a:prstGeom prst="ellipse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6C53F3-0202-4061-A624-EE2B7FDA953D}"/>
              </a:ext>
            </a:extLst>
          </p:cNvPr>
          <p:cNvSpPr>
            <a:spLocks noGrp="1"/>
          </p:cNvSpPr>
          <p:nvPr/>
        </p:nvSpPr>
        <p:spPr>
          <a:xfrm>
            <a:off x="1085850" y="49149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No browser coordinates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543DC8D7-C924-4C9C-946D-3724EE4EFB39}"/>
              </a:ext>
            </a:extLst>
          </p:cNvPr>
          <p:cNvSpPr>
            <a:spLocks noGrp="1"/>
          </p:cNvSpPr>
          <p:nvPr/>
        </p:nvSpPr>
        <p:spPr>
          <a:xfrm>
            <a:off x="4305300" y="1866900"/>
            <a:ext cx="3371850" cy="3695700"/>
          </a:xfrm>
          <a:prstGeom prst="roundRect">
            <a:avLst>
              <a:gd name="adj" fmla="val 3390"/>
            </a:avLst>
          </a:prstGeom>
          <a:solidFill>
            <a:srgbClr val="0D2340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F0526E89-8C39-453F-A177-36A82A04154F}"/>
              </a:ext>
            </a:extLst>
          </p:cNvPr>
          <p:cNvSpPr>
            <a:spLocks noGrp="1"/>
          </p:cNvSpPr>
          <p:nvPr/>
        </p:nvSpPr>
        <p:spPr>
          <a:xfrm>
            <a:off x="4572000" y="2133600"/>
            <a:ext cx="171450" cy="171450"/>
          </a:xfrm>
          <a:prstGeom prst="ellipse">
            <a:avLst/>
          </a:prstGeom>
          <a:solidFill>
            <a:srgbClr val="B9F34A"/>
          </a:solidFill>
          <a:ln w="0">
            <a:solidFill>
              <a:srgbClr val="B9F34A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14D709-D25F-4158-A6AF-089276C560FF}"/>
              </a:ext>
            </a:extLst>
          </p:cNvPr>
          <p:cNvSpPr>
            <a:spLocks noGrp="1"/>
          </p:cNvSpPr>
          <p:nvPr/>
        </p:nvSpPr>
        <p:spPr>
          <a:xfrm>
            <a:off x="4876800" y="20859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F34A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AUTHORITY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97E84FF-FBBA-4004-92E0-A434CA386DC9}"/>
              </a:ext>
            </a:extLst>
          </p:cNvPr>
          <p:cNvSpPr>
            <a:spLocks noGrp="1"/>
          </p:cNvSpPr>
          <p:nvPr/>
        </p:nvSpPr>
        <p:spPr>
          <a:xfrm>
            <a:off x="4572000" y="2647950"/>
            <a:ext cx="28384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Bind approval to the exact action. Expire it quickly. Reject every replay.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F871ED-6F0C-4CCB-B52C-86794852F490}"/>
              </a:ext>
            </a:extLst>
          </p:cNvPr>
          <p:cNvSpPr>
            <a:spLocks noGrp="1"/>
          </p:cNvSpPr>
          <p:nvPr/>
        </p:nvSpPr>
        <p:spPr>
          <a:xfrm>
            <a:off x="4572000" y="3905250"/>
            <a:ext cx="2838450" cy="9525"/>
          </a:xfrm>
          <a:prstGeom prst="rect">
            <a:avLst/>
          </a:prstGeom>
          <a:solidFill>
            <a:srgbClr val="34506F"/>
          </a:solidFill>
          <a:ln w="0">
            <a:solidFill>
              <a:srgbClr val="34506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5AE07B2D-182D-4D9B-826E-DBBB40EF5606}"/>
              </a:ext>
            </a:extLst>
          </p:cNvPr>
          <p:cNvSpPr>
            <a:spLocks noGrp="1"/>
          </p:cNvSpPr>
          <p:nvPr/>
        </p:nvSpPr>
        <p:spPr>
          <a:xfrm>
            <a:off x="4572000" y="4191000"/>
            <a:ext cx="76200" cy="76200"/>
          </a:xfrm>
          <a:prstGeom prst="ellipse">
            <a:avLst/>
          </a:prstGeom>
          <a:solidFill>
            <a:srgbClr val="B9F34A"/>
          </a:solidFill>
          <a:ln w="0">
            <a:solidFill>
              <a:srgbClr val="B9F34A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9406FB-35C4-441C-B7CA-FDEF297AFAEC}"/>
              </a:ext>
            </a:extLst>
          </p:cNvPr>
          <p:cNvSpPr>
            <a:spLocks noGrp="1"/>
          </p:cNvSpPr>
          <p:nvPr/>
        </p:nvSpPr>
        <p:spPr>
          <a:xfrm>
            <a:off x="4781550" y="41148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Ed25519 in production</a:t>
            </a: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4B6C928B-04F1-40D7-8ACA-64124632D46C}"/>
              </a:ext>
            </a:extLst>
          </p:cNvPr>
          <p:cNvSpPr>
            <a:spLocks noGrp="1"/>
          </p:cNvSpPr>
          <p:nvPr/>
        </p:nvSpPr>
        <p:spPr>
          <a:xfrm>
            <a:off x="4572000" y="4591050"/>
            <a:ext cx="76200" cy="76200"/>
          </a:xfrm>
          <a:prstGeom prst="ellipse">
            <a:avLst/>
          </a:prstGeom>
          <a:solidFill>
            <a:srgbClr val="B9F34A"/>
          </a:solidFill>
          <a:ln w="0">
            <a:solidFill>
              <a:srgbClr val="B9F34A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47AEBE8-ABDC-4E15-9F6E-DCCA428B2D93}"/>
              </a:ext>
            </a:extLst>
          </p:cNvPr>
          <p:cNvSpPr>
            <a:spLocks noGrp="1"/>
          </p:cNvSpPr>
          <p:nvPr/>
        </p:nvSpPr>
        <p:spPr>
          <a:xfrm>
            <a:off x="4781550" y="45148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≤ 5 minute lifetime</a:t>
            </a: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8FDC404-1CC6-4036-9C26-A99F63D8E233}"/>
              </a:ext>
            </a:extLst>
          </p:cNvPr>
          <p:cNvSpPr>
            <a:spLocks noGrp="1"/>
          </p:cNvSpPr>
          <p:nvPr/>
        </p:nvSpPr>
        <p:spPr>
          <a:xfrm>
            <a:off x="4572000" y="4991100"/>
            <a:ext cx="76200" cy="76200"/>
          </a:xfrm>
          <a:prstGeom prst="ellipse">
            <a:avLst/>
          </a:prstGeom>
          <a:solidFill>
            <a:srgbClr val="B9F34A"/>
          </a:solidFill>
          <a:ln w="0">
            <a:solidFill>
              <a:srgbClr val="B9F34A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838CB3A-7B49-4FC5-9D2A-6773BE6E07E3}"/>
              </a:ext>
            </a:extLst>
          </p:cNvPr>
          <p:cNvSpPr>
            <a:spLocks noGrp="1"/>
          </p:cNvSpPr>
          <p:nvPr/>
        </p:nvSpPr>
        <p:spPr>
          <a:xfrm>
            <a:off x="4781550" y="49149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Atomic one-time marker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BAE4D266-26F0-47DB-A0D1-2D3AFCBFA5E2}"/>
              </a:ext>
            </a:extLst>
          </p:cNvPr>
          <p:cNvSpPr>
            <a:spLocks noGrp="1"/>
          </p:cNvSpPr>
          <p:nvPr/>
        </p:nvSpPr>
        <p:spPr>
          <a:xfrm>
            <a:off x="8001000" y="1866900"/>
            <a:ext cx="3371850" cy="3695700"/>
          </a:xfrm>
          <a:prstGeom prst="roundRect">
            <a:avLst>
              <a:gd name="adj" fmla="val 3390"/>
            </a:avLst>
          </a:prstGeom>
          <a:solidFill>
            <a:srgbClr val="0D2340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C7655730-62C5-4A3C-87A6-A373DD48219F}"/>
              </a:ext>
            </a:extLst>
          </p:cNvPr>
          <p:cNvSpPr>
            <a:spLocks noGrp="1"/>
          </p:cNvSpPr>
          <p:nvPr/>
        </p:nvSpPr>
        <p:spPr>
          <a:xfrm>
            <a:off x="8267700" y="2133600"/>
            <a:ext cx="171450" cy="171450"/>
          </a:xfrm>
          <a:prstGeom prst="ellipse">
            <a:avLst/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D1255E-1CEC-4E8D-AFE5-D793A5CC504D}"/>
              </a:ext>
            </a:extLst>
          </p:cNvPr>
          <p:cNvSpPr>
            <a:spLocks noGrp="1"/>
          </p:cNvSpPr>
          <p:nvPr/>
        </p:nvSpPr>
        <p:spPr>
          <a:xfrm>
            <a:off x="8572500" y="20859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8E7B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EVIDENCE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CA66729-DAE9-4AFA-B6CB-15933240536F}"/>
              </a:ext>
            </a:extLst>
          </p:cNvPr>
          <p:cNvSpPr>
            <a:spLocks noGrp="1"/>
          </p:cNvSpPr>
          <p:nvPr/>
        </p:nvSpPr>
        <p:spPr>
          <a:xfrm>
            <a:off x="8267700" y="2647950"/>
            <a:ext cx="28384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Do not report success without the declared postcondition and a redacted trace.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BBD199D-389F-408E-8286-37D40C9FA9DC}"/>
              </a:ext>
            </a:extLst>
          </p:cNvPr>
          <p:cNvSpPr>
            <a:spLocks noGrp="1"/>
          </p:cNvSpPr>
          <p:nvPr/>
        </p:nvSpPr>
        <p:spPr>
          <a:xfrm>
            <a:off x="8267700" y="3905250"/>
            <a:ext cx="2838450" cy="9525"/>
          </a:xfrm>
          <a:prstGeom prst="rect">
            <a:avLst/>
          </a:prstGeom>
          <a:solidFill>
            <a:srgbClr val="34506F"/>
          </a:solidFill>
          <a:ln w="0">
            <a:solidFill>
              <a:srgbClr val="34506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C294534D-10C0-4A5A-93DC-B365196B1E5E}"/>
              </a:ext>
            </a:extLst>
          </p:cNvPr>
          <p:cNvSpPr>
            <a:spLocks noGrp="1"/>
          </p:cNvSpPr>
          <p:nvPr/>
        </p:nvSpPr>
        <p:spPr>
          <a:xfrm>
            <a:off x="8267700" y="4191000"/>
            <a:ext cx="76200" cy="76200"/>
          </a:xfrm>
          <a:prstGeom prst="ellipse">
            <a:avLst/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40FC95A-0052-4F7B-BB85-BC6A1382302C}"/>
              </a:ext>
            </a:extLst>
          </p:cNvPr>
          <p:cNvSpPr>
            <a:spLocks noGrp="1"/>
          </p:cNvSpPr>
          <p:nvPr/>
        </p:nvSpPr>
        <p:spPr>
          <a:xfrm>
            <a:off x="8477250" y="41148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Verifier is mandatory</a:t>
            </a:r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2EAE7ACC-16CE-4E51-BD49-BD4E0283A887}"/>
              </a:ext>
            </a:extLst>
          </p:cNvPr>
          <p:cNvSpPr>
            <a:spLocks noGrp="1"/>
          </p:cNvSpPr>
          <p:nvPr/>
        </p:nvSpPr>
        <p:spPr>
          <a:xfrm>
            <a:off x="8267700" y="4591050"/>
            <a:ext cx="76200" cy="76200"/>
          </a:xfrm>
          <a:prstGeom prst="ellipse">
            <a:avLst/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99EBDA6-C728-43EE-91F6-2ABABA28B55A}"/>
              </a:ext>
            </a:extLst>
          </p:cNvPr>
          <p:cNvSpPr>
            <a:spLocks noGrp="1"/>
          </p:cNvSpPr>
          <p:nvPr/>
        </p:nvSpPr>
        <p:spPr>
          <a:xfrm>
            <a:off x="8477250" y="45148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PII + action values redacted</a:t>
            </a:r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57921194-AA79-4D8B-B352-BAD839FB5406}"/>
              </a:ext>
            </a:extLst>
          </p:cNvPr>
          <p:cNvSpPr>
            <a:spLocks noGrp="1"/>
          </p:cNvSpPr>
          <p:nvPr/>
        </p:nvSpPr>
        <p:spPr>
          <a:xfrm>
            <a:off x="8267700" y="4991100"/>
            <a:ext cx="76200" cy="76200"/>
          </a:xfrm>
          <a:prstGeom prst="ellipse">
            <a:avLst/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81B20AA-268B-45BE-92D6-55A9C0579A04}"/>
              </a:ext>
            </a:extLst>
          </p:cNvPr>
          <p:cNvSpPr>
            <a:spLocks noGrp="1"/>
          </p:cNvSpPr>
          <p:nvPr/>
        </p:nvSpPr>
        <p:spPr>
          <a:xfrm>
            <a:off x="8477250" y="49149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Secure trace creation</a:t>
            </a:r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1BDC28F8-070D-4E76-93AF-0CBB7DF17E61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744200" cy="400050"/>
          </a:xfrm>
          <a:prstGeom prst="roundRect">
            <a:avLst>
              <a:gd name="adj" fmla="val 28571"/>
            </a:avLst>
          </a:prstGeom>
          <a:solidFill>
            <a:srgbClr val="122E4E"/>
          </a:solidFill>
          <a:ln w="0">
            <a:solidFill>
              <a:srgbClr val="122E4E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F1930DB-0523-4FDF-A257-BD08D20A2379}"/>
              </a:ext>
            </a:extLst>
          </p:cNvPr>
          <p:cNvSpPr>
            <a:spLocks noGrp="1"/>
          </p:cNvSpPr>
          <p:nvPr/>
        </p:nvSpPr>
        <p:spPr>
          <a:xfrm>
            <a:off x="819150" y="6010275"/>
            <a:ext cx="10325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Optional models can suggest actions. They cannot expand budget, bypass policy, approve themselves, or redefine success.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E36ED85-2AB2-4B49-82E8-39F8C2BB03C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 i="0">
                <a:solidFill>
                  <a:srgbClr val="7F94AD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F94AD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Source: security/approval/replay, production browser guards, trace redaction, verifier, and OpenAI planner code.</a:t>
            </a:r>
          </a:p>
        </p:txBody>
      </p:sp>
    </p:spTree>
    <p:extLst>
      <p:ext uri="{BB962C8B-B14F-4D97-AF65-F5344CB8AC3E}">
        <p14:creationId xmlns:p14="http://schemas.microsoft.com/office/powerpoint/2010/main" val="505336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F4F401A1-21D2-4A27-9E24-F1FA576713A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SKILL MEMORY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23468F-3995-4573-81D5-1D32CDDC53D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Learning is earned through independent proof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F85E38-00F4-47AD-83D8-8CA2FCC01633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B60556-BC43-4BEC-BE29-59A453487B86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LHIC does not promote a successful trace directly into the Fast Path.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D54BA2-4648-48A4-916D-71D65A75A235}"/>
              </a:ext>
            </a:extLst>
          </p:cNvPr>
          <p:cNvSpPr>
            <a:spLocks noGrp="1"/>
          </p:cNvSpPr>
          <p:nvPr/>
        </p:nvSpPr>
        <p:spPr>
          <a:xfrm>
            <a:off x="1123950" y="3143250"/>
            <a:ext cx="9620250" cy="28575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ED7A31A-3ED9-4F18-B6F2-98E60CC85241}"/>
              </a:ext>
            </a:extLst>
          </p:cNvPr>
          <p:cNvSpPr>
            <a:spLocks noGrp="1"/>
          </p:cNvSpPr>
          <p:nvPr/>
        </p:nvSpPr>
        <p:spPr>
          <a:xfrm>
            <a:off x="1314450" y="2981325"/>
            <a:ext cx="323850" cy="323850"/>
          </a:xfrm>
          <a:prstGeom prst="ellipse">
            <a:avLst/>
          </a:prstGeom>
          <a:solidFill>
            <a:srgbClr val="22C7D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E66300-D0FB-483B-BD21-07B3EB9F592A}"/>
              </a:ext>
            </a:extLst>
          </p:cNvPr>
          <p:cNvSpPr>
            <a:spLocks noGrp="1"/>
          </p:cNvSpPr>
          <p:nvPr/>
        </p:nvSpPr>
        <p:spPr>
          <a:xfrm>
            <a:off x="1323975" y="3067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85E744-90ED-4838-B013-B7BEBC8F1F36}"/>
              </a:ext>
            </a:extLst>
          </p:cNvPr>
          <p:cNvSpPr>
            <a:spLocks noGrp="1"/>
          </p:cNvSpPr>
          <p:nvPr/>
        </p:nvSpPr>
        <p:spPr>
          <a:xfrm>
            <a:off x="1047750" y="3638550"/>
            <a:ext cx="2076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Verified run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56F692-76C4-41C4-9911-058DAB27776D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Task succeeds with declared postcondition evidence.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4C4F94-E468-4D9C-88C4-53C4AB97727C}"/>
              </a:ext>
            </a:extLst>
          </p:cNvPr>
          <p:cNvSpPr>
            <a:spLocks noGrp="1"/>
          </p:cNvSpPr>
          <p:nvPr/>
        </p:nvSpPr>
        <p:spPr>
          <a:xfrm>
            <a:off x="1143000" y="24765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RUN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A7E0E74D-3121-439A-A78B-7188039F237C}"/>
              </a:ext>
            </a:extLst>
          </p:cNvPr>
          <p:cNvSpPr>
            <a:spLocks noGrp="1"/>
          </p:cNvSpPr>
          <p:nvPr/>
        </p:nvSpPr>
        <p:spPr>
          <a:xfrm>
            <a:off x="4314825" y="2981325"/>
            <a:ext cx="323850" cy="323850"/>
          </a:xfrm>
          <a:prstGeom prst="ellipse">
            <a:avLst/>
          </a:prstGeom>
          <a:solidFill>
            <a:srgbClr val="3980C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2FA102-DE46-4FA3-B09B-4036FBE15063}"/>
              </a:ext>
            </a:extLst>
          </p:cNvPr>
          <p:cNvSpPr>
            <a:spLocks noGrp="1"/>
          </p:cNvSpPr>
          <p:nvPr/>
        </p:nvSpPr>
        <p:spPr>
          <a:xfrm>
            <a:off x="4324350" y="3067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144719-5A1B-4E3E-8E44-B62544ECBE38}"/>
              </a:ext>
            </a:extLst>
          </p:cNvPr>
          <p:cNvSpPr>
            <a:spLocks noGrp="1"/>
          </p:cNvSpPr>
          <p:nvPr/>
        </p:nvSpPr>
        <p:spPr>
          <a:xfrm>
            <a:off x="4048125" y="3638550"/>
            <a:ext cx="2076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Independent repetition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378A78-9BE4-4E7F-82B2-B8ABC925692B}"/>
              </a:ext>
            </a:extLst>
          </p:cNvPr>
          <p:cNvSpPr>
            <a:spLocks noGrp="1"/>
          </p:cNvSpPr>
          <p:nvPr/>
        </p:nvSpPr>
        <p:spPr>
          <a:xfrm>
            <a:off x="4048125" y="407670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Three distinct verified task IDs are required.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10DF8B-E6CD-42D6-BBEB-41FF801FB98E}"/>
              </a:ext>
            </a:extLst>
          </p:cNvPr>
          <p:cNvSpPr>
            <a:spLocks noGrp="1"/>
          </p:cNvSpPr>
          <p:nvPr/>
        </p:nvSpPr>
        <p:spPr>
          <a:xfrm>
            <a:off x="4143375" y="24765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GATE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B669F60-A6E8-4BB1-9F6B-88E58A22F280}"/>
              </a:ext>
            </a:extLst>
          </p:cNvPr>
          <p:cNvSpPr>
            <a:spLocks noGrp="1"/>
          </p:cNvSpPr>
          <p:nvPr/>
        </p:nvSpPr>
        <p:spPr>
          <a:xfrm>
            <a:off x="7315200" y="2981325"/>
            <a:ext cx="323850" cy="323850"/>
          </a:xfrm>
          <a:prstGeom prst="ellipse">
            <a:avLst/>
          </a:prstGeom>
          <a:solidFill>
            <a:srgbClr val="8E7B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AFDF61-32CB-4D9E-A059-04AEF2AC8E6D}"/>
              </a:ext>
            </a:extLst>
          </p:cNvPr>
          <p:cNvSpPr>
            <a:spLocks noGrp="1"/>
          </p:cNvSpPr>
          <p:nvPr/>
        </p:nvSpPr>
        <p:spPr>
          <a:xfrm>
            <a:off x="7324725" y="3067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97AF50-2800-4461-B860-0E0AE0209776}"/>
              </a:ext>
            </a:extLst>
          </p:cNvPr>
          <p:cNvSpPr>
            <a:spLocks noGrp="1"/>
          </p:cNvSpPr>
          <p:nvPr/>
        </p:nvSpPr>
        <p:spPr>
          <a:xfrm>
            <a:off x="7048500" y="3638550"/>
            <a:ext cx="2076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Unseen-UI holdout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73C6A4-8C06-478C-84B2-C709926A68FE}"/>
              </a:ext>
            </a:extLst>
          </p:cNvPr>
          <p:cNvSpPr>
            <a:spLocks noGrp="1"/>
          </p:cNvSpPr>
          <p:nvPr/>
        </p:nvSpPr>
        <p:spPr>
          <a:xfrm>
            <a:off x="7048500" y="407670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Offline test must use a new UI fingerprint.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37B2C85-433D-42A9-8E67-423298EFC263}"/>
              </a:ext>
            </a:extLst>
          </p:cNvPr>
          <p:cNvSpPr>
            <a:spLocks noGrp="1"/>
          </p:cNvSpPr>
          <p:nvPr/>
        </p:nvSpPr>
        <p:spPr>
          <a:xfrm>
            <a:off x="7143750" y="24765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E7B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GATE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E70217-E856-4167-9190-7E4943B11E19}"/>
              </a:ext>
            </a:extLst>
          </p:cNvPr>
          <p:cNvSpPr>
            <a:spLocks noGrp="1"/>
          </p:cNvSpPr>
          <p:nvPr/>
        </p:nvSpPr>
        <p:spPr>
          <a:xfrm>
            <a:off x="10315575" y="2981325"/>
            <a:ext cx="323850" cy="323850"/>
          </a:xfrm>
          <a:prstGeom prst="ellipse">
            <a:avLst/>
          </a:prstGeom>
          <a:solidFill>
            <a:srgbClr val="759E2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E8AB066-C0CD-4D6A-9883-43D021B22E57}"/>
              </a:ext>
            </a:extLst>
          </p:cNvPr>
          <p:cNvSpPr>
            <a:spLocks noGrp="1"/>
          </p:cNvSpPr>
          <p:nvPr/>
        </p:nvSpPr>
        <p:spPr>
          <a:xfrm>
            <a:off x="10325100" y="3067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85E9671-0666-4E0A-B692-26D737DB85AB}"/>
              </a:ext>
            </a:extLst>
          </p:cNvPr>
          <p:cNvSpPr>
            <a:spLocks noGrp="1"/>
          </p:cNvSpPr>
          <p:nvPr/>
        </p:nvSpPr>
        <p:spPr>
          <a:xfrm>
            <a:off x="10048875" y="3638550"/>
            <a:ext cx="2076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Promoted skill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CB70D3E-9E8B-4F65-BF4D-272853FA34C8}"/>
              </a:ext>
            </a:extLst>
          </p:cNvPr>
          <p:cNvSpPr>
            <a:spLocks noGrp="1"/>
          </p:cNvSpPr>
          <p:nvPr/>
        </p:nvSpPr>
        <p:spPr>
          <a:xfrm>
            <a:off x="10048875" y="407670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Only redacted/hash provenance enters memory.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515EA5-85E3-4EEB-B2F2-025931B5B51B}"/>
              </a:ext>
            </a:extLst>
          </p:cNvPr>
          <p:cNvSpPr>
            <a:spLocks noGrp="1"/>
          </p:cNvSpPr>
          <p:nvPr/>
        </p:nvSpPr>
        <p:spPr>
          <a:xfrm>
            <a:off x="10144125" y="24765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FAST PATH ELIGIBLE</a:t>
            </a: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0145634C-B133-47E0-B889-3095E2E007D4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744200" cy="666750"/>
          </a:xfrm>
          <a:prstGeom prst="roundRect">
            <a:avLst>
              <a:gd name="adj" fmla="val 17143"/>
            </a:avLst>
          </a:prstGeom>
          <a:solidFill>
            <a:srgbClr val="F0F8DF"/>
          </a:solidFill>
          <a:ln w="9525">
            <a:solidFill>
              <a:srgbClr val="D7E7B6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83848F4-06FF-4216-9D90-2F908614FD06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10210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619" lnSpcReduction="10000"/>
          </a:bodyPr>
          <a:lstStyle/>
          <a:p>
            <a:pPr algn="ctr">
              <a:defRPr sz="1350" b="1" i="0">
                <a:solidFill>
                  <a:srgbClr val="4E6E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E6E1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Promotion stays blocked until every evidence gate passes—and network synchronization is completed before runtime, never during the Fast Path.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179E16B-D9F2-44BC-AD84-B71A59D0014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Source: learning gate, skill store, shared-skill eligibility, and selector-memory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02984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C1BC6A78-D4A8-411F-8640-3CAEBD5C6FD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PRODUCT SURFACES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882892-CB0A-4C27-8CDC-47B11570B13F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One runtime. Four operator surfaces.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B9B538-11A3-4E42-A611-2A5DDA37BE43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6EC6F2-5748-436E-A6D3-BF9157350F25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The repository is broader than a demo script.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1AED14-A538-4AA6-8E4C-30CF5B6CB15F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6F20D3-17F3-4515-8910-2A3026F834F0}"/>
              </a:ext>
            </a:extLst>
          </p:cNvPr>
          <p:cNvSpPr>
            <a:spLocks noGrp="1"/>
          </p:cNvSpPr>
          <p:nvPr/>
        </p:nvSpPr>
        <p:spPr>
          <a:xfrm>
            <a:off x="1162050" y="2057400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Desktop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89D25B-37D1-4A62-B583-EEFEAC444781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Electron/React operator console, approvals, dashboard, release UX.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FF7B7FA-2E36-4C24-92E1-CEA8A77CD8AE}"/>
              </a:ext>
            </a:extLst>
          </p:cNvPr>
          <p:cNvSpPr>
            <a:spLocks noGrp="1"/>
          </p:cNvSpPr>
          <p:nvPr/>
        </p:nvSpPr>
        <p:spPr>
          <a:xfrm>
            <a:off x="1162050" y="2857500"/>
            <a:ext cx="4000500" cy="9525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57B2C8-1AFE-47FC-A911-A80443706D76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B9DCE9-6FF9-4E25-8713-A866540B5A09}"/>
              </a:ext>
            </a:extLst>
          </p:cNvPr>
          <p:cNvSpPr>
            <a:spLocks noGrp="1"/>
          </p:cNvSpPr>
          <p:nvPr/>
        </p:nvSpPr>
        <p:spPr>
          <a:xfrm>
            <a:off x="1162050" y="2952750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CLI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B15EAF-E8EE-46C9-8014-26CD4C52F7DC}"/>
              </a:ext>
            </a:extLst>
          </p:cNvPr>
          <p:cNvSpPr>
            <a:spLocks noGrp="1"/>
          </p:cNvSpPr>
          <p:nvPr/>
        </p:nvSpPr>
        <p:spPr>
          <a:xfrm>
            <a:off x="1162050" y="326707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Task execution, inspection, benchmarks, packaging, and operator workflows.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2E562B-4A1E-4801-B33A-963D1084DD0D}"/>
              </a:ext>
            </a:extLst>
          </p:cNvPr>
          <p:cNvSpPr>
            <a:spLocks noGrp="1"/>
          </p:cNvSpPr>
          <p:nvPr/>
        </p:nvSpPr>
        <p:spPr>
          <a:xfrm>
            <a:off x="1162050" y="3752850"/>
            <a:ext cx="4000500" cy="9525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60E91C-18C8-4B66-A066-FB0FECEEB331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CA4D24-9E91-4A22-BD94-F3AABDC50995}"/>
              </a:ext>
            </a:extLst>
          </p:cNvPr>
          <p:cNvSpPr>
            <a:spLocks noGrp="1"/>
          </p:cNvSpPr>
          <p:nvPr/>
        </p:nvSpPr>
        <p:spPr>
          <a:xfrm>
            <a:off x="1162050" y="3848100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MCP server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C587EA-4756-48B3-9CD7-1736FA103AA5}"/>
              </a:ext>
            </a:extLst>
          </p:cNvPr>
          <p:cNvSpPr>
            <a:spLocks noGrp="1"/>
          </p:cNvSpPr>
          <p:nvPr/>
        </p:nvSpPr>
        <p:spPr>
          <a:xfrm>
            <a:off x="1162050" y="416242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Slow-path and external-agent adapter—explicitly outside Fast Path.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4BF139-FD5C-4882-983D-5A735F873C31}"/>
              </a:ext>
            </a:extLst>
          </p:cNvPr>
          <p:cNvSpPr>
            <a:spLocks noGrp="1"/>
          </p:cNvSpPr>
          <p:nvPr/>
        </p:nvSpPr>
        <p:spPr>
          <a:xfrm>
            <a:off x="1162050" y="4648200"/>
            <a:ext cx="4000500" cy="9525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C3839F-1E97-4B6E-8E76-9E500DCE9B83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4F92C19-87BC-435A-8102-6DC81AC2AB16}"/>
              </a:ext>
            </a:extLst>
          </p:cNvPr>
          <p:cNvSpPr>
            <a:spLocks noGrp="1"/>
          </p:cNvSpPr>
          <p:nvPr/>
        </p:nvSpPr>
        <p:spPr>
          <a:xfrm>
            <a:off x="1162050" y="4743450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Shared skills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8ECBD1-17A6-4C06-8AD7-26FFDFCE8A53}"/>
              </a:ext>
            </a:extLst>
          </p:cNvPr>
          <p:cNvSpPr>
            <a:spLocks noGrp="1"/>
          </p:cNvSpPr>
          <p:nvPr/>
        </p:nvSpPr>
        <p:spPr>
          <a:xfrm>
            <a:off x="1162050" y="505777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C374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Appwrite-backed control plane with local cache before runtime.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F078CFD0-D731-4EB7-8EE6-E06421708A01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276350" cy="304800"/>
          </a:xfrm>
          <a:prstGeom prst="roundRect">
            <a:avLst>
              <a:gd name="adj" fmla="val 37500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18C2E08-9D24-4855-9419-5A1C7283492A}"/>
              </a:ext>
            </a:extLst>
          </p:cNvPr>
          <p:cNvSpPr>
            <a:spLocks noGrp="1"/>
          </p:cNvSpPr>
          <p:nvPr/>
        </p:nvSpPr>
        <p:spPr>
          <a:xfrm>
            <a:off x="704850" y="6010275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12 PACKAGES</a:t>
            </a: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D2B6AE1A-0F05-4F33-BFDD-6F2D9EAD2849}"/>
              </a:ext>
            </a:extLst>
          </p:cNvPr>
          <p:cNvSpPr>
            <a:spLocks noGrp="1"/>
          </p:cNvSpPr>
          <p:nvPr/>
        </p:nvSpPr>
        <p:spPr>
          <a:xfrm>
            <a:off x="2000250" y="5943600"/>
            <a:ext cx="1028700" cy="304800"/>
          </a:xfrm>
          <a:prstGeom prst="roundRect">
            <a:avLst>
              <a:gd name="adj" fmla="val 37500"/>
            </a:avLst>
          </a:prstGeom>
          <a:solidFill>
            <a:srgbClr val="E4F7F9"/>
          </a:solidFill>
          <a:ln w="0">
            <a:solidFill>
              <a:srgbClr val="E4F7F9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9387072-25B0-41B3-9B8F-76A2EEDB956D}"/>
              </a:ext>
            </a:extLst>
          </p:cNvPr>
          <p:cNvSpPr>
            <a:spLocks noGrp="1"/>
          </p:cNvSpPr>
          <p:nvPr/>
        </p:nvSpPr>
        <p:spPr>
          <a:xfrm>
            <a:off x="2095500" y="6010275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 i="0">
                <a:solidFill>
                  <a:srgbClr val="168F9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68F9A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4 APPS</a:t>
            </a: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E589B95A-D91A-4989-999B-C278CD122A5A}"/>
              </a:ext>
            </a:extLst>
          </p:cNvPr>
          <p:cNvSpPr>
            <a:spLocks noGrp="1"/>
          </p:cNvSpPr>
          <p:nvPr/>
        </p:nvSpPr>
        <p:spPr>
          <a:xfrm>
            <a:off x="3143250" y="5943600"/>
            <a:ext cx="1162050" cy="304800"/>
          </a:xfrm>
          <a:prstGeom prst="roundRect">
            <a:avLst>
              <a:gd name="adj" fmla="val 37500"/>
            </a:avLst>
          </a:prstGeom>
          <a:solidFill>
            <a:srgbClr val="F0F8DF"/>
          </a:solidFill>
          <a:ln w="0">
            <a:solidFill>
              <a:srgbClr val="F0F8D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6053425-F1C8-4D43-8C8B-DC5962CC6E9F}"/>
              </a:ext>
            </a:extLst>
          </p:cNvPr>
          <p:cNvSpPr>
            <a:spLocks noGrp="1"/>
          </p:cNvSpPr>
          <p:nvPr/>
        </p:nvSpPr>
        <p:spPr>
          <a:xfrm>
            <a:off x="3238500" y="6010275"/>
            <a:ext cx="971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286 FILES</a:t>
            </a: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FEACD58A-6802-47F0-BE1B-5F3D3891A18A}"/>
              </a:ext>
            </a:extLst>
          </p:cNvPr>
          <p:cNvSpPr>
            <a:spLocks noGrp="1"/>
          </p:cNvSpPr>
          <p:nvPr/>
        </p:nvSpPr>
        <p:spPr>
          <a:xfrm>
            <a:off x="5734050" y="609600"/>
            <a:ext cx="5791200" cy="5429250"/>
          </a:xfrm>
          <a:prstGeom prst="roundRect">
            <a:avLst>
              <a:gd name="adj" fmla="val 2807"/>
            </a:avLst>
          </a:prstGeom>
          <a:solidFill>
            <a:srgbClr val="071628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7" name="圖片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0" y="1791891"/>
            <a:ext cx="5448300" cy="3064669"/>
          </a:xfrm>
          <a:prstGeom prst="roundRect">
            <a:avLst>
              <a:gd name="adj" fmla="val 2247"/>
            </a:avLst>
          </a:prstGeom>
        </p:spPr>
      </p:pic>
      <p:sp>
        <p:nvSpPr>
          <p:cNvPr id="28" name="圓角矩形 27">
            <a:extLst>
              <a:ext uri="{FF2B5EF4-FFF2-40B4-BE49-F238E27FC236}">
                <a16:creationId xmlns:a16="http://schemas.microsoft.com/office/drawing/2014/main" id="{F66BB2A6-A112-42C4-920E-DF0717550597}"/>
              </a:ext>
            </a:extLst>
          </p:cNvPr>
          <p:cNvSpPr>
            <a:spLocks noGrp="1"/>
          </p:cNvSpPr>
          <p:nvPr/>
        </p:nvSpPr>
        <p:spPr>
          <a:xfrm>
            <a:off x="8648700" y="876300"/>
            <a:ext cx="2533650" cy="304800"/>
          </a:xfrm>
          <a:prstGeom prst="roundRect">
            <a:avLst>
              <a:gd name="adj" fmla="val 37500"/>
            </a:avLst>
          </a:prstGeom>
          <a:solidFill>
            <a:srgbClr val="0B1B31"/>
          </a:solidFill>
          <a:ln w="9525">
            <a:solidFill>
              <a:srgbClr val="34506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D39DD4E-B954-4B58-9708-DADE5F0FCE00}"/>
              </a:ext>
            </a:extLst>
          </p:cNvPr>
          <p:cNvSpPr>
            <a:spLocks noGrp="1"/>
          </p:cNvSpPr>
          <p:nvPr/>
        </p:nvSpPr>
        <p:spPr>
          <a:xfrm>
            <a:off x="8743950" y="942975"/>
            <a:ext cx="2343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DESKTOP OPERATOR CONSOLE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4C7C90-937B-47CC-8EEF-6357B338831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Source: apps/desktop, apps/cli, apps/mcp-server, shared-skills package, and Appwrite service.</a:t>
            </a:r>
          </a:p>
        </p:txBody>
      </p:sp>
    </p:spTree>
    <p:extLst>
      <p:ext uri="{BB962C8B-B14F-4D97-AF65-F5344CB8AC3E}">
        <p14:creationId xmlns:p14="http://schemas.microsoft.com/office/powerpoint/2010/main" val="1157471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42ADC48-7A8A-4D73-8ECB-0C4AED0146C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MATURITY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0027DB-F21D-4159-8EC6-01C539FEE820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The core path is ahead of external proof and distribution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454383-19EF-40D0-A1E3-D96E5795744B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966F45-1A48-46B5-8114-991A0CC92401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A useful release conversation distinguishes implemented behavior from integration-ready and gated work.</a:t>
            </a:r>
          </a:p>
        </p:txBody>
      </p:sp>
      <p:graphicFrame>
        <p:nvGraphicFramePr>
          <p:cNvPr id="13" name="表格 12"/>
          <p:cNvGraphicFramePr/>
          <p:nvPr>
            <p:extLst>
              <p:ext uri="{D42A27DB-BD31-4B8C-83A1-F6EECF244321}">
                <p14:modId xmlns:p14="http://schemas.microsoft.com/office/powerpoint/2010/main" val="1436266537"/>
              </p:ext>
            </p:extLst>
          </p:nvPr>
        </p:nvGraphicFramePr>
        <p:xfrm>
          <a:off x="609600" y="1809750"/>
          <a:ext cx="10744200" cy="3619497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07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Capability</a:t>
                      </a:r>
                    </a:p>
                  </a:txBody>
                  <a:tcPr marL="114300" marR="114300" marT="95250" marB="95250">
                    <a:solidFill>
                      <a:srgbClr val="07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Assessment</a:t>
                      </a:r>
                    </a:p>
                  </a:txBody>
                  <a:tcPr marL="114300" marR="114300" marT="95250" marB="95250">
                    <a:solidFill>
                      <a:srgbClr val="07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Evidence / remaining work</a:t>
                      </a:r>
                    </a:p>
                  </a:txBody>
                  <a:tcPr marL="114300" marR="114300" marT="95250" marB="95250">
                    <a:solidFill>
                      <a:srgbClr val="07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Fast Path browser execution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759E20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IMPLEMENTED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Direct SDK, policy, verifier, trace, tests</a:t>
                      </a:r>
                    </a:p>
                  </a:txBody>
                  <a:tcPr marL="114300" marR="114300" marT="85725" marB="8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Security + approvals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759E20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IMPLEMENTED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Exact-action signing, replay checks, redaction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Desktop control center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980C6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EVOLVING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Build passes; distribution evidence still gated</a:t>
                      </a:r>
                    </a:p>
                  </a:txBody>
                  <a:tcPr marL="114300" marR="114300" marT="85725" marB="8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BrowserPool / workflows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980C6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INTEGRATION-READY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Caller owns lifecycle, workers, secrets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External benchmark publication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69A37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GATED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No eligible public submission result</a:t>
                      </a:r>
                    </a:p>
                  </a:txBody>
                  <a:tcPr marL="114300" marR="114300" marT="85725" marB="8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Screenshot/custom verifiers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69A37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KNOWN GAP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2C3748"/>
                          </a:solidFill>
                          <a:latin typeface="Aharoni" panose="02010803020104030203" pitchFamily="2" charset="-79"/>
                          <a:ea typeface="Arial"/>
                          <a:cs typeface="Aharoni" panose="02010803020104030203" pitchFamily="2" charset="-79"/>
                        </a:rPr>
                        <a:t>Not available in verifier v0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圓角矩形 5">
            <a:extLst>
              <a:ext uri="{FF2B5EF4-FFF2-40B4-BE49-F238E27FC236}">
                <a16:creationId xmlns:a16="http://schemas.microsoft.com/office/drawing/2014/main" id="{DA090BA1-4656-46CF-9D0F-3CB5F55CDBFD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744200" cy="495300"/>
          </a:xfrm>
          <a:prstGeom prst="roundRect">
            <a:avLst>
              <a:gd name="adj" fmla="val 23077"/>
            </a:avLst>
          </a:prstGeom>
          <a:solidFill>
            <a:srgbClr val="FFF3E4"/>
          </a:solidFill>
          <a:ln w="9525">
            <a:solidFill>
              <a:srgbClr val="E9C28D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7881C3-7281-4D96-B24D-699A9C31E6C1}"/>
              </a:ext>
            </a:extLst>
          </p:cNvPr>
          <p:cNvSpPr>
            <a:spLocks noGrp="1"/>
          </p:cNvSpPr>
          <p:nvPr/>
        </p:nvSpPr>
        <p:spPr>
          <a:xfrm>
            <a:off x="800100" y="5857875"/>
            <a:ext cx="1036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88551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85513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Release truth is split: npm latest 0.1.1; local docs describe 0.1.2 CLI RC and desktop 0.1.4 development build.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740C3A-9CC6-40E6-A245-22CF3C9AA32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Source: local source/tests, release-status and production-readiness docs; npm registry metadata observed 20 Jul 2026.</a:t>
            </a:r>
          </a:p>
        </p:txBody>
      </p:sp>
    </p:spTree>
    <p:extLst>
      <p:ext uri="{BB962C8B-B14F-4D97-AF65-F5344CB8AC3E}">
        <p14:creationId xmlns:p14="http://schemas.microsoft.com/office/powerpoint/2010/main" val="1721277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9E9C49E6-238F-48B0-8DBA-A70ACD5D16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2C136C-C034-48F2-81D8-BD848ADCDBE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THE POSITION TO OWN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E0D2D0-4D13-4DD9-9A72-45F2C4609EA5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5429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Local execution</a:t>
            </a:r>
          </a:p>
          <a:p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with proof.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9791EA-D854-492E-A6BB-29370CF3D4BB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52387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 i="0">
                <a:solidFill>
                  <a:srgbClr val="BECC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BECCDE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LHIC is strongest as a secure execution substrate—where policy, human authority, deterministic automation, verification, and audit evidence decide what actually happened.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D0E25745-F9E2-4E9C-B89D-15F88F2F1693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1371600" cy="304800"/>
          </a:xfrm>
          <a:prstGeom prst="roundRect">
            <a:avLst>
              <a:gd name="adj" fmla="val 37500"/>
            </a:avLst>
          </a:prstGeom>
          <a:solidFill>
            <a:srgbClr val="1D3150"/>
          </a:solidFill>
          <a:ln w="9525">
            <a:solidFill>
              <a:srgbClr val="4F6382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3C6DAD-3FF1-4279-B647-5C060C0F7411}"/>
              </a:ext>
            </a:extLst>
          </p:cNvPr>
          <p:cNvSpPr>
            <a:spLocks noGrp="1"/>
          </p:cNvSpPr>
          <p:nvPr/>
        </p:nvSpPr>
        <p:spPr>
          <a:xfrm>
            <a:off x="781050" y="5210175"/>
            <a:ext cx="1181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 i="0">
                <a:solidFill>
                  <a:srgbClr val="B7C6D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7C6D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NO SOTA CLAIM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C9E81147-B7BF-4E44-A394-9AC736F61F67}"/>
              </a:ext>
            </a:extLst>
          </p:cNvPr>
          <p:cNvSpPr>
            <a:spLocks noGrp="1"/>
          </p:cNvSpPr>
          <p:nvPr/>
        </p:nvSpPr>
        <p:spPr>
          <a:xfrm>
            <a:off x="2190750" y="5143500"/>
            <a:ext cx="2324100" cy="304800"/>
          </a:xfrm>
          <a:prstGeom prst="roundRect">
            <a:avLst>
              <a:gd name="adj" fmla="val 37500"/>
            </a:avLst>
          </a:prstGeom>
          <a:solidFill>
            <a:srgbClr val="F0F8DF"/>
          </a:solidFill>
          <a:ln w="0">
            <a:solidFill>
              <a:srgbClr val="F0F8DF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439330-847F-4A7E-BA75-9D56B2E4676C}"/>
              </a:ext>
            </a:extLst>
          </p:cNvPr>
          <p:cNvSpPr>
            <a:spLocks noGrp="1"/>
          </p:cNvSpPr>
          <p:nvPr/>
        </p:nvSpPr>
        <p:spPr>
          <a:xfrm>
            <a:off x="2286000" y="5210175"/>
            <a:ext cx="2133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STRONG INTERNAL INVARIANTS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6FD122-AC85-42B6-B1DB-683EE9E7CA2B}"/>
              </a:ext>
            </a:extLst>
          </p:cNvPr>
          <p:cNvSpPr>
            <a:spLocks noGrp="1"/>
          </p:cNvSpPr>
          <p:nvPr/>
        </p:nvSpPr>
        <p:spPr>
          <a:xfrm>
            <a:off x="6705600" y="7620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F34A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NEXT 90 DAYS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B53E6978-E094-4DD2-91A0-E3885D94E071}"/>
              </a:ext>
            </a:extLst>
          </p:cNvPr>
          <p:cNvSpPr>
            <a:spLocks noGrp="1"/>
          </p:cNvSpPr>
          <p:nvPr/>
        </p:nvSpPr>
        <p:spPr>
          <a:xfrm>
            <a:off x="6515100" y="1333500"/>
            <a:ext cx="4838700" cy="1200150"/>
          </a:xfrm>
          <a:prstGeom prst="roundRect">
            <a:avLst>
              <a:gd name="adj" fmla="val 9524"/>
            </a:avLst>
          </a:prstGeom>
          <a:solidFill>
            <a:srgbClr val="0D2340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361440-C9BA-447D-A36E-02E59074978A}"/>
              </a:ext>
            </a:extLst>
          </p:cNvPr>
          <p:cNvSpPr>
            <a:spLocks noGrp="1"/>
          </p:cNvSpPr>
          <p:nvPr/>
        </p:nvSpPr>
        <p:spPr>
          <a:xfrm>
            <a:off x="6762750" y="15716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A4078D-D80C-488E-9E66-3CE2EAF14A2B}"/>
              </a:ext>
            </a:extLst>
          </p:cNvPr>
          <p:cNvSpPr>
            <a:spLocks noGrp="1"/>
          </p:cNvSpPr>
          <p:nvPr/>
        </p:nvSpPr>
        <p:spPr>
          <a:xfrm>
            <a:off x="7391400" y="15430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External evaluation pack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18B6E7-D1E3-499D-BFB6-BA039EA833BA}"/>
              </a:ext>
            </a:extLst>
          </p:cNvPr>
          <p:cNvSpPr>
            <a:spLocks noGrp="1"/>
          </p:cNvSpPr>
          <p:nvPr/>
        </p:nvSpPr>
        <p:spPr>
          <a:xfrm>
            <a:off x="7391400" y="1924050"/>
            <a:ext cx="361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9CD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Pinned BrowserGym/WorkArena harness, traces, and failure taxonomy.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B10A04B4-2606-44ED-B388-6F7C775E0E26}"/>
              </a:ext>
            </a:extLst>
          </p:cNvPr>
          <p:cNvSpPr>
            <a:spLocks noGrp="1"/>
          </p:cNvSpPr>
          <p:nvPr/>
        </p:nvSpPr>
        <p:spPr>
          <a:xfrm>
            <a:off x="6515100" y="2762250"/>
            <a:ext cx="4838700" cy="1200150"/>
          </a:xfrm>
          <a:prstGeom prst="roundRect">
            <a:avLst>
              <a:gd name="adj" fmla="val 9524"/>
            </a:avLst>
          </a:prstGeom>
          <a:solidFill>
            <a:srgbClr val="0D2340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3805F92-28FB-49B1-A830-568F6B33F39D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2935A8-99BB-4FCA-B4EB-ADFB1A1BF734}"/>
              </a:ext>
            </a:extLst>
          </p:cNvPr>
          <p:cNvSpPr>
            <a:spLocks noGrp="1"/>
          </p:cNvSpPr>
          <p:nvPr/>
        </p:nvSpPr>
        <p:spPr>
          <a:xfrm>
            <a:off x="7391400" y="29718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Verifier challenge set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5469259-68F3-4813-9099-1FA31ABF094A}"/>
              </a:ext>
            </a:extLst>
          </p:cNvPr>
          <p:cNvSpPr>
            <a:spLocks noGrp="1"/>
          </p:cNvSpPr>
          <p:nvPr/>
        </p:nvSpPr>
        <p:spPr>
          <a:xfrm>
            <a:off x="7391400" y="3352800"/>
            <a:ext cx="361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9CD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False-positive and false-negative tests by postcondition family.</a:t>
            </a: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52BE5E79-7116-49CC-9B0E-5873E9499B8A}"/>
              </a:ext>
            </a:extLst>
          </p:cNvPr>
          <p:cNvSpPr>
            <a:spLocks noGrp="1"/>
          </p:cNvSpPr>
          <p:nvPr/>
        </p:nvSpPr>
        <p:spPr>
          <a:xfrm>
            <a:off x="6515100" y="4191000"/>
            <a:ext cx="4838700" cy="1200150"/>
          </a:xfrm>
          <a:prstGeom prst="roundRect">
            <a:avLst>
              <a:gd name="adj" fmla="val 9524"/>
            </a:avLst>
          </a:prstGeom>
          <a:solidFill>
            <a:srgbClr val="0D2340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10B0CE-F0B9-4351-9FA1-0D5B96BA6F75}"/>
              </a:ext>
            </a:extLst>
          </p:cNvPr>
          <p:cNvSpPr>
            <a:spLocks noGrp="1"/>
          </p:cNvSpPr>
          <p:nvPr/>
        </p:nvSpPr>
        <p:spPr>
          <a:xfrm>
            <a:off x="6762750" y="44291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337FE32-8FF4-4717-ABD2-42CE06A0D897}"/>
              </a:ext>
            </a:extLst>
          </p:cNvPr>
          <p:cNvSpPr>
            <a:spLocks noGrp="1"/>
          </p:cNvSpPr>
          <p:nvPr/>
        </p:nvSpPr>
        <p:spPr>
          <a:xfrm>
            <a:off x="7391400" y="44005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Harmonized release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68958A0-954E-4095-8FF0-C6CA1532EB08}"/>
              </a:ext>
            </a:extLst>
          </p:cNvPr>
          <p:cNvSpPr>
            <a:spLocks noGrp="1"/>
          </p:cNvSpPr>
          <p:nvPr/>
        </p:nvSpPr>
        <p:spPr>
          <a:xfrm>
            <a:off x="7391400" y="4781550"/>
            <a:ext cx="361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9CD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One version matrix plus signed/notarized desktop evidence.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4071FC-2FD8-486D-9D96-96CF63DD6449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 i="0">
                <a:solidFill>
                  <a:srgbClr val="7F94A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F94AD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Deep research based on the current working tree • 20 July 2026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1397112-5658-4CB4-89F7-B97824A97F44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7F94A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F94AD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310253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1379</Words>
  <Application>Microsoft Macintosh PowerPoint</Application>
  <DocSecurity>0</DocSecurity>
  <PresentationFormat>寬螢幕</PresentationFormat>
  <Paragraphs>252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Aharoni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matt cheng</cp:lastModifiedBy>
  <cp:revision>2</cp:revision>
  <dcterms:created xsi:type="dcterms:W3CDTF">2026-07-20T06:04:40Z</dcterms:created>
  <dcterms:modified xsi:type="dcterms:W3CDTF">2026-07-20T12:01:54Z</dcterms:modified>
</cp:coreProperties>
</file>