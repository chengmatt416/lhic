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75201d7bf2480f" /><Relationship Type="http://schemas.openxmlformats.org/officeDocument/2006/relationships/extended-properties" Target="/docProps/app.xml" Id="R080cf668ee164ac2" /><Relationship Type="http://schemas.openxmlformats.org/officeDocument/2006/relationships/officeDocument" Target="/ppt/presentation.xml" Id="R0cefba82484344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cc7d95f96c4781"/>
  </p:sldMasterIdLst>
  <p:notesMasterIdLst>
    <p:notesMasterId xmlns:r="http://schemas.openxmlformats.org/officeDocument/2006/relationships" r:id="R4bd201e58418416b"/>
  </p:notesMasterIdLst>
  <p:sldIdLst>
    <p:sldId xmlns:r="http://schemas.openxmlformats.org/officeDocument/2006/relationships" id="256" r:id="R77343d699bc849e8"/>
    <p:sldId xmlns:r="http://schemas.openxmlformats.org/officeDocument/2006/relationships" id="257" r:id="R1975257093584a37"/>
    <p:sldId xmlns:r="http://schemas.openxmlformats.org/officeDocument/2006/relationships" id="258" r:id="R6033e52b31354c36"/>
    <p:sldId xmlns:r="http://schemas.openxmlformats.org/officeDocument/2006/relationships" id="259" r:id="R2456b699604544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43c38a6c534316" /><Relationship Type="http://schemas.openxmlformats.org/officeDocument/2006/relationships/slideMaster" Target="/ppt/slideMasters/slideMaster1.xml" Id="R67cc7d95f96c4781" /><Relationship Type="http://schemas.openxmlformats.org/officeDocument/2006/relationships/notesMaster" Target="/ppt/notesMasters/notesMaster1.xml" Id="R4bd201e58418416b" /><Relationship Type="http://schemas.openxmlformats.org/officeDocument/2006/relationships/presProps" Target="/ppt/presProps.xml" Id="Re8de88fdffd04b19" /><Relationship Type="http://schemas.openxmlformats.org/officeDocument/2006/relationships/viewProps" Target="/ppt/viewProps.xml" Id="R53ec701f39834ed4" /><Relationship Type="http://schemas.openxmlformats.org/officeDocument/2006/relationships/tableStyles" Target="/ppt/tableStyles.xml" Id="Rbc62a07a317b444c" /><Relationship Type="http://schemas.openxmlformats.org/officeDocument/2006/relationships/slide" Target="/ppt/slides/slide1.xml" Id="R77343d699bc849e8" /><Relationship Type="http://schemas.openxmlformats.org/officeDocument/2006/relationships/slide" Target="/ppt/slides/slide2.xml" Id="R1975257093584a37" /><Relationship Type="http://schemas.openxmlformats.org/officeDocument/2006/relationships/slide" Target="/ppt/slides/slide3.xml" Id="R6033e52b31354c36" /><Relationship Type="http://schemas.openxmlformats.org/officeDocument/2006/relationships/slide" Target="/ppt/slides/slide4.xml" Id="R2456b699604544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688788f5874b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5d905a6f65499b" /><Relationship Type="http://schemas.openxmlformats.org/officeDocument/2006/relationships/notesMaster" Target="/ppt/notesMasters/notesMaster1.xml" Id="R678a0da2090c46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4193c8c8564071" /><Relationship Type="http://schemas.openxmlformats.org/officeDocument/2006/relationships/notesMaster" Target="/ppt/notesMasters/notesMaster1.xml" Id="R29d1a11c0aaf45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677d9248ab41a8" /><Relationship Type="http://schemas.openxmlformats.org/officeDocument/2006/relationships/notesMaster" Target="/ppt/notesMasters/notesMaster1.xml" Id="Ree1098958f6541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d282f6db1747a9" /><Relationship Type="http://schemas.openxmlformats.org/officeDocument/2006/relationships/notesMaster" Target="/ppt/notesMasters/notesMaster1.xml" Id="Rfdc41c4a97f74c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0:00–0:10 — Hi, I’m presenting LHIC: Local Human Intent Controller. It turns intent into typed local actions, explicit proof, and redacted traces.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0:17–0:32 — Core thesis: intelligence can propose, but LHIC decides what happened. Success is not a click; it is a declared postcondition backed by verifier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2:22–2:34 — Skill memory is earned. LHIC requires verified runs, three independent task IDs, an unseen-UI holdout, and redacted provenance before promotion.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2:55–3:00 — The position to own is local execution with proof. Next: external evaluation, verifier challenge sets, and a harmonized signed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7a210dc684b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ec0d18e3ea42b8" /><Relationship Type="http://schemas.openxmlformats.org/officeDocument/2006/relationships/slideLayout" Target="/ppt/slideLayouts/slideLayout1.xml" Id="R7aa37779f7e343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a37779f7e343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43a7ebcb348d9" /><Relationship Type="http://schemas.openxmlformats.org/officeDocument/2006/relationships/image" Target="/ppt/media/image.png" Id="R283641c9f7c24693" /><Relationship Type="http://schemas.openxmlformats.org/officeDocument/2006/relationships/notesSlide" Target="/ppt/notesSlides/notesSlide1.xml" Id="R37d1efc67c3340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85e4d3eab4732" /><Relationship Type="http://schemas.openxmlformats.org/officeDocument/2006/relationships/notesSlide" Target="/ppt/notesSlides/notesSlide2.xml" Id="R3f297c82df6347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8531bb6664408" /><Relationship Type="http://schemas.openxmlformats.org/officeDocument/2006/relationships/notesSlide" Target="/ppt/notesSlides/notesSlide3.xml" Id="Ra27d99eb285547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ec4efa7b8434a" /><Relationship Type="http://schemas.openxmlformats.org/officeDocument/2006/relationships/notesSlide" Target="/ppt/notesSlides/notesSlide4.xml" Id="R2e7bf88920bc4f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1008FFD-9F24-40AD-BC0C-CF706D53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FD39426-A49B-48EF-9B9D-43A8D7A1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7BFF"/>
          </a:solidFill>
          <a:ln xmlns:a="http://schemas.openxmlformats.org/drawingml/2006/main" w="0">
            <a:solidFill>
              <a:srgbClr val="8E7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08F129D-6CDD-4B23-ADE3-1DCE4DE7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LHIC  /  PROJECT HIGHLIGHTS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6BDCD02-B39F-43BE-8D79-E2867085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Local execution.</a:t>
            </a:r>
          </a:p>
          <a:p xmlns:a="http://schemas.openxmlformats.org/drawingml/2006/main">
            <a:pPr algn="l">
              <a:buNone/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Proof on screen.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3546CE4-EC70-4D38-B68B-6ECDE3B8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BECCD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BECCDE"/>
                </a:solidFill>
                <a:latin typeface="Aharoni"/>
                <a:ea typeface="Aharoni"/>
                <a:cs typeface="Aharoni"/>
              </a:rPr>
              <a:t>Built with OpenAI Codex. Codex proposes typed work through LHIC MCP; LHIC executes locally, verifies outcomes, and records redacted evidence.</a:t>
            </a:r>
          </a:p>
        </p:txBody>
      </p:sp>
      <p:sp>
        <p:nvSpPr>
          <p:cNvPr id="6" name="圓角矩形 5">
            <a:extLst xmlns:a="http://schemas.openxmlformats.org/drawingml/2006/main">
              <a:ext uri="{FF2B5EF4-FFF2-40B4-BE49-F238E27FC236}">
                <a16:creationId xmlns:a16="http://schemas.microsoft.com/office/drawing/2014/main" id="{13B6A00C-C5AB-4031-A73C-B8827CA8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828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0F8DF"/>
          </a:solidFill>
          <a:ln xmlns:a="http://schemas.openxmlformats.org/drawingml/2006/main" w="0">
            <a:solidFill>
              <a:srgbClr val="F0F8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19B86F3-0EAE-4E75-AF0A-7735EB0C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49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CODEX-BUILT FAST PATH</a:t>
            </a:r>
          </a:p>
        </p:txBody>
      </p:sp>
      <p:sp>
        <p:nvSpPr>
          <p:cNvPr id="8" name="圓角矩形 7">
            <a:extLst xmlns:a="http://schemas.openxmlformats.org/drawingml/2006/main">
              <a:ext uri="{FF2B5EF4-FFF2-40B4-BE49-F238E27FC236}">
                <a16:creationId xmlns:a16="http://schemas.microsoft.com/office/drawing/2014/main" id="{15EA814A-0AA9-4FCA-9F6B-C67FEC22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48250"/>
            <a:ext cx="14668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4F7F9"/>
          </a:solidFill>
          <a:ln xmlns:a="http://schemas.openxmlformats.org/drawingml/2006/main" w="0">
            <a:solidFill>
              <a:srgbClr val="E4F7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CFFAB76-54DB-4704-96DC-F4028D0C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149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68F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8F9A"/>
                </a:solidFill>
                <a:latin typeface="Aharoni"/>
                <a:ea typeface="Aharoni"/>
                <a:cs typeface="Aharoni"/>
              </a:rPr>
              <a:t>VERIFIER-FIRST</a:t>
            </a:r>
          </a:p>
        </p:txBody>
      </p:sp>
      <p:sp>
        <p:nvSpPr>
          <p:cNvPr id="10" name="圓角矩形 9">
            <a:extLst xmlns:a="http://schemas.openxmlformats.org/drawingml/2006/main">
              <a:ext uri="{FF2B5EF4-FFF2-40B4-BE49-F238E27FC236}">
                <a16:creationId xmlns:a16="http://schemas.microsoft.com/office/drawing/2014/main" id="{EE967B4F-8338-4B7D-8F50-39B399AE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48250"/>
            <a:ext cx="1562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D3150"/>
          </a:solidFill>
          <a:ln xmlns:a="http://schemas.openxmlformats.org/drawingml/2006/main" w="9525">
            <a:solidFill>
              <a:srgbClr val="4F63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A5DD948-3E47-48C8-8357-9040B9D6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149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HUMAN AUTHORITY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6A638E6-0EE2-4B6F-84AB-2D24DFB4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8FA3B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FA3BC"/>
                </a:solidFill>
                <a:latin typeface="Aharoni"/>
                <a:ea typeface="Aharoni"/>
                <a:cs typeface="Aharoni"/>
              </a:rPr>
              <a:t>OPENAI BUILD WEEK  •  20 July 2026</a:t>
            </a:r>
          </a:p>
        </p:txBody>
      </p:sp>
      <p:sp>
        <p:nvSpPr>
          <p:cNvPr id="13" name="圓角矩形 12">
            <a:extLst xmlns:a="http://schemas.openxmlformats.org/drawingml/2006/main">
              <a:ext uri="{FF2B5EF4-FFF2-40B4-BE49-F238E27FC236}">
                <a16:creationId xmlns:a16="http://schemas.microsoft.com/office/drawing/2014/main" id="{9B78E762-7688-4D12-911F-0BB25816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04850"/>
            <a:ext cx="5600700" cy="5200650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0C203A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圓角矩形 14">
            <a:extLst xmlns:a="http://schemas.openxmlformats.org/drawingml/2006/main">
              <a:ext uri="{FF2B5EF4-FFF2-40B4-BE49-F238E27FC236}">
                <a16:creationId xmlns:a16="http://schemas.microsoft.com/office/drawing/2014/main" id="{D17F4056-DCAF-4332-97AA-FA52EC2B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933450"/>
            <a:ext cx="19621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657D3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8AFE140-B4D6-4C8F-88F9-47F32D6E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0001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BUILT WITH OPENAI CODEX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95BA9FB-800D-4B43-8039-15EE10BF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8FA3B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A3BC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pic>
        <p:nvPicPr>
          <p:cNvPr id="36" name="投影片縮放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641c9f7c246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7559" y="2187794"/>
            <a:ext cx="5166418" cy="2906110"/>
          </a:xfrm>
          <a:prstGeom xmlns:a="http://schemas.openxmlformats.org/drawingml/2006/main" prst="rect">
            <a:avLst/>
          </a:prstGeom>
          <a:ln xmlns:a="http://schemas.openxmlformats.org/drawingml/2006/main" w="3175">
            <a:solidFill>
              <a:prstClr val="ltGray"/>
            </a:solidFill>
          </a:ln>
        </p:spPr>
      </p:pic>
    </p:spTree>
    <p:extLst>
      <p:ext uri="{BB962C8B-B14F-4D97-AF65-F5344CB8AC3E}">
        <p14:creationId xmlns:p14="http://schemas.microsoft.com/office/powerpoint/2010/main" val="504373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52108FD-9B64-4BE6-8724-5506C303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CORE THESIS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437FD5A-2300-43FC-A271-D8A01DD1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Intelligence can propose. LHIC decides what happened.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9C13EAD-7F53-42BB-A200-00B5FF77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F1BF1E6-807E-4DA2-B29F-B432B38D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Codex connects through MCP. LHIC owns execution.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850D2D9-CD95-4EC5-8E05-6A7E4136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Codex prepares a typed plan. LHIC revalidates every action, returns risky steps to the human, and records verifier evidence.</a:t>
            </a:r>
          </a:p>
        </p:txBody>
      </p:sp>
      <p:sp>
        <p:nvSpPr>
          <p:cNvPr id="6" name="圓角矩形 5">
            <a:extLst xmlns:a="http://schemas.openxmlformats.org/drawingml/2006/main">
              <a:ext uri="{FF2B5EF4-FFF2-40B4-BE49-F238E27FC236}">
                <a16:creationId xmlns:a16="http://schemas.microsoft.com/office/drawing/2014/main" id="{43D4026F-C677-48E4-AC48-5D9EFE57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628"/>
          </a:solidFill>
          <a:ln xmlns:a="http://schemas.openxmlformats.org/drawingml/2006/main" w="0">
            <a:solidFill>
              <a:srgbClr val="07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39BE987-ED5C-4C79-AD9D-EB80C87A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PROOF ≠ “CODEX SAID IT WORKED”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14706EB-C046-4D11-8F66-4C4D685C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Proof is local postcondition evidence plus a redacted trace.</a:t>
            </a:r>
          </a:p>
        </p:txBody>
      </p:sp>
      <p:sp>
        <p:nvSpPr>
          <p:cNvPr id="9" name="圓角矩形 8">
            <a:extLst xmlns:a="http://schemas.openxmlformats.org/drawingml/2006/main">
              <a:ext uri="{FF2B5EF4-FFF2-40B4-BE49-F238E27FC236}">
                <a16:creationId xmlns:a16="http://schemas.microsoft.com/office/drawing/2014/main" id="{E0CAF698-94F0-4780-A76E-3723F5DB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811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圓角矩形 9">
            <a:extLst xmlns:a="http://schemas.openxmlformats.org/drawingml/2006/main">
              <a:ext uri="{FF2B5EF4-FFF2-40B4-BE49-F238E27FC236}">
                <a16:creationId xmlns:a16="http://schemas.microsoft.com/office/drawing/2014/main" id="{EB593289-FDB6-4EA7-B4E0-220E30E1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81150"/>
            <a:ext cx="952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25C972D-75A0-4A17-BD79-3A579982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716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Fast Path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E2E8BEE-4831-40C3-9971-3FDDD2CC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05025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LOCAL / DETERMINISTIC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1733397-591A-49C4-A4F8-AC419E7E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62200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Playwright + DOM + accessibility. No LLM. No MCP. No browser coordinates.</a:t>
            </a:r>
          </a:p>
        </p:txBody>
      </p:sp>
      <p:sp>
        <p:nvSpPr>
          <p:cNvPr id="14" name="圓角矩形 13">
            <a:extLst xmlns:a="http://schemas.openxmlformats.org/drawingml/2006/main">
              <a:ext uri="{FF2B5EF4-FFF2-40B4-BE49-F238E27FC236}">
                <a16:creationId xmlns:a16="http://schemas.microsoft.com/office/drawing/2014/main" id="{32043521-7FA3-466F-A80E-0C16EAA0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99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圓角矩形 14">
            <a:extLst xmlns:a="http://schemas.openxmlformats.org/drawingml/2006/main">
              <a:ext uri="{FF2B5EF4-FFF2-40B4-BE49-F238E27FC236}">
                <a16:creationId xmlns:a16="http://schemas.microsoft.com/office/drawing/2014/main" id="{6D4528D3-76DC-4048-85CE-DD18D0D2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9900"/>
            <a:ext cx="952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7BFF"/>
          </a:solidFill>
          <a:ln xmlns:a="http://schemas.openxmlformats.org/drawingml/2006/main" w="0">
            <a:solidFill>
              <a:srgbClr val="8E7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92CCD6D-1E0F-4452-B401-B1DC28C1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04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Slow Path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F621CDF-B3DE-4623-8BB7-B863F8D6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33775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E7BFF"/>
                </a:solidFill>
                <a:latin typeface="Aharoni"/>
                <a:ea typeface="Aharoni"/>
                <a:cs typeface="Aharoni"/>
              </a:rPr>
              <a:t>OPTIONAL / BOUNDED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139C126-6DF6-47DB-BD8E-D718CA2B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Strict structured plan, redacted request, 30-second timeout, full schema and policy checks.</a:t>
            </a:r>
          </a:p>
        </p:txBody>
      </p:sp>
      <p:sp>
        <p:nvSpPr>
          <p:cNvPr id="19" name="圓角矩形 18">
            <a:extLst xmlns:a="http://schemas.openxmlformats.org/drawingml/2006/main">
              <a:ext uri="{FF2B5EF4-FFF2-40B4-BE49-F238E27FC236}">
                <a16:creationId xmlns:a16="http://schemas.microsoft.com/office/drawing/2014/main" id="{54719C48-CA82-4178-8D5C-BDF195F9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386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圓角矩形 19">
            <a:extLst xmlns:a="http://schemas.openxmlformats.org/drawingml/2006/main">
              <a:ext uri="{FF2B5EF4-FFF2-40B4-BE49-F238E27FC236}">
                <a16:creationId xmlns:a16="http://schemas.microsoft.com/office/drawing/2014/main" id="{FAC4412F-40A4-49F0-AEDB-AC8C676B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38650"/>
            <a:ext cx="952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9E20"/>
          </a:solidFill>
          <a:ln xmlns:a="http://schemas.openxmlformats.org/drawingml/2006/main" w="0">
            <a:solidFill>
              <a:srgbClr val="759E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891E7ED-C398-4AF5-9116-A81C8F39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Human authority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B0FA956-EE8F-4D71-BBE5-4A9481F1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62525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EXACT-ACTION APPROVAL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7E9FF0-277E-4CD7-8B57-06468CEE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9700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Required for high/unknown risk and every native desktop action; pre/post window and process proof.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FE3C9D0-BFDE-4639-BC1D-EBE7C6B4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repository architecture, routing profiles, OpenAI planner, and global-control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238906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4F401A1-21D2-4A27-9E24-F1FA5767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SKILL MEMORY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E23468F-3995-4573-81D5-1D32CDDC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One run teaches. Independent proof earns Fast Path.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5F85E38-00F4-47AD-83D8-8CA2FCC0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6B60556-BC43-4BEC-BE29-59A45348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Slow Path builds the vendor candidate live. Promotion happens only after the remaining proof gates pass.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AD54BA2-4648-48A4-916D-71D65A75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橢圓 5">
            <a:extLst xmlns:a="http://schemas.openxmlformats.org/drawingml/2006/main">
              <a:ext uri="{FF2B5EF4-FFF2-40B4-BE49-F238E27FC236}">
                <a16:creationId xmlns:a16="http://schemas.microsoft.com/office/drawing/2014/main" id="{5ED7A31A-3ED9-4F18-B6F2-98E60CC8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5E66300-D0FB-483B-BD21-07B3EB9F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67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285E744-90ED-4838-B013-B7BEBC8F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Verified run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B56F692-76C4-41C4-9911-058DAB27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Task succeeds with declared postcondition evidence.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54C4F94-E468-4D9C-88C4-53C4AB97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RUN</a:t>
            </a:r>
          </a:p>
        </p:txBody>
      </p:sp>
      <p:sp>
        <p:nvSpPr>
          <p:cNvPr id="11" name="橢圓 10">
            <a:extLst xmlns:a="http://schemas.openxmlformats.org/drawingml/2006/main">
              <a:ext uri="{FF2B5EF4-FFF2-40B4-BE49-F238E27FC236}">
                <a16:creationId xmlns:a16="http://schemas.microsoft.com/office/drawing/2014/main" id="{A7E0E74D-3121-439A-A78B-7188039F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81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80C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F2FA102-DE46-4FA3-B09B-4036FBE1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5144719-5A1B-4E3E-8E44-B62544EC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385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Independent repetition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5378A78-9BE4-4E7F-82B2-B8ABC925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07670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Three distinct verified task IDs are required.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510DF8B-E6CD-42D6-BBEB-41FF801F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76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GATE</a:t>
            </a:r>
          </a:p>
        </p:txBody>
      </p:sp>
      <p:sp>
        <p:nvSpPr>
          <p:cNvPr id="16" name="橢圓 15">
            <a:extLst xmlns:a="http://schemas.openxmlformats.org/drawingml/2006/main">
              <a:ext uri="{FF2B5EF4-FFF2-40B4-BE49-F238E27FC236}">
                <a16:creationId xmlns:a16="http://schemas.microsoft.com/office/drawing/2014/main" id="{AB669F60-A6E8-4BB1-9F6B-88E58A22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81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7B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5AFDF61-32CB-4D9E-A059-04AEF2AC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67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D97AF50-2800-4461-B860-0E0AE020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385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Unseen-UI holdout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373C6A4-8C06-478C-84B2-C709926A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Offline test must use a new UI fingerprint.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37B2C85-433D-42A9-8E67-423298EF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E7BFF"/>
                </a:solidFill>
                <a:latin typeface="Aharoni"/>
                <a:ea typeface="Aharoni"/>
                <a:cs typeface="Aharoni"/>
              </a:rPr>
              <a:t>GATE</a:t>
            </a:r>
          </a:p>
        </p:txBody>
      </p:sp>
      <p:sp>
        <p:nvSpPr>
          <p:cNvPr id="21" name="橢圓 20">
            <a:extLst xmlns:a="http://schemas.openxmlformats.org/drawingml/2006/main">
              <a:ext uri="{FF2B5EF4-FFF2-40B4-BE49-F238E27FC236}">
                <a16:creationId xmlns:a16="http://schemas.microsoft.com/office/drawing/2014/main" id="{ACE70217-E856-4167-9190-7E4943B1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981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9E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E8AB066-C0CD-4D6A-9883-43D021B2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67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04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85E9671-0666-4E0A-B692-26D737DB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385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Promoted skill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CB70D3E-9E8B-4F65-BF4D-272853FA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7670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Only redacted/hash provenance enters memory.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6515EA5-85E3-4EEB-B2F2-025931B5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476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FAST PATH ELIGIBLE</a:t>
            </a:r>
          </a:p>
        </p:txBody>
      </p:sp>
      <p:sp>
        <p:nvSpPr>
          <p:cNvPr id="26" name="圓角矩形 25">
            <a:extLst xmlns:a="http://schemas.openxmlformats.org/drawingml/2006/main">
              <a:ext uri="{FF2B5EF4-FFF2-40B4-BE49-F238E27FC236}">
                <a16:creationId xmlns:a16="http://schemas.microsoft.com/office/drawing/2014/main" id="{0145634C-B133-47E0-B889-3095E2E0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7442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8DF"/>
          </a:solidFill>
          <a:ln xmlns:a="http://schemas.openxmlformats.org/drawingml/2006/main" w="9525">
            <a:solidFill>
              <a:srgbClr val="D7E7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83848F4-06FF-4216-9D90-2F908614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21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619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4E6E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E6E16"/>
                </a:solidFill>
                <a:latin typeface="Aharoni"/>
                <a:ea typeface="Aharoni"/>
                <a:cs typeface="Aharoni"/>
              </a:rPr>
              <a:t>Promotion stays blocked until every evidence gate passes—and network synchronization is completed before runtime, never during the Fast Path.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179E16B-D9F2-44BC-AD84-B71A59D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learning gate, skill store, shared-skill eligibility, and selector-memory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029844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6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E9C49E6-238F-48B0-8DBA-A70ACD5D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42C136C-C034-48F2-81D8-BD848ADC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LIVE DEMO PROOF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EE0D2D0-4D13-4DD9-9A72-45F2C460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5429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Codex plans.</a:t>
            </a:r>
          </a:p>
          <a:p xmlns:a="http://schemas.openxmlformats.org/drawingml/2006/main">
            <a:pPr algn="l">
              <a:buNone/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LHIC proves.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F9791EA-D854-492E-A6BB-29370CF3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238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BECC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BECCDE"/>
                </a:solidFill>
                <a:latin typeface="Aharoni"/>
                <a:ea typeface="Aharoni"/>
                <a:cs typeface="Aharoni"/>
              </a:rPr>
              <a:t>Slow Path creates the vendor candidate live. Two more verified runs and an unseen-UI holdout are real but compressed; only then does LHIC promote and replay it with 0 LLM / 0 MCP.</a:t>
            </a:r>
          </a:p>
        </p:txBody>
      </p:sp>
      <p:sp>
        <p:nvSpPr>
          <p:cNvPr id="5" name="圓角矩形 4">
            <a:extLst xmlns:a="http://schemas.openxmlformats.org/drawingml/2006/main">
              <a:ext uri="{FF2B5EF4-FFF2-40B4-BE49-F238E27FC236}">
                <a16:creationId xmlns:a16="http://schemas.microsoft.com/office/drawing/2014/main" id="{D0E25745-F9E2-4E9C-B89D-15F88F2F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3716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D3150"/>
          </a:solidFill>
          <a:ln xmlns:a="http://schemas.openxmlformats.org/drawingml/2006/main" w="9525">
            <a:solidFill>
              <a:srgbClr val="4F63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A3C6DAD-3FF1-4279-B647-5C060C0F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B7C6D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7C6D8"/>
                </a:solidFill>
                <a:latin typeface="Aharoni"/>
                <a:ea typeface="Aharoni"/>
                <a:cs typeface="Aharoni"/>
              </a:rPr>
              <a:t>OPENAI CODEX BUILD</a:t>
            </a:r>
          </a:p>
        </p:txBody>
      </p:sp>
      <p:sp>
        <p:nvSpPr>
          <p:cNvPr id="7" name="圓角矩形 6">
            <a:extLst xmlns:a="http://schemas.openxmlformats.org/drawingml/2006/main">
              <a:ext uri="{FF2B5EF4-FFF2-40B4-BE49-F238E27FC236}">
                <a16:creationId xmlns:a16="http://schemas.microsoft.com/office/drawing/2014/main" id="{C9E81147-B7BF-4E44-A394-9AC736F6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43500"/>
            <a:ext cx="2324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0F8DF"/>
          </a:solidFill>
          <a:ln xmlns:a="http://schemas.openxmlformats.org/drawingml/2006/main" w="0">
            <a:solidFill>
              <a:srgbClr val="F0F8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1439330-847F-4A7E-BA75-9D56B2E4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01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THREE PROOFS ON SCREEN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6FD122-AC85-42B6-B1DB-683EE9E7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6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ACTUAL EXECUTION</a:t>
            </a:r>
          </a:p>
        </p:txBody>
      </p:sp>
      <p:sp>
        <p:nvSpPr>
          <p:cNvPr id="10" name="圓角矩形 9">
            <a:extLst xmlns:a="http://schemas.openxmlformats.org/drawingml/2006/main">
              <a:ext uri="{FF2B5EF4-FFF2-40B4-BE49-F238E27FC236}">
                <a16:creationId xmlns:a16="http://schemas.microsoft.com/office/drawing/2014/main" id="{B53E6978-E094-4DD2-91A0-E3885D94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33500"/>
            <a:ext cx="4838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340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0361440-C9BA-447D-A36E-02E59074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71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2A4078D-D80C-488E-9E66-3CE2EAF1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5430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Slow Path builds candidate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618B6E7-D1E3-499D-BFB6-BA039EA8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240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9CD"/>
                </a:solidFill>
                <a:latin typeface="Aharoni"/>
                <a:ea typeface="Aharoni"/>
                <a:cs typeface="Aharoni"/>
              </a:rPr>
              <a:t>First verified run is created live through Codex MCP.</a:t>
            </a:r>
          </a:p>
        </p:txBody>
      </p:sp>
      <p:sp>
        <p:nvSpPr>
          <p:cNvPr id="14" name="圓角矩形 13">
            <a:extLst xmlns:a="http://schemas.openxmlformats.org/drawingml/2006/main">
              <a:ext uri="{FF2B5EF4-FFF2-40B4-BE49-F238E27FC236}">
                <a16:creationId xmlns:a16="http://schemas.microsoft.com/office/drawing/2014/main" id="{B10A04B4-2606-44ED-B388-6F7C775E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4838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340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3805F92-28FB-49B1-A830-568F6B33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0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62935A8-99BB-4FCA-B4EB-ADFB1A1B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718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Evidence gates → Fast Path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5469259-68F3-4813-9099-1FA31ABF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528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9CD"/>
                </a:solidFill>
                <a:latin typeface="Aharoni"/>
                <a:ea typeface="Aharoni"/>
                <a:cs typeface="Aharoni"/>
              </a:rPr>
              <a:t>Runs 2–3 + unseen-UI holdout, then local promotion.</a:t>
            </a:r>
          </a:p>
        </p:txBody>
      </p:sp>
      <p:sp>
        <p:nvSpPr>
          <p:cNvPr id="18" name="圓角矩形 17">
            <a:extLst xmlns:a="http://schemas.openxmlformats.org/drawingml/2006/main">
              <a:ext uri="{FF2B5EF4-FFF2-40B4-BE49-F238E27FC236}">
                <a16:creationId xmlns:a16="http://schemas.microsoft.com/office/drawing/2014/main" id="{52BE5E79-7116-49CC-9B0E-5873E949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4838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340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710B0CE-F0B9-4351-9FA1-0D5B96BA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291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337FE32-8FF4-4717-ABD2-42CE06A0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005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Native action loop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68958A0-954E-4095-8FF0-C6CA1532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815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9CD"/>
                </a:solidFill>
                <a:latin typeface="Aharoni"/>
                <a:ea typeface="Aharoni"/>
                <a:cs typeface="Aharoni"/>
              </a:rPr>
              <a:t>Challenge2026 desktop replay at a local 20 Hz loop.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D4071FC-2FD8-486D-9D96-96CF63DD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F94A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F94AD"/>
                </a:solidFill>
                <a:latin typeface="Aharoni"/>
                <a:ea typeface="Aharoni"/>
                <a:cs typeface="Aharoni"/>
              </a:rPr>
              <a:t>OpenAI Build Week artifact  •  current working tree  •  20 July 2026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1397112-5658-4CB4-89F7-B97824A9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7F94A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F94AD"/>
                </a:solidFill>
                <a:latin typeface="Aharoni"/>
                <a:ea typeface="Aharoni"/>
                <a:cs typeface="Aharon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1025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2026-07-21T19:48:46.9310000Z</dcterms:created>
  <dcterms:modified xsi:type="dcterms:W3CDTF">2026-07-21T19:48:46.9310000Z</dcterms:modified>
</coreProperties>
</file>