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aad2e16dc84af0" /><Relationship Type="http://schemas.openxmlformats.org/officeDocument/2006/relationships/extended-properties" Target="/docProps/app.xml" Id="Rdda16e74542a452a" /><Relationship Type="http://schemas.openxmlformats.org/officeDocument/2006/relationships/officeDocument" Target="/ppt/presentation.xml" Id="R8b5526f2be5447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16ef1476c5425f"/>
  </p:sldMasterIdLst>
  <p:notesMasterIdLst>
    <p:notesMasterId xmlns:r="http://schemas.openxmlformats.org/officeDocument/2006/relationships" r:id="Rc11aa032b4e5429b"/>
  </p:notesMasterIdLst>
  <p:sldIdLst>
    <p:sldId xmlns:r="http://schemas.openxmlformats.org/officeDocument/2006/relationships" id="256" r:id="R0966918953f34af5"/>
    <p:sldId xmlns:r="http://schemas.openxmlformats.org/officeDocument/2006/relationships" id="257" r:id="Rd7c9211b01e84ef4"/>
    <p:sldId xmlns:r="http://schemas.openxmlformats.org/officeDocument/2006/relationships" id="258" r:id="Ra41d19f5a07c43f4"/>
    <p:sldId xmlns:r="http://schemas.openxmlformats.org/officeDocument/2006/relationships" id="259" r:id="Refff0f9fe11d4d3d"/>
    <p:sldId xmlns:r="http://schemas.openxmlformats.org/officeDocument/2006/relationships" id="260" r:id="R2d9fc417154f4fba"/>
    <p:sldId xmlns:r="http://schemas.openxmlformats.org/officeDocument/2006/relationships" id="261" r:id="Re537fe408762413e"/>
    <p:sldId xmlns:r="http://schemas.openxmlformats.org/officeDocument/2006/relationships" id="262" r:id="R633535a3486f4a61"/>
    <p:sldId xmlns:r="http://schemas.openxmlformats.org/officeDocument/2006/relationships" id="263" r:id="Rf09857e576604d41"/>
    <p:sldId xmlns:r="http://schemas.openxmlformats.org/officeDocument/2006/relationships" id="264" r:id="R6a89e8eaefab4ae0"/>
    <p:sldId xmlns:r="http://schemas.openxmlformats.org/officeDocument/2006/relationships" id="265" r:id="Rfe4bf63c16754b7c"/>
    <p:sldId xmlns:r="http://schemas.openxmlformats.org/officeDocument/2006/relationships" id="266" r:id="R757ccb32cd304f0e"/>
    <p:sldId xmlns:r="http://schemas.openxmlformats.org/officeDocument/2006/relationships" id="267" r:id="R7017230c6eb24b20"/>
    <p:sldId xmlns:r="http://schemas.openxmlformats.org/officeDocument/2006/relationships" id="268" r:id="Ra9ea9de3bc6544eb"/>
    <p:sldId xmlns:r="http://schemas.openxmlformats.org/officeDocument/2006/relationships" id="269" r:id="R9d73a58f83e947bd"/>
    <p:sldId xmlns:r="http://schemas.openxmlformats.org/officeDocument/2006/relationships" id="270" r:id="R99c4656563d941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a53329e5ac4ca3" /><Relationship Type="http://schemas.openxmlformats.org/officeDocument/2006/relationships/slideMaster" Target="/ppt/slideMasters/slideMaster1.xml" Id="Rae16ef1476c5425f" /><Relationship Type="http://schemas.openxmlformats.org/officeDocument/2006/relationships/notesMaster" Target="/ppt/notesMasters/notesMaster1.xml" Id="Rc11aa032b4e5429b" /><Relationship Type="http://schemas.openxmlformats.org/officeDocument/2006/relationships/presProps" Target="/ppt/presProps.xml" Id="R27e51f12ac0b4002" /><Relationship Type="http://schemas.openxmlformats.org/officeDocument/2006/relationships/viewProps" Target="/ppt/viewProps.xml" Id="Ra352bf6ab1464667" /><Relationship Type="http://schemas.openxmlformats.org/officeDocument/2006/relationships/tableStyles" Target="/ppt/tableStyles.xml" Id="R499272ed00224133" /><Relationship Type="http://schemas.openxmlformats.org/officeDocument/2006/relationships/slide" Target="/ppt/slides/slide1.xml" Id="R0966918953f34af5" /><Relationship Type="http://schemas.openxmlformats.org/officeDocument/2006/relationships/slide" Target="/ppt/slides/slide2.xml" Id="Rd7c9211b01e84ef4" /><Relationship Type="http://schemas.openxmlformats.org/officeDocument/2006/relationships/slide" Target="/ppt/slides/slide3.xml" Id="Ra41d19f5a07c43f4" /><Relationship Type="http://schemas.openxmlformats.org/officeDocument/2006/relationships/slide" Target="/ppt/slides/slide4.xml" Id="Refff0f9fe11d4d3d" /><Relationship Type="http://schemas.openxmlformats.org/officeDocument/2006/relationships/slide" Target="/ppt/slides/slide5.xml" Id="R2d9fc417154f4fba" /><Relationship Type="http://schemas.openxmlformats.org/officeDocument/2006/relationships/slide" Target="/ppt/slides/slide6.xml" Id="Re537fe408762413e" /><Relationship Type="http://schemas.openxmlformats.org/officeDocument/2006/relationships/slide" Target="/ppt/slides/slide7.xml" Id="R633535a3486f4a61" /><Relationship Type="http://schemas.openxmlformats.org/officeDocument/2006/relationships/slide" Target="/ppt/slides/slide8.xml" Id="Rf09857e576604d41" /><Relationship Type="http://schemas.openxmlformats.org/officeDocument/2006/relationships/slide" Target="/ppt/slides/slide9.xml" Id="R6a89e8eaefab4ae0" /><Relationship Type="http://schemas.openxmlformats.org/officeDocument/2006/relationships/slide" Target="/ppt/slides/slide10.xml" Id="Rfe4bf63c16754b7c" /><Relationship Type="http://schemas.openxmlformats.org/officeDocument/2006/relationships/slide" Target="/ppt/slides/slide11.xml" Id="R757ccb32cd304f0e" /><Relationship Type="http://schemas.openxmlformats.org/officeDocument/2006/relationships/slide" Target="/ppt/slides/slide12.xml" Id="R7017230c6eb24b20" /><Relationship Type="http://schemas.openxmlformats.org/officeDocument/2006/relationships/slide" Target="/ppt/slides/slide13.xml" Id="Ra9ea9de3bc6544eb" /><Relationship Type="http://schemas.openxmlformats.org/officeDocument/2006/relationships/slide" Target="/ppt/slides/slide14.xml" Id="R9d73a58f83e947bd" /><Relationship Type="http://schemas.openxmlformats.org/officeDocument/2006/relationships/slide" Target="/ppt/slides/slide15.xml" Id="R99c4656563d941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c9c5ba2e744d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de93d9469741c3" /><Relationship Type="http://schemas.openxmlformats.org/officeDocument/2006/relationships/notesMaster" Target="/ppt/notesMasters/notesMaster1.xml" Id="R171d56e839b642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2e3d29a4dd4ed6" /><Relationship Type="http://schemas.openxmlformats.org/officeDocument/2006/relationships/notesMaster" Target="/ppt/notesMasters/notesMaster1.xml" Id="R9132baf5838745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00d3b363dd421b" /><Relationship Type="http://schemas.openxmlformats.org/officeDocument/2006/relationships/notesMaster" Target="/ppt/notesMasters/notesMaster1.xml" Id="Re14c6a5f60814d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757a90fddf404e" /><Relationship Type="http://schemas.openxmlformats.org/officeDocument/2006/relationships/notesMaster" Target="/ppt/notesMasters/notesMaster1.xml" Id="Rce7a965c6c384c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9dc20193dd474a" /><Relationship Type="http://schemas.openxmlformats.org/officeDocument/2006/relationships/notesMaster" Target="/ppt/notesMasters/notesMaster1.xml" Id="R4c2f7097066b4c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e62003f6d742aa" /><Relationship Type="http://schemas.openxmlformats.org/officeDocument/2006/relationships/notesMaster" Target="/ppt/notesMasters/notesMaster1.xml" Id="R02f365522be74d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08035a340c4c6d" /><Relationship Type="http://schemas.openxmlformats.org/officeDocument/2006/relationships/notesMaster" Target="/ppt/notesMasters/notesMaster1.xml" Id="R99a80940de3c4b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4c6239657c42f8" /><Relationship Type="http://schemas.openxmlformats.org/officeDocument/2006/relationships/notesMaster" Target="/ppt/notesMasters/notesMaster1.xml" Id="R51cc00077adc45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4d8c20c44e4d87" /><Relationship Type="http://schemas.openxmlformats.org/officeDocument/2006/relationships/notesMaster" Target="/ppt/notesMasters/notesMaster1.xml" Id="Re9e57ee1b16e4d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2097dc1d584a06" /><Relationship Type="http://schemas.openxmlformats.org/officeDocument/2006/relationships/notesMaster" Target="/ppt/notesMasters/notesMaster1.xml" Id="R689019be45a14b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23f4a0843641fb" /><Relationship Type="http://schemas.openxmlformats.org/officeDocument/2006/relationships/notesMaster" Target="/ppt/notesMasters/notesMaster1.xml" Id="Rfbbd04f743e94a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41ade3efa54e42" /><Relationship Type="http://schemas.openxmlformats.org/officeDocument/2006/relationships/notesMaster" Target="/ppt/notesMasters/notesMaster1.xml" Id="Rcdb93da6a9a144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59be04411d4f83" /><Relationship Type="http://schemas.openxmlformats.org/officeDocument/2006/relationships/notesMaster" Target="/ppt/notesMasters/notesMaster1.xml" Id="R2280aff99ffb44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1eb137694c4715" /><Relationship Type="http://schemas.openxmlformats.org/officeDocument/2006/relationships/notesMaster" Target="/ppt/notesMasters/notesMaster1.xml" Id="Ra0bb097e040f43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f6513ce88c4fc0" /><Relationship Type="http://schemas.openxmlformats.org/officeDocument/2006/relationships/notesMaster" Target="/ppt/notesMasters/notesMaster1.xml" Id="Ra004e9b35e3f41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0:00–0:10 — Hi, I’m presenting LHIC: Local Human Intent Controller. It turns intent into typed local actions, explicit proof, and redacted traces.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0:10–0:17 — This is controlled local evidence, not a market or SOTA claim. I’ll show what the current checkout can prove repeatably.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0:17–0:32 — Core thesis: intelligence can propose, but LHIC decides what happened. Success is not a click; it is a declared postcondition backed by verifier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0:32–0:47 — Fast Path handles routine browser work deterministically through Playwright, DOM, accessibility, and keyboard. No model, no MCP, and no raw browser coordinates.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0:47–1:02 — Slow Path is bounded model help. Requests are redacted, proposals must be strict JSON, and local checks decide policy, approval, execution, and success.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1:02–1:16 — High-risk and native desktop actions require exact human approval. The approval is hashed, signed, time-limited, context-checked, and consumed once.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1:16–1:29 — The architecture is a typed loop: sense, plan, act, prove, trace. Ambiguity fails closed, and learning only starts after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1:29–1:42 — Four engineering choices define LHIC: verifier-first execution, exact human authority, semantic resilience, and evidence-gated learning, all supported by hardened traces.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1:42–1:56 — The local evidence suite passed: 341 tests, 300 executions, 774 millisecond P95 latency, and zero model or MCP calls on Fast Path tasks.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1:56–2:08 — The selector ablation is a regression signal: semantic targeting survived at 100%, while the intentionally limited static route reached 20%.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2:08–2:22 — Safety lives in the execution layer. Network guards, exact authority, mandatory verifiers, and redacted traces keep optional models from expanding power.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2:22–2:34 — Skill memory is earned. LHIC requires verified runs, three independent task IDs, an unseen-UI holdout, and redacted provenance before promotion.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2:34–2:45 — The runtime has four operator surfaces: desktop, CLI, MCP server, and shared skills. It is broader than a single scripted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2:45–2:55 — Maturity is transparent: Fast Path and approvals are implemented; distribution evidence, external benchmarks, and screenshot/custom verifiers are still gated.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2:55–3:00 — The position to own is local execution with proof. Next: external evaluation, verifier challenge sets, and a harmonized signed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68cf6104944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39be81eaba4c85" /><Relationship Type="http://schemas.openxmlformats.org/officeDocument/2006/relationships/slideLayout" Target="/ppt/slideLayouts/slideLayout1.xml" Id="R5e825b4866b74c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825b4866b74c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f279dbcfa4fbd" /><Relationship Type="http://schemas.openxmlformats.org/officeDocument/2006/relationships/image" Target="/ppt/media/image.png" Id="R8e3f2f1e39714a35" /><Relationship Type="http://schemas.openxmlformats.org/officeDocument/2006/relationships/notesSlide" Target="/ppt/notesSlides/notesSlide1.xml" Id="R6b5430d3a3dd48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06faf4f1e42bd" /><Relationship Type="http://schemas.openxmlformats.org/officeDocument/2006/relationships/image" Target="/ppt/media/image2.png" Id="Rbde7322f7ecb4227" /><Relationship Type="http://schemas.openxmlformats.org/officeDocument/2006/relationships/notesSlide" Target="/ppt/notesSlides/notesSlide2.xml" Id="Rafd68571df5543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3921823cd407e" /><Relationship Type="http://schemas.openxmlformats.org/officeDocument/2006/relationships/notesSlide" Target="/ppt/notesSlides/notesSlide3.xml" Id="Rf785255b57aa44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49f9e31114ede" /><Relationship Type="http://schemas.openxmlformats.org/officeDocument/2006/relationships/notesSlide" Target="/ppt/notesSlides/notesSlide4.xml" Id="R7de654c6236d40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8dd489fff4e7a" /><Relationship Type="http://schemas.openxmlformats.org/officeDocument/2006/relationships/notesSlide" Target="/ppt/notesSlides/notesSlide5.xml" Id="R33e117fd65a141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3960e9e114077" /><Relationship Type="http://schemas.openxmlformats.org/officeDocument/2006/relationships/notesSlide" Target="/ppt/notesSlides/notesSlide6.xml" Id="R17134be5818448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ed084cfaa493b" /><Relationship Type="http://schemas.openxmlformats.org/officeDocument/2006/relationships/notesSlide" Target="/ppt/notesSlides/notesSlide7.xml" Id="R01a102a382f843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9900457b24cde" /><Relationship Type="http://schemas.openxmlformats.org/officeDocument/2006/relationships/notesSlide" Target="/ppt/notesSlides/notesSlide8.xml" Id="Raed489e8581e43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435d9281e4c68" /><Relationship Type="http://schemas.openxmlformats.org/officeDocument/2006/relationships/notesSlide" Target="/ppt/notesSlides/notesSlide9.xml" Id="R271b647049e045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9e7e305a444af" /><Relationship Type="http://schemas.openxmlformats.org/officeDocument/2006/relationships/chart" Target="/ppt/slides/charts/chart1.xml" Id="Rfc3acc5d320446ff" /><Relationship Type="http://schemas.openxmlformats.org/officeDocument/2006/relationships/notesSlide" Target="/ppt/notesSlides/notesSlide10.xml" Id="R78340a9bdaca47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dd978b8ae4449" /><Relationship Type="http://schemas.openxmlformats.org/officeDocument/2006/relationships/notesSlide" Target="/ppt/notesSlides/notesSlide11.xml" Id="R689a9559ab6948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846a899a541e9" /><Relationship Type="http://schemas.openxmlformats.org/officeDocument/2006/relationships/notesSlide" Target="/ppt/notesSlides/notesSlide12.xml" Id="R4450a4d1ff784b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b839a046d4000" /><Relationship Type="http://schemas.openxmlformats.org/officeDocument/2006/relationships/image" Target="/ppt/media/image2.png" Id="Ra5510172abed4c99" /><Relationship Type="http://schemas.openxmlformats.org/officeDocument/2006/relationships/notesSlide" Target="/ppt/notesSlides/notesSlide13.xml" Id="R48e26320fb4240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ebd7e57bc4ebc" /><Relationship Type="http://schemas.openxmlformats.org/officeDocument/2006/relationships/notesSlide" Target="/ppt/notesSlides/notesSlide14.xml" Id="Rceea25bb39d946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0d8c0add143ac" /><Relationship Type="http://schemas.openxmlformats.org/officeDocument/2006/relationships/notesSlide" Target="/ppt/notesSlides/notesSlide15.xml" Id="Rf176a0cb011e47d3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Controlled task success</c:v>
          </c:tx>
          <c:spPr>
            <a:solidFill xmlns:a="http://schemas.openxmlformats.org/drawingml/2006/main">
              <a:srgbClr val="FF9300"/>
            </a:solidFill>
            <a:ln xmlns:a="http://schemas.openxmlformats.org/drawingml/2006/main">
              <a:noFill/>
            </a:ln>
          </c:spPr>
          <c:dPt>
            <c:idx val="1"/>
            <c:spPr>
              <a:solidFill xmlns:a="http://schemas.openxmlformats.org/drawingml/2006/main">
                <a:srgbClr val="FF000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30" b="1" i="0" u="none">
                    <a:solidFill>
                      <a:schemeClr val="lt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Semantic target</c:v>
              </c:pt>
              <c:pt idx="1">
                <c:v>Static selector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20</c:v>
              </c:pt>
            </c:numLit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  <c:majorUnit val="20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gradFill xmlns:a="http://schemas.openxmlformats.org/drawingml/2006/main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xmlns:a="http://schemas.openxmlformats.org/drawingml/2006/main" w="9525" cmpd="sng">
      <a:solidFill>
        <a:schemeClr val="dk1">
          <a:lumMod val="15000"/>
          <a:lumOff val="85000"/>
        </a:schemeClr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1008FFD-9F24-40AD-BC0C-CF706D5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FD39426-A49B-48EF-9B9D-43A8D7A1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7BFF"/>
          </a:solidFill>
          <a:ln xmlns:a="http://schemas.openxmlformats.org/drawingml/2006/main" w="0">
            <a:solidFill>
              <a:srgbClr val="8E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08F129D-6CDD-4B23-ADE3-1DCE4DE7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LHIC  /  PROJECT HIGHLIGHTS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6BDCD02-B39F-43BE-8D79-E2867085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44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Local execution.</a:t>
            </a:r>
          </a:p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Verifiable outcomes.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3546CE4-EC70-4D38-B68B-6ECDE3B8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BECCD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BECCDE"/>
                </a:solidFill>
                <a:latin typeface="Aharoni"/>
                <a:ea typeface="Aharoni"/>
                <a:cs typeface="Aharoni"/>
              </a:rPr>
              <a:t>Built with OpenAI Codex: Local Human Intent Controller turns intent into typed actions, local automation, explicit proof, and redacted traces.</a:t>
            </a:r>
          </a:p>
        </p:txBody>
      </p:sp>
      <p:sp>
        <p:nvSpPr>
          <p:cNvPr id="6" name="圓角矩形 5">
            <a:extLst xmlns:a="http://schemas.openxmlformats.org/drawingml/2006/main">
              <a:ext uri="{FF2B5EF4-FFF2-40B4-BE49-F238E27FC236}">
                <a16:creationId xmlns:a16="http://schemas.microsoft.com/office/drawing/2014/main" id="{13B6A00C-C5AB-4031-A73C-B8827CA8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828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0F8DF"/>
          </a:solidFill>
          <a:ln xmlns:a="http://schemas.openxmlformats.org/drawingml/2006/main" w="0">
            <a:solidFill>
              <a:srgbClr val="F0F8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19B86F3-0EAE-4E75-AF0A-7735EB0C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CODEX-BUILT FAST PATH</a:t>
            </a:r>
          </a:p>
        </p:txBody>
      </p:sp>
      <p:sp>
        <p:nvSpPr>
          <p:cNvPr id="8" name="圓角矩形 7">
            <a:extLst xmlns:a="http://schemas.openxmlformats.org/drawingml/2006/main">
              <a:ext uri="{FF2B5EF4-FFF2-40B4-BE49-F238E27FC236}">
                <a16:creationId xmlns:a16="http://schemas.microsoft.com/office/drawing/2014/main" id="{15EA814A-0AA9-4FCA-9F6B-C67FEC22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48250"/>
            <a:ext cx="14668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4F7F9"/>
          </a:solidFill>
          <a:ln xmlns:a="http://schemas.openxmlformats.org/drawingml/2006/main" w="0">
            <a:solidFill>
              <a:srgbClr val="E4F7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CFFAB76-54DB-4704-96DC-F4028D0C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149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68F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8F9A"/>
                </a:solidFill>
                <a:latin typeface="Aharoni"/>
                <a:ea typeface="Aharoni"/>
                <a:cs typeface="Aharoni"/>
              </a:rPr>
              <a:t>VERIFIER-FIRST</a:t>
            </a:r>
          </a:p>
        </p:txBody>
      </p:sp>
      <p:sp>
        <p:nvSpPr>
          <p:cNvPr id="10" name="圓角矩形 9">
            <a:extLst xmlns:a="http://schemas.openxmlformats.org/drawingml/2006/main">
              <a:ext uri="{FF2B5EF4-FFF2-40B4-BE49-F238E27FC236}">
                <a16:creationId xmlns:a16="http://schemas.microsoft.com/office/drawing/2014/main" id="{EE967B4F-8338-4B7D-8F50-39B399AE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48250"/>
            <a:ext cx="1562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D3150"/>
          </a:solidFill>
          <a:ln xmlns:a="http://schemas.openxmlformats.org/drawingml/2006/main" w="9525">
            <a:solidFill>
              <a:srgbClr val="4F63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A5DD948-3E47-48C8-8357-9040B9D6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149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HUMAN AUTHORITY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6A638E6-0EE2-4B6F-84AB-2D24DFB4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8FA3B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A3BC"/>
                </a:solidFill>
                <a:latin typeface="Aharoni"/>
                <a:ea typeface="Aharoni"/>
                <a:cs typeface="Aharoni"/>
              </a:rPr>
              <a:t>OPENAI BUILD WEEK  •  20 July 2026</a:t>
            </a:r>
          </a:p>
        </p:txBody>
      </p:sp>
      <p:sp>
        <p:nvSpPr>
          <p:cNvPr id="13" name="圓角矩形 12">
            <a:extLst xmlns:a="http://schemas.openxmlformats.org/drawingml/2006/main">
              <a:ext uri="{FF2B5EF4-FFF2-40B4-BE49-F238E27FC236}">
                <a16:creationId xmlns:a16="http://schemas.microsoft.com/office/drawing/2014/main" id="{9B78E762-7688-4D12-911F-0BB25816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04850"/>
            <a:ext cx="5600700" cy="5200650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0C203A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圓角矩形 14">
            <a:extLst xmlns:a="http://schemas.openxmlformats.org/drawingml/2006/main">
              <a:ext uri="{FF2B5EF4-FFF2-40B4-BE49-F238E27FC236}">
                <a16:creationId xmlns:a16="http://schemas.microsoft.com/office/drawing/2014/main" id="{D17F4056-DCAF-4332-97AA-FA52EC2B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933450"/>
            <a:ext cx="19621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657D3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8AFE140-B4D6-4C8F-88F9-47F32D6E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0001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BUILT WITH OPENAI CODEX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95BA9FB-800D-4B43-8039-15EE10BF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8FA3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A3BC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pic>
        <p:nvPicPr>
          <p:cNvPr id="36" name="投影片縮放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f2f1e39714a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7559" y="2187794"/>
            <a:ext cx="5166418" cy="2906110"/>
          </a:xfrm>
          <a:prstGeom xmlns:a="http://schemas.openxmlformats.org/drawingml/2006/main" prst="rect">
            <a:avLst/>
          </a:prstGeom>
          <a:ln xmlns:a="http://schemas.openxmlformats.org/drawingml/2006/main" w="3175">
            <a:solidFill>
              <a:prstClr val="ltGray"/>
            </a:solidFill>
          </a:ln>
        </p:spPr>
      </p:pic>
    </p:spTree>
    <p:extLst>
      <p:ext uri="{BB962C8B-B14F-4D97-AF65-F5344CB8AC3E}">
        <p14:creationId xmlns:p14="http://schemas.microsoft.com/office/powerpoint/2010/main" val="504373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A1DB081-76FA-E8D4-84A2-A4969EE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E588A11-93CE-5617-FE97-DF38CDB6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7BFF"/>
          </a:solidFill>
          <a:ln xmlns:a="http://schemas.openxmlformats.org/drawingml/2006/main" w="0">
            <a:solidFill>
              <a:srgbClr val="8E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圖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7322f7ecb4227"/>
          <a:stretch xmlns:a="http://schemas.openxmlformats.org/drawingml/2006/main"/>
        </p:blipFill>
        <p:spPr>
          <a:xfrm xmlns:a="http://schemas.openxmlformats.org/drawingml/2006/main">
            <a:off x="686204" y="471487"/>
            <a:ext cx="11075549" cy="6229997"/>
          </a:xfrm>
          <a:prstGeom xmlns:a="http://schemas.openxmlformats.org/drawingml/2006/main" prst="roundRect">
            <a:avLst>
              <a:gd name="adj" fmla="val 0"/>
            </a:avLst>
          </a:prstGeom>
        </p:spPr>
      </p:pic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A8B1883-F680-92FE-8642-A224F40E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8FA3B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FA3BC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10745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52108FD-9B64-4BE6-8724-5506C303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CORE THESIS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437FD5A-2300-43FC-A271-D8A01DD1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Intelligence can propose. LHIC decides what happened.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9C13EAD-7F53-42BB-A200-00B5FF77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1BF1E6-807E-4DA2-B29F-B432B38D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The execution boundary is the product.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850D2D9-CD95-4EC5-8E05-6A7E4136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Routine work stays local and deterministic. Ambiguous work may use a model, but every proposal is revalidated. High-risk or global work returns authority to the human.</a:t>
            </a:r>
          </a:p>
        </p:txBody>
      </p:sp>
      <p:sp>
        <p:nvSpPr>
          <p:cNvPr id="6" name="圓角矩形 5">
            <a:extLst xmlns:a="http://schemas.openxmlformats.org/drawingml/2006/main">
              <a:ext uri="{FF2B5EF4-FFF2-40B4-BE49-F238E27FC236}">
                <a16:creationId xmlns:a16="http://schemas.microsoft.com/office/drawing/2014/main" id="{43D4026F-C677-48E4-AC48-5D9EFE57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628"/>
          </a:solidFill>
          <a:ln xmlns:a="http://schemas.openxmlformats.org/drawingml/2006/main" w="0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9BE987-ED5C-4C79-AD9D-EB80C87A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SUCCESS ≠ “THE CLICK RAN”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14706EB-C046-4D11-8F66-4C4D685C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Success is a declared postcondition with verifier evidence and a redacted trace.</a:t>
            </a:r>
          </a:p>
        </p:txBody>
      </p:sp>
      <p:sp>
        <p:nvSpPr>
          <p:cNvPr id="9" name="圓角矩形 8">
            <a:extLst xmlns:a="http://schemas.openxmlformats.org/drawingml/2006/main">
              <a:ext uri="{FF2B5EF4-FFF2-40B4-BE49-F238E27FC236}">
                <a16:creationId xmlns:a16="http://schemas.microsoft.com/office/drawing/2014/main" id="{E0CAF698-94F0-4780-A76E-3723F5DB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圓角矩形 9">
            <a:extLst xmlns:a="http://schemas.openxmlformats.org/drawingml/2006/main">
              <a:ext uri="{FF2B5EF4-FFF2-40B4-BE49-F238E27FC236}">
                <a16:creationId xmlns:a16="http://schemas.microsoft.com/office/drawing/2014/main" id="{EB593289-FDB6-4EA7-B4E0-220E30E1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952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5C972D-75A0-4A17-BD79-3A579982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716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Fast Path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E2E8BEE-4831-40C3-9971-3FDDD2CC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05025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LOCAL / DETERMINISTIC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1733397-591A-49C4-A4F8-AC419E7E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6220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Playwright + DOM + accessibility. No LLM. No MCP. No browser coordinates.</a:t>
            </a:r>
          </a:p>
        </p:txBody>
      </p:sp>
      <p:sp>
        <p:nvSpPr>
          <p:cNvPr id="14" name="圓角矩形 13">
            <a:extLst xmlns:a="http://schemas.openxmlformats.org/drawingml/2006/main">
              <a:ext uri="{FF2B5EF4-FFF2-40B4-BE49-F238E27FC236}">
                <a16:creationId xmlns:a16="http://schemas.microsoft.com/office/drawing/2014/main" id="{32043521-7FA3-466F-A80E-0C16EAA0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圓角矩形 14">
            <a:extLst xmlns:a="http://schemas.openxmlformats.org/drawingml/2006/main">
              <a:ext uri="{FF2B5EF4-FFF2-40B4-BE49-F238E27FC236}">
                <a16:creationId xmlns:a16="http://schemas.microsoft.com/office/drawing/2014/main" id="{6D4528D3-76DC-4048-85CE-DD18D0D2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952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7BFF"/>
          </a:solidFill>
          <a:ln xmlns:a="http://schemas.openxmlformats.org/drawingml/2006/main" w="0">
            <a:solidFill>
              <a:srgbClr val="8E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92CCD6D-1E0F-4452-B401-B1DC28C1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04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Slow Path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F621CDF-B3DE-4623-8BB7-B863F8D6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33775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E7BFF"/>
                </a:solidFill>
                <a:latin typeface="Aharoni"/>
                <a:ea typeface="Aharoni"/>
                <a:cs typeface="Aharoni"/>
              </a:rPr>
              <a:t>OPTIONAL / BOUNDED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139C126-6DF6-47DB-BD8E-D718CA2B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Strict structured plan, redacted request, 30-second timeout, full schema and policy checks.</a:t>
            </a:r>
          </a:p>
        </p:txBody>
      </p:sp>
      <p:sp>
        <p:nvSpPr>
          <p:cNvPr id="19" name="圓角矩形 18">
            <a:extLst xmlns:a="http://schemas.openxmlformats.org/drawingml/2006/main">
              <a:ext uri="{FF2B5EF4-FFF2-40B4-BE49-F238E27FC236}">
                <a16:creationId xmlns:a16="http://schemas.microsoft.com/office/drawing/2014/main" id="{54719C48-CA82-4178-8D5C-BDF195F9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38650"/>
            <a:ext cx="5219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圓角矩形 19">
            <a:extLst xmlns:a="http://schemas.openxmlformats.org/drawingml/2006/main">
              <a:ext uri="{FF2B5EF4-FFF2-40B4-BE49-F238E27FC236}">
                <a16:creationId xmlns:a16="http://schemas.microsoft.com/office/drawing/2014/main" id="{FAC4412F-40A4-49F0-AEDB-AC8C676B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38650"/>
            <a:ext cx="952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9E20"/>
          </a:solidFill>
          <a:ln xmlns:a="http://schemas.openxmlformats.org/drawingml/2006/main" w="0">
            <a:solidFill>
              <a:srgbClr val="759E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891E7ED-C398-4AF5-9116-A81C8F39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Human authority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B0FA956-EE8F-4D71-BBE5-4A9481F1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62525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EXACT-ACTION APPROVAL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7E9FF0-277E-4CD7-8B57-06468CEE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Required for high/unknown risk and every native desktop action; pre/post window and process proof.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FE3C9D0-BFDE-4639-BC1D-EBE7C6B4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repository architecture, routing profiles, OpenAI planner, and global-control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2389061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6004B3F-36D6-B72D-51E0-AA200FE3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FAST PATH WORKFLOW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23EFD69-8D51-7959-7760-D050AA1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Fast Path: deterministic browser workflow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71F4AC0-07A5-C847-9F2D-87D03DB1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575BDAF-B625-7881-09CB-D6925025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9" name="圓角矩形 8">
            <a:extLst xmlns:a="http://schemas.openxmlformats.org/drawingml/2006/main">
              <a:ext uri="{FF2B5EF4-FFF2-40B4-BE49-F238E27FC236}">
                <a16:creationId xmlns:a16="http://schemas.microsoft.com/office/drawing/2014/main" id="{25408E3D-8B62-02E5-EC9D-7AB11B6D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6776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圓角矩形 9">
            <a:extLst xmlns:a="http://schemas.openxmlformats.org/drawingml/2006/main">
              <a:ext uri="{FF2B5EF4-FFF2-40B4-BE49-F238E27FC236}">
                <a16:creationId xmlns:a16="http://schemas.microsoft.com/office/drawing/2014/main" id="{71BE82AB-0741-3419-43F0-5F23925D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52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E569552-A218-ADC5-B430-F4FAEDDC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Fast Path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FD96F6E-F897-99C3-6627-2460AF98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LOCAL / DETERMINISTIC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307EA7E-9B8B-E8DF-9AA6-93BC4343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Playwright + DOM/AX + keyboard. No LLM. No MCP. No browser coordinates.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0BAD4C6-BD2F-7636-5EE2-71F136E1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Semantic browser work stays local, deterministic, and evidence-backed.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8DDF56E-CE24-418C-9604-18405018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FULL WORKFLOW  /  NO MODEL OR MCP IN THE LOOP</a:t>
            </a:r>
          </a:p>
        </p:txBody>
      </p:sp>
      <p:sp>
        <p:nvSpPr>
          <p:cNvPr id="27" name="圓角矩形 26">
            <a:extLst xmlns:a="http://schemas.openxmlformats.org/drawingml/2006/main">
              <a:ext uri="{FF2B5EF4-FFF2-40B4-BE49-F238E27FC236}">
                <a16:creationId xmlns:a16="http://schemas.microsoft.com/office/drawing/2014/main" id="{F50332B8-549D-4338-95B6-8D14B5F8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273CBEB-9DF7-47A7-8333-E2948FF5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D75FFB8-0B46-4E3C-BA0E-D3B27B6F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INTENT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BF7B714-A348-4B35-BDBB-AE637AB8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Natural-language goal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0A375D3-9CFC-4DD2-A4EF-DF44FAD7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147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0C6"/>
          </a:solidFill>
          <a:ln xmlns:a="http://schemas.openxmlformats.org/drawingml/2006/main" w="0">
            <a:solidFill>
              <a:srgbClr val="3980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547EFDF-E041-475B-95B9-A1BD8EC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33" name="圓角矩形 32">
            <a:extLst xmlns:a="http://schemas.openxmlformats.org/drawingml/2006/main">
              <a:ext uri="{FF2B5EF4-FFF2-40B4-BE49-F238E27FC236}">
                <a16:creationId xmlns:a16="http://schemas.microsoft.com/office/drawing/2014/main" id="{765A35F6-0CE9-4E0F-B3F0-B737A5BB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95625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3B00876-E1FA-4928-8387-E0CC65E9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90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C715F92-F291-499A-AC9C-E50F2D76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6232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OBSERVE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65B033E-ED83-43AC-BBBB-ABEFAE78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DOM + accessibility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21DE6EC-F660-4A5B-9792-82F6EDE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147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0C6"/>
          </a:solidFill>
          <a:ln xmlns:a="http://schemas.openxmlformats.org/drawingml/2006/main" w="0">
            <a:solidFill>
              <a:srgbClr val="3980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97666D24-04D1-4A36-802C-661F6491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43250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39" name="圓角矩形 38">
            <a:extLst xmlns:a="http://schemas.openxmlformats.org/drawingml/2006/main">
              <a:ext uri="{FF2B5EF4-FFF2-40B4-BE49-F238E27FC236}">
                <a16:creationId xmlns:a16="http://schemas.microsoft.com/office/drawing/2014/main" id="{DA05D8A7-2E23-4EC5-AA4B-E9CB6F3D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C57C02F-4173-41B8-88DB-41ABB53C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90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F266FD8-7BE1-4B72-BD89-B75A09E2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6232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RESOLVE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22D1F153-10E7-4F35-AC9B-4B96466C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Exactly one target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10E3458-08F9-48AB-9953-ED0FC033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147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0C6"/>
          </a:solidFill>
          <a:ln xmlns:a="http://schemas.openxmlformats.org/drawingml/2006/main" w="0">
            <a:solidFill>
              <a:srgbClr val="3980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7AB7F01-1BB8-4C68-BEF2-4C021546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43250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45" name="圓角矩形 44">
            <a:extLst xmlns:a="http://schemas.openxmlformats.org/drawingml/2006/main">
              <a:ext uri="{FF2B5EF4-FFF2-40B4-BE49-F238E27FC236}">
                <a16:creationId xmlns:a16="http://schemas.microsoft.com/office/drawing/2014/main" id="{DAD2813A-066F-40C5-8119-2718B382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95625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1E165A6C-8A1F-4553-BB57-2A27324C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09AB782-0A62-469C-B0D2-401DF403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6232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ACT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EB3D20D0-EFD2-4183-BB2D-F5CACC6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Playwright / keyboard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973255E-4BB7-4A68-8FA9-FDA8DFE3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147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0C6"/>
          </a:solidFill>
          <a:ln xmlns:a="http://schemas.openxmlformats.org/drawingml/2006/main" w="0">
            <a:solidFill>
              <a:srgbClr val="3980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689F439D-A9CC-4928-9141-8ED0BE75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51" name="圓角矩形 50">
            <a:extLst xmlns:a="http://schemas.openxmlformats.org/drawingml/2006/main">
              <a:ext uri="{FF2B5EF4-FFF2-40B4-BE49-F238E27FC236}">
                <a16:creationId xmlns:a16="http://schemas.microsoft.com/office/drawing/2014/main" id="{A7331154-A7E5-4B50-A993-49E0F4BF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95625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E0919665-9642-461D-A23B-93D0E156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90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05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7EC4ACC-5C06-492F-A975-FF196FEB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6232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VERIFY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7DFA4351-F3A4-48F2-98CB-EB5E5D3C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Postcondition evidence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D9AA1F3D-4E5E-4409-AA23-70418238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3147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0C6"/>
          </a:solidFill>
          <a:ln xmlns:a="http://schemas.openxmlformats.org/drawingml/2006/main" w="0">
            <a:solidFill>
              <a:srgbClr val="3980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65AF12B-B5BE-43E5-B847-CF6E5F98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57" name="圓角矩形 56">
            <a:extLst xmlns:a="http://schemas.openxmlformats.org/drawingml/2006/main">
              <a:ext uri="{FF2B5EF4-FFF2-40B4-BE49-F238E27FC236}">
                <a16:creationId xmlns:a16="http://schemas.microsoft.com/office/drawing/2014/main" id="{B4EAAB98-77A0-44B4-A87C-614E6F1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95625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E1E6DFC6-EE27-41FF-B2FD-3FC360CF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90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06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BCA686CD-F2B4-45CF-B3E6-75257AA5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6232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TRACE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C35441FC-0BCE-416B-9399-BF8137AE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Redacted + memory-ready</a:t>
            </a:r>
          </a:p>
        </p:txBody>
      </p:sp>
      <p:sp>
        <p:nvSpPr>
          <p:cNvPr id="61" name="圓角矩形 60">
            <a:extLst xmlns:a="http://schemas.openxmlformats.org/drawingml/2006/main">
              <a:ext uri="{FF2B5EF4-FFF2-40B4-BE49-F238E27FC236}">
                <a16:creationId xmlns:a16="http://schemas.microsoft.com/office/drawing/2014/main" id="{D3A61F86-2015-4581-9751-5DC7932E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0">
            <a:solidFill>
              <a:srgbClr val="EDF5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D60E5F1C-261A-40C9-A5E9-9FA5950B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1062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Fast Path invariant: 0 model calls • 0 MCP calls • no raw browser coordinates</a:t>
            </a:r>
          </a:p>
        </p:txBody>
      </p:sp>
    </p:spTree>
    <p:extLst>
      <p:ext uri="{BB962C8B-B14F-4D97-AF65-F5344CB8AC3E}">
        <p14:creationId xmlns:p14="http://schemas.microsoft.com/office/powerpoint/2010/main" val="38704420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7554595-FBDC-D922-EB6C-E98316AA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SLOW PATH WORKFLOW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904E702-E7E7-90BD-51A6-653301BC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Slow Path: bounded model-assisted workflow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021A240-253D-E5D0-32FD-36FDB78C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05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2CE1751-89CD-ED43-9AF5-B4FA9CF9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14" name="圓角矩形 13">
            <a:extLst xmlns:a="http://schemas.openxmlformats.org/drawingml/2006/main">
              <a:ext uri="{FF2B5EF4-FFF2-40B4-BE49-F238E27FC236}">
                <a16:creationId xmlns:a16="http://schemas.microsoft.com/office/drawing/2014/main" id="{9F6EBC8B-2D31-E0D6-5B76-82B17FDE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48" y="1276350"/>
            <a:ext cx="11658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圓角矩形 14">
            <a:extLst xmlns:a="http://schemas.openxmlformats.org/drawingml/2006/main">
              <a:ext uri="{FF2B5EF4-FFF2-40B4-BE49-F238E27FC236}">
                <a16:creationId xmlns:a16="http://schemas.microsoft.com/office/drawing/2014/main" id="{26784D4C-D1C8-C667-6DAE-BDE08EDB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42" y="1266825"/>
            <a:ext cx="111658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7BFF"/>
          </a:solidFill>
          <a:ln xmlns:a="http://schemas.openxmlformats.org/drawingml/2006/main" w="0">
            <a:solidFill>
              <a:srgbClr val="8E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189955-E17E-6C7E-994E-1A318C4C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90" y="1457325"/>
            <a:ext cx="105097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Slow Path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554A1D7-4253-7DE2-3C6C-C75E0AD0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90" y="1790700"/>
            <a:ext cx="1050976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8E7BFF"/>
                </a:solidFill>
                <a:latin typeface="Aharoni"/>
                <a:ea typeface="Aharoni"/>
                <a:cs typeface="Aharoni"/>
              </a:rPr>
              <a:t>MODEL-ASSISTED / BOUNDED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0D9531A-511B-ACC7-8FED-44E8D266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90" y="2047875"/>
            <a:ext cx="105097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Optional strict-JSON plan. Redacted request. Local schema, policy, approval, and verifier checks.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8EAED67-EE59-B2EA-3AE8-5D6D5687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Models can propose; LHIC remains the authority on scope, policy, and success.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C00F47A-AA1E-4496-AEF2-B43871BD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FULL WORKFLOW  /  PROPOSAL IS NOT AUTHORITY</a:t>
            </a:r>
          </a:p>
        </p:txBody>
      </p:sp>
      <p:sp>
        <p:nvSpPr>
          <p:cNvPr id="27" name="圓角矩形 26">
            <a:extLst xmlns:a="http://schemas.openxmlformats.org/drawingml/2006/main">
              <a:ext uri="{FF2B5EF4-FFF2-40B4-BE49-F238E27FC236}">
                <a16:creationId xmlns:a16="http://schemas.microsoft.com/office/drawing/2014/main" id="{7D483608-AF6D-4E41-9862-197F7857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BD38D9E-1210-4FAE-AF8B-D7CF131B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EA5D67B-E98C-474B-B166-40EFDB18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OBSERVE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2053EDA-C680-4E15-B1B5-56E2B201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Normalize UI state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65C2921-AE93-4123-8F70-8CFF78B5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43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E3CE19B-A9A5-421A-93D5-A6A65A55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718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33" name="圓角矩形 32">
            <a:extLst xmlns:a="http://schemas.openxmlformats.org/drawingml/2006/main">
              <a:ext uri="{FF2B5EF4-FFF2-40B4-BE49-F238E27FC236}">
                <a16:creationId xmlns:a16="http://schemas.microsoft.com/office/drawing/2014/main" id="{EFFE4050-5504-4A9E-866C-988DDD63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420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9DB2FE7-66E8-48A6-8BAD-9C0224E7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19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1477AC15-1C85-4556-A150-58FC20DB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90900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ROUTE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1251D60-1618-48EE-B546-E8D5BCF2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290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Confidence / risk budget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003CD7E-6182-4A33-9CD4-8A3E926F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43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9850553-3C85-492D-8818-754FCF23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718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39" name="圓角矩形 38">
            <a:extLst xmlns:a="http://schemas.openxmlformats.org/drawingml/2006/main">
              <a:ext uri="{FF2B5EF4-FFF2-40B4-BE49-F238E27FC236}">
                <a16:creationId xmlns:a16="http://schemas.microsoft.com/office/drawing/2014/main" id="{92E168D3-80EF-4A4B-BD0E-DC8160A1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2420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A16E946-F845-4E88-B52C-F3D39C8C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37026FD-C9C4-48E7-B6C2-B9AA9347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REDACT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9FED699-197C-4510-99CF-6A59DD08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290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Sensitive fields removed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C2DD41F-F7BD-4775-9A6D-CDD2497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43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950964C-21B7-4DFC-9F68-903D7D90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718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45" name="圓角矩形 44">
            <a:extLst xmlns:a="http://schemas.openxmlformats.org/drawingml/2006/main">
              <a:ext uri="{FF2B5EF4-FFF2-40B4-BE49-F238E27FC236}">
                <a16:creationId xmlns:a16="http://schemas.microsoft.com/office/drawing/2014/main" id="{32E55AF1-5FEB-4E10-8BD8-20DD818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2420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19509788-D2FA-4E8A-9220-7C4096A7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3CF7FCC-DBDC-41FC-B7DE-0962260E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PLAN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B5815B2-FBCF-40E4-81D1-BD18310F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290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Strict JSON proposal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BA230A65-979A-4244-8ED7-8A45A9DE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43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439798C7-744F-45EC-9681-40478D98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718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51" name="圓角矩形 50">
            <a:extLst xmlns:a="http://schemas.openxmlformats.org/drawingml/2006/main">
              <a:ext uri="{FF2B5EF4-FFF2-40B4-BE49-F238E27FC236}">
                <a16:creationId xmlns:a16="http://schemas.microsoft.com/office/drawing/2014/main" id="{2D99A6D5-FBD4-4B35-8C4F-540139FF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2420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6EAA8626-72AE-4340-A16F-0785A14D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9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05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2AD995B7-7AC8-4FB9-A940-EAE3F920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0900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RECHECK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81AC9382-5FF1-4D8A-A7C3-4F596562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290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Schema + policy + approval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3215FA27-4070-4A2C-B47D-AEB0307E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343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CC537AF7-2F59-4879-B7B4-CF7869DE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718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57" name="圓角矩形 56">
            <a:extLst xmlns:a="http://schemas.openxmlformats.org/drawingml/2006/main">
              <a:ext uri="{FF2B5EF4-FFF2-40B4-BE49-F238E27FC236}">
                <a16:creationId xmlns:a16="http://schemas.microsoft.com/office/drawing/2014/main" id="{FCBBDD33-DB41-4B54-9C65-0899B854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24200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6635167A-FAE6-417F-8430-2900DD5A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19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06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E0B27FC-A724-412F-B5E7-AAD0A6DC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90900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EXECUTE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9205CAC6-E8B1-4249-85CD-F4636017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290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Local act → verify → recover</a:t>
            </a:r>
          </a:p>
        </p:txBody>
      </p:sp>
      <p:sp>
        <p:nvSpPr>
          <p:cNvPr id="61" name="圓角矩形 60">
            <a:extLst xmlns:a="http://schemas.openxmlformats.org/drawingml/2006/main">
              <a:ext uri="{FF2B5EF4-FFF2-40B4-BE49-F238E27FC236}">
                <a16:creationId xmlns:a16="http://schemas.microsoft.com/office/drawing/2014/main" id="{EBAD01FF-EAE8-4F68-8440-64438070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BFC"/>
          </a:solidFill>
          <a:ln xmlns:a="http://schemas.openxmlformats.org/drawingml/2006/main" w="0">
            <a:solidFill>
              <a:srgbClr val="EFFB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ADFDD273-E622-4F64-A34A-E8B56DAA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062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Slow Path invariant: the provider may propose actions, never expand authority or redefine success</a:t>
            </a:r>
          </a:p>
        </p:txBody>
      </p:sp>
    </p:spTree>
    <p:extLst>
      <p:ext uri="{BB962C8B-B14F-4D97-AF65-F5344CB8AC3E}">
        <p14:creationId xmlns:p14="http://schemas.microsoft.com/office/powerpoint/2010/main" val="15322063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CEBDC76-2855-D2AC-AE33-2A07DD84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HUMAN AUTHORITY WORKFLOW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E7DCD3F-3753-A5C8-F505-1DDEC545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Human authority: approved desktop workflow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1275749-984C-4B9A-4D5C-24509218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06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307292E-FAA2-79D1-8557-B2DC6A21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19" name="圓角矩形 18">
            <a:extLst xmlns:a="http://schemas.openxmlformats.org/drawingml/2006/main">
              <a:ext uri="{FF2B5EF4-FFF2-40B4-BE49-F238E27FC236}">
                <a16:creationId xmlns:a16="http://schemas.microsoft.com/office/drawing/2014/main" id="{958A6C00-EBD9-9820-7FA2-1D5FA580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923" y="1319213"/>
            <a:ext cx="11264153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圓角矩形 19">
            <a:extLst xmlns:a="http://schemas.openxmlformats.org/drawingml/2006/main">
              <a:ext uri="{FF2B5EF4-FFF2-40B4-BE49-F238E27FC236}">
                <a16:creationId xmlns:a16="http://schemas.microsoft.com/office/drawing/2014/main" id="{64B54BED-E1D5-4C74-F705-C79AE027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924" y="1319213"/>
            <a:ext cx="145676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9E20"/>
          </a:solidFill>
          <a:ln xmlns:a="http://schemas.openxmlformats.org/drawingml/2006/main" w="0">
            <a:solidFill>
              <a:srgbClr val="759E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A47A397-53A0-1026-9531-A1E392ED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24" y="1509713"/>
            <a:ext cx="1015418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Human Authority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46A6745-D25D-858E-8C30-FCECB994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24" y="1843088"/>
            <a:ext cx="101541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APPROVAL-GATED / NATIVE DESKTOP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20A8866-6290-6C79-C2F8-6EC2C53C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24" y="2100263"/>
            <a:ext cx="1015418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Exact approval, active-window/process checks, native OS action, and postcondition evidence.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D2D4273-0F56-E3CB-7A49-039DD3B6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High-risk work is explicit, time-bounded, identity-bound, and replay-resistant.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3D5FD5B-13A0-4BB6-9FD3-29BF455F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FULL WORKFLOW  /  APPROVAL + ACTIVE-CONTEXT PREFLIGHT</a:t>
            </a:r>
          </a:p>
        </p:txBody>
      </p:sp>
      <p:sp>
        <p:nvSpPr>
          <p:cNvPr id="27" name="圓角矩形 26">
            <a:extLst xmlns:a="http://schemas.openxmlformats.org/drawingml/2006/main">
              <a:ext uri="{FF2B5EF4-FFF2-40B4-BE49-F238E27FC236}">
                <a16:creationId xmlns:a16="http://schemas.microsoft.com/office/drawing/2014/main" id="{D21184BD-3573-4AAC-A738-1856203B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6801F67-485B-4684-B24F-D7B8B1CE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80C9623-2710-4ADF-950B-1FFAA573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DETECT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555223A-1044-4E4F-BCE7-1B4A0366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High / unknown risk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9165E46-5D14-49B2-886F-94ACCB86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670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E20"/>
          </a:solidFill>
          <a:ln xmlns:a="http://schemas.openxmlformats.org/drawingml/2006/main" w="0">
            <a:solidFill>
              <a:srgbClr val="759E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347F0D06-60DC-4C2A-AC41-956B7A7B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33" name="圓角矩形 32">
            <a:extLst xmlns:a="http://schemas.openxmlformats.org/drawingml/2006/main">
              <a:ext uri="{FF2B5EF4-FFF2-40B4-BE49-F238E27FC236}">
                <a16:creationId xmlns:a16="http://schemas.microsoft.com/office/drawing/2014/main" id="{ECA7D007-DDD3-47D0-AB0D-A9C9B7DF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47975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03CDAA1D-145C-465E-92D3-0F132672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432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2FE01EB-3AF8-4850-94D2-2A7462FF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1467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SHOW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3D81A57-0D62-4205-A946-41892651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52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Exact action payload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EE1C72-F88E-4247-BFCC-700F6301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0670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E20"/>
          </a:solidFill>
          <a:ln xmlns:a="http://schemas.openxmlformats.org/drawingml/2006/main" w="0">
            <a:solidFill>
              <a:srgbClr val="759E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9E0B2B37-9907-441C-8321-25DE0305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95600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39" name="圓角矩形 38">
            <a:extLst xmlns:a="http://schemas.openxmlformats.org/drawingml/2006/main">
              <a:ext uri="{FF2B5EF4-FFF2-40B4-BE49-F238E27FC236}">
                <a16:creationId xmlns:a16="http://schemas.microsoft.com/office/drawing/2014/main" id="{61F056AF-BC49-4321-8B70-72B175DB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47975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450D47AC-2F7F-4801-B38C-10ABFB66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432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26D0E16-387F-4BCF-A83C-DC79997E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1467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APPROVE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13B84BD-FA1E-47C2-8874-3B89E40E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52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Hash + signature + TTL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F14B416-1BDB-4511-999C-C788E130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670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E20"/>
          </a:solidFill>
          <a:ln xmlns:a="http://schemas.openxmlformats.org/drawingml/2006/main" w="0">
            <a:solidFill>
              <a:srgbClr val="759E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112D25A-819E-4016-A707-1E3BE71A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95600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45" name="圓角矩形 44">
            <a:extLst xmlns:a="http://schemas.openxmlformats.org/drawingml/2006/main">
              <a:ext uri="{FF2B5EF4-FFF2-40B4-BE49-F238E27FC236}">
                <a16:creationId xmlns:a16="http://schemas.microsoft.com/office/drawing/2014/main" id="{8F0D5C74-253F-4C02-BE2F-F9E1AF68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47975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7B0ED39A-5DBF-44D4-9849-C4E61D71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43C4C48B-63CE-40B9-9E34-0F780C82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PREFLIGHT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8877A00-1366-4C0D-95CC-44697CE5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Window + process match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40D4EA2-177D-4755-AD4F-B5C29515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670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E20"/>
          </a:solidFill>
          <a:ln xmlns:a="http://schemas.openxmlformats.org/drawingml/2006/main" w="0">
            <a:solidFill>
              <a:srgbClr val="759E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176F8176-67D7-4FF8-A5C6-684FF6CE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95600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51" name="圓角矩形 50">
            <a:extLst xmlns:a="http://schemas.openxmlformats.org/drawingml/2006/main">
              <a:ext uri="{FF2B5EF4-FFF2-40B4-BE49-F238E27FC236}">
                <a16:creationId xmlns:a16="http://schemas.microsoft.com/office/drawing/2014/main" id="{0E8DCED5-CF33-4160-8681-F8642B0A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47975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3FCD62AA-F7FA-4CA0-B88A-CBE67FEA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432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05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D76555B2-DC6C-4822-9B4E-C0AA2918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1467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ACT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FF5737D7-04E5-4538-87DB-6977D6FA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52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Native OS bridge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A02EFC5D-4F32-40E9-98A5-67795886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670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E20"/>
          </a:solidFill>
          <a:ln xmlns:a="http://schemas.openxmlformats.org/drawingml/2006/main" w="0">
            <a:solidFill>
              <a:srgbClr val="759E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566E315F-8BFB-439A-A5AC-ED7C2792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57" name="圓角矩形 56">
            <a:extLst xmlns:a="http://schemas.openxmlformats.org/drawingml/2006/main">
              <a:ext uri="{FF2B5EF4-FFF2-40B4-BE49-F238E27FC236}">
                <a16:creationId xmlns:a16="http://schemas.microsoft.com/office/drawing/2014/main" id="{10A6FCEC-7851-4C20-8F86-196DA342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47975"/>
            <a:ext cx="1657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8DE7459F-6D17-4DB6-B511-CCBD786A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432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06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D4F6863-1799-4CDD-967B-BEB3ADF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14675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PROVE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19D3C69-662B-4B8A-8A90-9B059F8C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52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2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4"/>
                </a:solidFill>
                <a:latin typeface="Aharoni"/>
                <a:ea typeface="Aharoni"/>
                <a:cs typeface="Aharoni"/>
              </a:rPr>
              <a:t>Post-verify + consume</a:t>
            </a:r>
          </a:p>
        </p:txBody>
      </p:sp>
      <p:sp>
        <p:nvSpPr>
          <p:cNvPr id="61" name="圓角矩形 60">
            <a:extLst xmlns:a="http://schemas.openxmlformats.org/drawingml/2006/main">
              <a:ext uri="{FF2B5EF4-FFF2-40B4-BE49-F238E27FC236}">
                <a16:creationId xmlns:a16="http://schemas.microsoft.com/office/drawing/2014/main" id="{E6D30A63-3EF7-46D7-B1BC-B83CE964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9E9"/>
          </a:solidFill>
          <a:ln xmlns:a="http://schemas.openxmlformats.org/drawingml/2006/main" w="0">
            <a:solidFill>
              <a:srgbClr val="F4F9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A4EC0E77-50D9-4CC6-A19B-5F22C84F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1062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Human authority invariant: no approval, no action • no exact match, no execution • replay is rejected</a:t>
            </a:r>
          </a:p>
        </p:txBody>
      </p:sp>
    </p:spTree>
    <p:extLst>
      <p:ext uri="{BB962C8B-B14F-4D97-AF65-F5344CB8AC3E}">
        <p14:creationId xmlns:p14="http://schemas.microsoft.com/office/powerpoint/2010/main" val="3807130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C5A75668-6C7A-4E1A-9944-9923DB1B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ARCHITECTURE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61867DE-ADB6-4B57-A3EA-2BEDDD2D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A deterministic control loop with proof at the end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4EE2BE2-EA1C-452A-8378-C2B58164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06A6A41-4106-4114-A675-865A221E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Every transition is typed, budgeted, and inspectable.</a:t>
            </a:r>
          </a:p>
        </p:txBody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6884D2AC-F7BD-49FE-A122-C487E742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562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71628"/>
          </a:solidFill>
          <a:ln xmlns:a="http://schemas.openxmlformats.org/drawingml/2006/main" w="9525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橢圓 5">
            <a:extLst xmlns:a="http://schemas.openxmlformats.org/drawingml/2006/main">
              <a:ext uri="{FF2B5EF4-FFF2-40B4-BE49-F238E27FC236}">
                <a16:creationId xmlns:a16="http://schemas.microsoft.com/office/drawing/2014/main" id="{BF6B416D-395A-49F2-94DF-095ACA40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28"/>
          </a:solidFill>
          <a:ln xmlns:a="http://schemas.openxmlformats.org/drawingml/2006/main" w="0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F53DD0F-5EC6-4422-BE38-8889F71F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INTENT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DA9B6E1-F1BA-4DCD-9D59-254FAAA4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Goal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C28D343-3E1F-445D-B50F-AE1D8A08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43200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B9E2C30-6AC4-4D46-A9A5-8A365305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717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11" name="圓角矩形 10">
            <a:extLst xmlns:a="http://schemas.openxmlformats.org/drawingml/2006/main">
              <a:ext uri="{FF2B5EF4-FFF2-40B4-BE49-F238E27FC236}">
                <a16:creationId xmlns:a16="http://schemas.microsoft.com/office/drawing/2014/main" id="{F01A0D6C-EF28-403B-9FDE-03EF7B29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562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橢圓 11">
            <a:extLst xmlns:a="http://schemas.openxmlformats.org/drawingml/2006/main">
              <a:ext uri="{FF2B5EF4-FFF2-40B4-BE49-F238E27FC236}">
                <a16:creationId xmlns:a16="http://schemas.microsoft.com/office/drawing/2014/main" id="{40F62EF6-4160-410A-B382-71D6EA6A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86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80C6"/>
          </a:solidFill>
          <a:ln xmlns:a="http://schemas.openxmlformats.org/drawingml/2006/main" w="0">
            <a:solidFill>
              <a:srgbClr val="3980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1325BB9-0DF4-4E8E-A662-4A2D3A39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SENSE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D1E9496-ECC3-4CB8-953B-723D15C3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718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DOM + AX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2D8BB04-138A-45BE-B929-D4466035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51E3040-3E15-47E7-9772-65AE47EC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717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17" name="圓角矩形 16">
            <a:extLst xmlns:a="http://schemas.openxmlformats.org/drawingml/2006/main">
              <a:ext uri="{FF2B5EF4-FFF2-40B4-BE49-F238E27FC236}">
                <a16:creationId xmlns:a16="http://schemas.microsoft.com/office/drawing/2014/main" id="{BAD16D5D-00C7-4AA2-BFB4-45530C3F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1562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橢圓 17">
            <a:extLst xmlns:a="http://schemas.openxmlformats.org/drawingml/2006/main">
              <a:ext uri="{FF2B5EF4-FFF2-40B4-BE49-F238E27FC236}">
                <a16:creationId xmlns:a16="http://schemas.microsoft.com/office/drawing/2014/main" id="{9C6D9F24-1507-4BE9-A373-4C31D7C9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86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7BFF"/>
          </a:solidFill>
          <a:ln xmlns:a="http://schemas.openxmlformats.org/drawingml/2006/main" w="0">
            <a:solidFill>
              <a:srgbClr val="8E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1C1A9D5-F9F7-4AFA-85F0-CAEE62F1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PLAN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7A17A09-9474-40F8-B8CA-38A5F5BE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Typed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DE0969C-844F-472D-AC3A-B45C31E8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1A2FBA3-7E04-44AC-89CC-ED32323E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717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23" name="圓角矩形 22">
            <a:extLst xmlns:a="http://schemas.openxmlformats.org/drawingml/2006/main">
              <a:ext uri="{FF2B5EF4-FFF2-40B4-BE49-F238E27FC236}">
                <a16:creationId xmlns:a16="http://schemas.microsoft.com/office/drawing/2014/main" id="{77410E14-952D-4045-93F8-759B8DE0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1562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橢圓 23">
            <a:extLst xmlns:a="http://schemas.openxmlformats.org/drawingml/2006/main">
              <a:ext uri="{FF2B5EF4-FFF2-40B4-BE49-F238E27FC236}">
                <a16:creationId xmlns:a16="http://schemas.microsoft.com/office/drawing/2014/main" id="{748D7B90-4AD4-4F78-8328-5578528D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B98"/>
          </a:solidFill>
          <a:ln xmlns:a="http://schemas.openxmlformats.org/drawingml/2006/main" w="0">
            <a:solidFill>
              <a:srgbClr val="178B9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1AEA525-58AE-464F-AA05-F4A84B7C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ACT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BF45A35-A9B5-4D5C-AC67-8B9F93C4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Local SDK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9C3D773-192D-4BC5-8D7C-8E0FC0AD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43200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1A4E65A1-74AF-42C3-A372-5F900A24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29" name="圓角矩形 28">
            <a:extLst xmlns:a="http://schemas.openxmlformats.org/drawingml/2006/main">
              <a:ext uri="{FF2B5EF4-FFF2-40B4-BE49-F238E27FC236}">
                <a16:creationId xmlns:a16="http://schemas.microsoft.com/office/drawing/2014/main" id="{33001C92-216E-43D6-B542-E3B5F93C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1562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E23F5B3C-68A9-421A-A951-1DCD55D6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9E20"/>
          </a:solidFill>
          <a:ln xmlns:a="http://schemas.openxmlformats.org/drawingml/2006/main" w="0">
            <a:solidFill>
              <a:srgbClr val="759E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4EAD59F-C1E7-454F-BFD5-48163132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PROVE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C4E9F36-1D84-435D-A95D-2300AFDC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Verifier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915B0B-A0C4-47DB-A1CA-43AF4AE6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43200"/>
            <a:ext cx="3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B5BAC7B-A838-4A14-BE80-7A0CDC74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717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›</a:t>
            </a:r>
          </a:p>
        </p:txBody>
      </p:sp>
      <p:sp>
        <p:nvSpPr>
          <p:cNvPr id="35" name="圓角矩形 34">
            <a:extLst xmlns:a="http://schemas.openxmlformats.org/drawingml/2006/main">
              <a:ext uri="{FF2B5EF4-FFF2-40B4-BE49-F238E27FC236}">
                <a16:creationId xmlns:a16="http://schemas.microsoft.com/office/drawing/2014/main" id="{A37177B1-E265-4F98-B710-F1B1FDD8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95500"/>
            <a:ext cx="1562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71628"/>
          </a:solidFill>
          <a:ln xmlns:a="http://schemas.openxmlformats.org/drawingml/2006/main" w="9525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B3B62D2F-DE9B-4541-A5AB-6DAB947E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28"/>
          </a:solidFill>
          <a:ln xmlns:a="http://schemas.openxmlformats.org/drawingml/2006/main" w="0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318E005-75CD-42B6-BB0B-8913137E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71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TRACE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E9E1E7F-3EE9-4FA1-A382-4B8FE35A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718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Redacted</a:t>
            </a:r>
          </a:p>
        </p:txBody>
      </p:sp>
      <p:sp>
        <p:nvSpPr>
          <p:cNvPr id="39" name="圓角矩形 38">
            <a:extLst xmlns:a="http://schemas.openxmlformats.org/drawingml/2006/main">
              <a:ext uri="{FF2B5EF4-FFF2-40B4-BE49-F238E27FC236}">
                <a16:creationId xmlns:a16="http://schemas.microsoft.com/office/drawing/2014/main" id="{1E00D7B3-848D-455F-A2AA-17EB5FF1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390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ADC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697E97B-A4A7-49DA-8CBD-0832DCCE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A0E2629-855A-46AF-83B3-64D61BEA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57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Exactly one target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2D8504F2-9B8D-4EC2-96A8-5578B68A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Ambiguity rejects the action; selector memory is earned only after proof.</a:t>
            </a:r>
          </a:p>
        </p:txBody>
      </p:sp>
      <p:sp>
        <p:nvSpPr>
          <p:cNvPr id="43" name="圓角矩形 42">
            <a:extLst xmlns:a="http://schemas.openxmlformats.org/drawingml/2006/main">
              <a:ext uri="{FF2B5EF4-FFF2-40B4-BE49-F238E27FC236}">
                <a16:creationId xmlns:a16="http://schemas.microsoft.com/office/drawing/2014/main" id="{ACAA958E-794E-4329-86DD-29D469CB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390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ADC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1BF249E-CD7B-4432-96F2-D480988B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86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496F8B9-9430-46B3-A575-6C754AF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57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One local recovery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C2134EAE-0B0C-43C4-BA90-733E8608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Then an optional slow planner—only if the routing profile still has budget.</a:t>
            </a:r>
          </a:p>
        </p:txBody>
      </p:sp>
      <p:sp>
        <p:nvSpPr>
          <p:cNvPr id="47" name="圓角矩形 46">
            <a:extLst xmlns:a="http://schemas.openxmlformats.org/drawingml/2006/main">
              <a:ext uri="{FF2B5EF4-FFF2-40B4-BE49-F238E27FC236}">
                <a16:creationId xmlns:a16="http://schemas.microsoft.com/office/drawing/2014/main" id="{338ED44A-6DA6-4B3C-A386-38A7321C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390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ADC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33FDDBD-FD92-462C-83DA-29C86F2F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86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68A1A553-51AB-4C9E-B1ED-921C0C42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57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Evidence before learning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E9835B47-6B32-42F7-9C44-76F258CF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Verified task IDs and unseen-UI holdout gate skill promotion.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31AA5EC8-A055-4946-9415-A6809317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browser-plan-v1 schema, target resolver, multipath controller, verifier, trace, and learning code.</a:t>
            </a:r>
          </a:p>
        </p:txBody>
      </p:sp>
    </p:spTree>
    <p:extLst>
      <p:ext uri="{BB962C8B-B14F-4D97-AF65-F5344CB8AC3E}">
        <p14:creationId xmlns:p14="http://schemas.microsoft.com/office/powerpoint/2010/main" val="2134552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6C53CF6A-651D-44DC-A5ED-E1F08AED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PROJECT HIGHLIGHTS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DFE651A-03D8-4196-AB53-EB805958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Four engineering choices define LHIC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447E613-6F89-48A6-AE31-12994A80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3BF05BE-CD50-4F20-9DCA-670334D9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The project is differentiated by constraints that survive changes in planner or interface.</a:t>
            </a:r>
          </a:p>
        </p:txBody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81EEC4EE-43B5-4B9F-ADBE-1E32EC30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219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圓角矩形 5">
            <a:extLst xmlns:a="http://schemas.openxmlformats.org/drawingml/2006/main">
              <a:ext uri="{FF2B5EF4-FFF2-40B4-BE49-F238E27FC236}">
                <a16:creationId xmlns:a16="http://schemas.microsoft.com/office/drawing/2014/main" id="{A0143808-DD66-4CBA-9303-47C1D55F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3335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88F10C-5EF9-4AB9-AEB2-FE6E289A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4F617B0-7594-4480-97F8-4E7BEF3B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43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Verifier-first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6BE5A9E-7154-4D54-AB71-F3E713A4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Every step states its postcondition before execution. Missing evidence fails closed.</a:t>
            </a:r>
          </a:p>
        </p:txBody>
      </p:sp>
      <p:sp>
        <p:nvSpPr>
          <p:cNvPr id="10" name="圓角矩形 9">
            <a:extLst xmlns:a="http://schemas.openxmlformats.org/drawingml/2006/main">
              <a:ext uri="{FF2B5EF4-FFF2-40B4-BE49-F238E27FC236}">
                <a16:creationId xmlns:a16="http://schemas.microsoft.com/office/drawing/2014/main" id="{5F68DE94-8F53-425F-9C66-71F5A2D8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5219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圓角矩形 10">
            <a:extLst xmlns:a="http://schemas.openxmlformats.org/drawingml/2006/main">
              <a:ext uri="{FF2B5EF4-FFF2-40B4-BE49-F238E27FC236}">
                <a16:creationId xmlns:a16="http://schemas.microsoft.com/office/drawing/2014/main" id="{96A94797-C46D-4D5B-AFE1-57F029FF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13335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9E20"/>
          </a:solidFill>
          <a:ln xmlns:a="http://schemas.openxmlformats.org/drawingml/2006/main" w="0">
            <a:solidFill>
              <a:srgbClr val="759E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9CB574C-A07A-440B-949F-8872FE17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B761A93-C8A2-4E2C-88FD-DD25D36E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Exact human authority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7AB67BB-C6B8-411D-A58A-ED730137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Approval hashes the entire action, expires quickly, and cannot be replayed.</a:t>
            </a:r>
          </a:p>
        </p:txBody>
      </p:sp>
      <p:sp>
        <p:nvSpPr>
          <p:cNvPr id="15" name="圓角矩形 14">
            <a:extLst xmlns:a="http://schemas.openxmlformats.org/drawingml/2006/main">
              <a:ext uri="{FF2B5EF4-FFF2-40B4-BE49-F238E27FC236}">
                <a16:creationId xmlns:a16="http://schemas.microsoft.com/office/drawing/2014/main" id="{8453E216-8E23-4E3E-9531-DD042ACD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219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圓角矩形 15">
            <a:extLst xmlns:a="http://schemas.openxmlformats.org/drawingml/2006/main">
              <a:ext uri="{FF2B5EF4-FFF2-40B4-BE49-F238E27FC236}">
                <a16:creationId xmlns:a16="http://schemas.microsoft.com/office/drawing/2014/main" id="{EE7DDB4F-D338-43E7-9DE2-6C840E0E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3335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80C6"/>
          </a:solidFill>
          <a:ln xmlns:a="http://schemas.openxmlformats.org/drawingml/2006/main" w="0">
            <a:solidFill>
              <a:srgbClr val="3980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08F34B7-F17A-4AC2-9E17-E9E9AA47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62FD0CA-C773-4293-AC34-0DE7B82D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052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Semantic resilience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C0CA63-79B9-4938-9491-AEC6B846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DOM and accessibility targets must resolve uniquely; verified history can heal selectors.</a:t>
            </a:r>
          </a:p>
        </p:txBody>
      </p:sp>
      <p:sp>
        <p:nvSpPr>
          <p:cNvPr id="20" name="圓角矩形 19">
            <a:extLst xmlns:a="http://schemas.openxmlformats.org/drawingml/2006/main">
              <a:ext uri="{FF2B5EF4-FFF2-40B4-BE49-F238E27FC236}">
                <a16:creationId xmlns:a16="http://schemas.microsoft.com/office/drawing/2014/main" id="{E235A3CF-9034-4F2E-9A1D-0D7728B4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5219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圓角矩形 20">
            <a:extLst xmlns:a="http://schemas.openxmlformats.org/drawingml/2006/main">
              <a:ext uri="{FF2B5EF4-FFF2-40B4-BE49-F238E27FC236}">
                <a16:creationId xmlns:a16="http://schemas.microsoft.com/office/drawing/2014/main" id="{0E440B4C-C51D-401D-B317-268CB35A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133350" cy="1676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7BFF"/>
          </a:solidFill>
          <a:ln xmlns:a="http://schemas.openxmlformats.org/drawingml/2006/main" w="0">
            <a:solidFill>
              <a:srgbClr val="8E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EE22D96-76C4-466E-A959-339EF7DF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338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E7BFF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DC154BD-FC54-41CC-BB47-3E160131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052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Evidence-gated learning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ED8A3B6-9105-484A-963A-88BB1AA5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445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Three independent verified task IDs plus an unseen-UI holdout are required.</a:t>
            </a:r>
          </a:p>
        </p:txBody>
      </p:sp>
      <p:sp>
        <p:nvSpPr>
          <p:cNvPr id="25" name="圓角矩形 24">
            <a:extLst xmlns:a="http://schemas.openxmlformats.org/drawingml/2006/main">
              <a:ext uri="{FF2B5EF4-FFF2-40B4-BE49-F238E27FC236}">
                <a16:creationId xmlns:a16="http://schemas.microsoft.com/office/drawing/2014/main" id="{7D3871AA-C5C5-4A51-8D07-76EE0AC4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21526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71628"/>
          </a:solidFill>
          <a:ln xmlns:a="http://schemas.openxmlformats.org/drawingml/2006/main" w="0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8AF86EE-7AED-497A-8890-1819EEF9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198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PLUS: HARDENED TRACES</a:t>
            </a:r>
          </a:p>
        </p:txBody>
      </p:sp>
      <p:sp>
        <p:nvSpPr>
          <p:cNvPr id="27" name="圓角矩形 26">
            <a:extLst xmlns:a="http://schemas.openxmlformats.org/drawingml/2006/main">
              <a:ext uri="{FF2B5EF4-FFF2-40B4-BE49-F238E27FC236}">
                <a16:creationId xmlns:a16="http://schemas.microsoft.com/office/drawing/2014/main" id="{431D1FAA-57AF-4E3E-80F6-B8A87D30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953125"/>
            <a:ext cx="26098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4F7F9"/>
          </a:solidFill>
          <a:ln xmlns:a="http://schemas.openxmlformats.org/drawingml/2006/main" w="0">
            <a:solidFill>
              <a:srgbClr val="E4F7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E7B3B1C-0138-4F1B-8346-D29131A0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1980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68F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8F9A"/>
                </a:solidFill>
                <a:latin typeface="Aharoni"/>
                <a:ea typeface="Aharoni"/>
                <a:cs typeface="Aharoni"/>
              </a:rPr>
              <a:t>MULTIPLE OPERATOR SURFACES</a:t>
            </a:r>
          </a:p>
        </p:txBody>
      </p:sp>
      <p:sp>
        <p:nvSpPr>
          <p:cNvPr id="29" name="圓角矩形 28">
            <a:extLst xmlns:a="http://schemas.openxmlformats.org/drawingml/2006/main">
              <a:ext uri="{FF2B5EF4-FFF2-40B4-BE49-F238E27FC236}">
                <a16:creationId xmlns:a16="http://schemas.microsoft.com/office/drawing/2014/main" id="{81D4E1E9-E25C-4420-A58D-54F49D1F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953125"/>
            <a:ext cx="2381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0F8DF"/>
          </a:solidFill>
          <a:ln xmlns:a="http://schemas.openxmlformats.org/drawingml/2006/main" w="0">
            <a:solidFill>
              <a:srgbClr val="F0F8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EC983CE-9999-46E3-A286-9759B2D0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0198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LOCAL-FIRST SKILL MEMORY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359C055-9066-450F-AF13-1124E442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security, trace, memory, selector resolver, and schema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8839886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C4FFF16-21EE-43D6-BB06-476441B5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CONTROLLED PROOF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5286E6C-49D3-4E8E-9153-BF621532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The current checkout passed its full local evidence suite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CDB1F94-923C-4BE8-ADE5-BDB92799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05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298148D-205E-4C54-A9A7-5420D215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Internal regression evidence—not an external market or state-of-the-art claim.</a:t>
            </a:r>
          </a:p>
        </p:txBody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294F1345-10FD-4674-8464-93303718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00150"/>
            <a:ext cx="18478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0F8DF"/>
          </a:solidFill>
          <a:ln xmlns:a="http://schemas.openxmlformats.org/drawingml/2006/main" w="9525">
            <a:solidFill>
              <a:srgbClr val="AFCB7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2267B8E-0CCC-4E29-A752-0921916B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6682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CONTROLLED LOCAL</a:t>
            </a:r>
          </a:p>
        </p:txBody>
      </p:sp>
      <p:sp>
        <p:nvSpPr>
          <p:cNvPr id="7" name="圓角矩形 6">
            <a:extLst xmlns:a="http://schemas.openxmlformats.org/drawingml/2006/main">
              <a:ext uri="{FF2B5EF4-FFF2-40B4-BE49-F238E27FC236}">
                <a16:creationId xmlns:a16="http://schemas.microsoft.com/office/drawing/2014/main" id="{CA4F1F57-1671-4A43-A86D-69F88F03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5336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71628"/>
          </a:solidFill>
          <a:ln xmlns:a="http://schemas.openxmlformats.org/drawingml/2006/main" w="0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7837D1B-3269-4571-BCFD-6AD17E5C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341/341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263447D-DD37-4237-8E27-D8C25871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TESTS PASSED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8AB908-014E-4A3C-B8B3-9304EC86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076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93 test files</a:t>
            </a:r>
          </a:p>
        </p:txBody>
      </p:sp>
      <p:sp>
        <p:nvSpPr>
          <p:cNvPr id="11" name="圓角矩形 10">
            <a:extLst xmlns:a="http://schemas.openxmlformats.org/drawingml/2006/main">
              <a:ext uri="{FF2B5EF4-FFF2-40B4-BE49-F238E27FC236}">
                <a16:creationId xmlns:a16="http://schemas.microsoft.com/office/drawing/2014/main" id="{13F80F31-4659-49C7-93DB-105B053A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62150"/>
            <a:ext cx="25336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71628"/>
          </a:solidFill>
          <a:ln xmlns:a="http://schemas.openxmlformats.org/drawingml/2006/main" w="0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498AB3C-E728-42A6-84B0-685C6F61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2885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100%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A0448B1-F622-4E2D-80D4-501C7FF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TASK SUCCESS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35608FD-499F-4184-A916-A3942137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90900"/>
            <a:ext cx="2076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300 executions</a:t>
            </a:r>
          </a:p>
        </p:txBody>
      </p:sp>
      <p:sp>
        <p:nvSpPr>
          <p:cNvPr id="15" name="圓角矩形 14">
            <a:extLst xmlns:a="http://schemas.openxmlformats.org/drawingml/2006/main">
              <a:ext uri="{FF2B5EF4-FFF2-40B4-BE49-F238E27FC236}">
                <a16:creationId xmlns:a16="http://schemas.microsoft.com/office/drawing/2014/main" id="{81CBB74D-B5BB-44A5-982D-64B4AD6D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25336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71628"/>
          </a:solidFill>
          <a:ln xmlns:a="http://schemas.openxmlformats.org/drawingml/2006/main" w="0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95CD2B1-4913-41D7-A2D9-2A7E8F17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774 ms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7A5BFBF-D07F-4F70-BD8E-781B9823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P95 LATENCY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DE3F8B3-0E1D-4064-9E69-BB91D3CE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90900"/>
            <a:ext cx="2076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60 fixtures × 5</a:t>
            </a:r>
          </a:p>
        </p:txBody>
      </p:sp>
      <p:sp>
        <p:nvSpPr>
          <p:cNvPr id="19" name="圓角矩形 18">
            <a:extLst xmlns:a="http://schemas.openxmlformats.org/drawingml/2006/main">
              <a:ext uri="{FF2B5EF4-FFF2-40B4-BE49-F238E27FC236}">
                <a16:creationId xmlns:a16="http://schemas.microsoft.com/office/drawing/2014/main" id="{B7FE596A-8BC0-4E7E-BA0E-92AF9A40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62150"/>
            <a:ext cx="25336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71628"/>
          </a:solidFill>
          <a:ln xmlns:a="http://schemas.openxmlformats.org/drawingml/2006/main" w="0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6771FAC-9605-4C00-962A-397B139B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2885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0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318EEA5-A97A-433E-9629-C1C8F77A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MODEL + MCP CALLS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E1FA071-6B25-4ADD-B677-B3AA9C0C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2076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per Fast Path task</a:t>
            </a:r>
          </a:p>
        </p:txBody>
      </p:sp>
      <p:sp>
        <p:nvSpPr>
          <p:cNvPr id="23" name="圓角矩形 22">
            <a:extLst xmlns:a="http://schemas.openxmlformats.org/drawingml/2006/main">
              <a:ext uri="{FF2B5EF4-FFF2-40B4-BE49-F238E27FC236}">
                <a16:creationId xmlns:a16="http://schemas.microsoft.com/office/drawing/2014/main" id="{AE7B371E-7CAB-4EAA-8238-6B3428F8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744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E2D2A9F-9374-40CC-985D-5BB9E3A9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100%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6355610-5CDA-4E4E-98F3-349B7B5A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structured actions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622E0B5-D0F7-4BD0-85DD-675231EA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0537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D33E169-0DD5-4E4B-8626-6A30EED3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149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156EB965-D5B0-42FE-8B22-D8CBFF8E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8637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raw coordinates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368E037-C81A-4649-BD6A-2E556EB6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0537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4EF022A-9ABA-4ACA-B46C-FC009A2B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149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100%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D68E23A-F36D-465D-83C1-050B1873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8637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verifier pass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2865F92-EFC4-4857-BABE-31211DEF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0537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1A698CF-D18E-4A84-B38F-5D5B667A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149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A1483E6-E56E-40B4-9701-AA8964C6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8637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false-positive success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42304D5C-8515-4EB8-9EE9-F7474511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0537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D4682B6-5BCB-4369-AEEB-53C636AB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149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0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1987A94-0955-4160-836A-C4E131A4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8637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human intervention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AE1D78B-A52E-4861-B255-B51C5AEA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npm run bench:internal, executed 20 Jul 2026 • local fixture regression • all configured gates passed.</a:t>
            </a:r>
          </a:p>
        </p:txBody>
      </p:sp>
    </p:spTree>
    <p:extLst>
      <p:ext uri="{BB962C8B-B14F-4D97-AF65-F5344CB8AC3E}">
        <p14:creationId xmlns:p14="http://schemas.microsoft.com/office/powerpoint/2010/main" val="41437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5BEF1D0-30B6-43AF-AFFA-8A55C3A3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RESILIENCE SIGNAL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C779FFE-74E4-497F-86FF-485A6F5C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Semantic targeting survived the controlled selector ablation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96004BD-E471-4561-B0B6-2800043B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06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5537401-F530-437E-BBAF-3CA586D8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A deliberately limited static selector baseline is useful for regression contrast—not market comparison.</a:t>
            </a:r>
          </a:p>
        </p:txBody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2717440E-6AD7-4CE6-B95D-ED71014E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19125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1009650" y="2209800"/>
          <a:ext xmlns:a="http://schemas.openxmlformats.org/drawingml/2006/main" cx="541020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3acc5d320446ff"/>
          </a:graphicData>
        </a:graphic>
      </p:graphicFrame>
      <p:sp>
        <p:nvSpPr>
          <p:cNvPr id="7" name="圓角矩形 6">
            <a:extLst xmlns:a="http://schemas.openxmlformats.org/drawingml/2006/main">
              <a:ext uri="{FF2B5EF4-FFF2-40B4-BE49-F238E27FC236}">
                <a16:creationId xmlns:a16="http://schemas.microsoft.com/office/drawing/2014/main" id="{D4622C2F-2CFF-4AD3-9ED0-5B32FADF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41529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71628"/>
          </a:solidFill>
          <a:ln xmlns:a="http://schemas.openxmlformats.org/drawingml/2006/main" w="0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1F36DE-4498-4BA8-8D0F-3A39327D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369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+80 pp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EB4695-EBFB-4A4D-BF5E-19733F4B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CONTROLLED DELTA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DB083CA-A701-4CD1-A7A5-06CD962A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369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100% semantic route vs 20% intentionally limited static selector route.</a:t>
            </a:r>
          </a:p>
        </p:txBody>
      </p:sp>
      <p:sp>
        <p:nvSpPr>
          <p:cNvPr id="11" name="圓角矩形 10">
            <a:extLst xmlns:a="http://schemas.openxmlformats.org/drawingml/2006/main">
              <a:ext uri="{FF2B5EF4-FFF2-40B4-BE49-F238E27FC236}">
                <a16:creationId xmlns:a16="http://schemas.microsoft.com/office/drawing/2014/main" id="{B8F6D7C0-77CA-4C88-B2CE-48F4276C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41529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6396903-FF4E-48AD-B882-42C68F4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81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What this does prove</a:t>
            </a:r>
          </a:p>
        </p:txBody>
      </p:sp>
      <p:sp>
        <p:nvSpPr>
          <p:cNvPr id="13" name="橢圓 12">
            <a:extLst xmlns:a="http://schemas.openxmlformats.org/drawingml/2006/main">
              <a:ext uri="{FF2B5EF4-FFF2-40B4-BE49-F238E27FC236}">
                <a16:creationId xmlns:a16="http://schemas.microsoft.com/office/drawing/2014/main" id="{51A3CC4C-89D0-4232-9B6C-36CC5393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05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6FB2890-B504-415B-9B5D-448F8623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29125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Semantic resolution is wired into execution.</a:t>
            </a:r>
          </a:p>
        </p:txBody>
      </p:sp>
      <p:sp>
        <p:nvSpPr>
          <p:cNvPr id="15" name="橢圓 14">
            <a:extLst xmlns:a="http://schemas.openxmlformats.org/drawingml/2006/main">
              <a:ext uri="{FF2B5EF4-FFF2-40B4-BE49-F238E27FC236}">
                <a16:creationId xmlns:a16="http://schemas.microsoft.com/office/drawing/2014/main" id="{5CAEE155-5494-446C-BBCD-CA8336D3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9F6084F-898A-4426-9BC2-CA339394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1490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Healing preserves verifier evidence.</a:t>
            </a:r>
          </a:p>
        </p:txBody>
      </p:sp>
      <p:sp>
        <p:nvSpPr>
          <p:cNvPr id="17" name="圓角矩形 16">
            <a:extLst xmlns:a="http://schemas.openxmlformats.org/drawingml/2006/main">
              <a:ext uri="{FF2B5EF4-FFF2-40B4-BE49-F238E27FC236}">
                <a16:creationId xmlns:a16="http://schemas.microsoft.com/office/drawing/2014/main" id="{526DCC9B-7BFA-4D4A-9E34-A05C53D2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34000"/>
            <a:ext cx="3143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9C2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54D51A3-923B-4F43-8FB1-BA771A29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006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A4641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46415"/>
                </a:solidFill>
                <a:latin typeface="Aharoni"/>
                <a:ea typeface="Aharoni"/>
                <a:cs typeface="Aharoni"/>
              </a:rPr>
              <a:t>NO EXTERNAL-SUBMISSION ELIGIBILITY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FD5C7EB-01DF-4721-99B4-0E141DEA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npm run bench:simulate, seed 20260715 • controlled ablation • externalSubmissionEligible=false.</a:t>
            </a:r>
          </a:p>
        </p:txBody>
      </p:sp>
    </p:spTree>
    <p:extLst>
      <p:ext uri="{BB962C8B-B14F-4D97-AF65-F5344CB8AC3E}">
        <p14:creationId xmlns:p14="http://schemas.microsoft.com/office/powerpoint/2010/main" val="1086159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6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781C2EE8-E176-4999-961D-DC30B2B9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SAFETY MODEL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DFFA62-8E04-4FE2-B61D-D72E9C8B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Trust is enforced in the execution layer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772B034-A727-439A-90A5-A6B1C3B4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07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04B3416-6534-4D16-BD97-0AECEF38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Network, authority, evidence, and provider controls reinforce each other.</a:t>
            </a:r>
          </a:p>
        </p:txBody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0E934152-4D7B-4D43-B787-7D13C18B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371850" cy="36957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D2340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橢圓 5">
            <a:extLst xmlns:a="http://schemas.openxmlformats.org/drawingml/2006/main">
              <a:ext uri="{FF2B5EF4-FFF2-40B4-BE49-F238E27FC236}">
                <a16:creationId xmlns:a16="http://schemas.microsoft.com/office/drawing/2014/main" id="{142D0000-F9A9-4D24-AADE-94BB732A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F0A4106-3BBF-45DC-B998-FDBC39B4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859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NETWORK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3C944A1-D32D-4A11-9ECE-4E5F8453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838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Reject private targets, credentialed URLs, unsafe redirects, and invalid protocols.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DC4D993-8BAA-4DE5-988D-6CA98E1C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06F"/>
          </a:solidFill>
          <a:ln xmlns:a="http://schemas.openxmlformats.org/drawingml/2006/main" w="0">
            <a:solidFill>
              <a:srgbClr val="3450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橢圓 9">
            <a:extLst xmlns:a="http://schemas.openxmlformats.org/drawingml/2006/main">
              <a:ext uri="{FF2B5EF4-FFF2-40B4-BE49-F238E27FC236}">
                <a16:creationId xmlns:a16="http://schemas.microsoft.com/office/drawing/2014/main" id="{5D833B2F-5877-4F18-ABA9-7C7D8348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2A5C0EA-C8CD-4BE2-A203-3048599F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DNS + redirect checks</a:t>
            </a:r>
          </a:p>
        </p:txBody>
      </p:sp>
      <p:sp>
        <p:nvSpPr>
          <p:cNvPr id="12" name="橢圓 11">
            <a:extLst xmlns:a="http://schemas.openxmlformats.org/drawingml/2006/main">
              <a:ext uri="{FF2B5EF4-FFF2-40B4-BE49-F238E27FC236}">
                <a16:creationId xmlns:a16="http://schemas.microsoft.com/office/drawing/2014/main" id="{64A7FBD0-E293-4F31-892A-C63FED85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44C233D-5C0A-4492-8DFE-40F7F7F6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Origin / protocol policy</a:t>
            </a:r>
          </a:p>
        </p:txBody>
      </p:sp>
      <p:sp>
        <p:nvSpPr>
          <p:cNvPr id="14" name="橢圓 13">
            <a:extLst xmlns:a="http://schemas.openxmlformats.org/drawingml/2006/main">
              <a:ext uri="{FF2B5EF4-FFF2-40B4-BE49-F238E27FC236}">
                <a16:creationId xmlns:a16="http://schemas.microsoft.com/office/drawing/2014/main" id="{ED050349-4230-4AB7-9E51-AD35C4F5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36C53F3-0202-4061-A624-EE2B7FDA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No browser coordinates</a:t>
            </a:r>
          </a:p>
        </p:txBody>
      </p:sp>
      <p:sp>
        <p:nvSpPr>
          <p:cNvPr id="16" name="圓角矩形 15">
            <a:extLst xmlns:a="http://schemas.openxmlformats.org/drawingml/2006/main">
              <a:ext uri="{FF2B5EF4-FFF2-40B4-BE49-F238E27FC236}">
                <a16:creationId xmlns:a16="http://schemas.microsoft.com/office/drawing/2014/main" id="{543DC8D7-C924-4C9C-946D-3724EE4E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66900"/>
            <a:ext cx="3371850" cy="36957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D2340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橢圓 16">
            <a:extLst xmlns:a="http://schemas.openxmlformats.org/drawingml/2006/main">
              <a:ext uri="{FF2B5EF4-FFF2-40B4-BE49-F238E27FC236}">
                <a16:creationId xmlns:a16="http://schemas.microsoft.com/office/drawing/2014/main" id="{F0526E89-8C39-453F-A177-36A82A04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34A"/>
          </a:solidFill>
          <a:ln xmlns:a="http://schemas.openxmlformats.org/drawingml/2006/main" w="0">
            <a:solidFill>
              <a:srgbClr val="B9F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014D709-D25F-4158-A6AF-089276C5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859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AUTHORITY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97E84FF-FBBA-4004-92E0-A434CA38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2838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Bind approval to the exact action. Expire it quickly. Reject every replay.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9F871ED-6F0C-4CCB-B52C-86794852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06F"/>
          </a:solidFill>
          <a:ln xmlns:a="http://schemas.openxmlformats.org/drawingml/2006/main" w="0">
            <a:solidFill>
              <a:srgbClr val="3450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橢圓 20">
            <a:extLst xmlns:a="http://schemas.openxmlformats.org/drawingml/2006/main">
              <a:ext uri="{FF2B5EF4-FFF2-40B4-BE49-F238E27FC236}">
                <a16:creationId xmlns:a16="http://schemas.microsoft.com/office/drawing/2014/main" id="{5AE07B2D-182D-4D9B-826E-DBBB40EF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34A"/>
          </a:solidFill>
          <a:ln xmlns:a="http://schemas.openxmlformats.org/drawingml/2006/main" w="0">
            <a:solidFill>
              <a:srgbClr val="B9F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89406FB-35C4-441C-B7CA-FDEF297A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Ed25519 in production</a:t>
            </a:r>
          </a:p>
        </p:txBody>
      </p:sp>
      <p:sp>
        <p:nvSpPr>
          <p:cNvPr id="23" name="橢圓 22">
            <a:extLst xmlns:a="http://schemas.openxmlformats.org/drawingml/2006/main">
              <a:ext uri="{FF2B5EF4-FFF2-40B4-BE49-F238E27FC236}">
                <a16:creationId xmlns:a16="http://schemas.microsoft.com/office/drawing/2014/main" id="{4B6C928B-04F1-40D7-8ACA-64124632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34A"/>
          </a:solidFill>
          <a:ln xmlns:a="http://schemas.openxmlformats.org/drawingml/2006/main" w="0">
            <a:solidFill>
              <a:srgbClr val="B9F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47AEBE8-ABDC-4E15-9F6E-DCCA428B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148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≤ 5 minute lifetime</a:t>
            </a:r>
          </a:p>
        </p:txBody>
      </p:sp>
      <p:sp>
        <p:nvSpPr>
          <p:cNvPr id="25" name="橢圓 24">
            <a:extLst xmlns:a="http://schemas.openxmlformats.org/drawingml/2006/main">
              <a:ext uri="{FF2B5EF4-FFF2-40B4-BE49-F238E27FC236}">
                <a16:creationId xmlns:a16="http://schemas.microsoft.com/office/drawing/2014/main" id="{C8FDC404-1CC6-4036-9C26-A99F63D8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34A"/>
          </a:solidFill>
          <a:ln xmlns:a="http://schemas.openxmlformats.org/drawingml/2006/main" w="0">
            <a:solidFill>
              <a:srgbClr val="B9F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838CB3A-7B49-4FC5-9D2A-6773BE6E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149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Atomic one-time marker</a:t>
            </a:r>
          </a:p>
        </p:txBody>
      </p:sp>
      <p:sp>
        <p:nvSpPr>
          <p:cNvPr id="27" name="圓角矩形 26">
            <a:extLst xmlns:a="http://schemas.openxmlformats.org/drawingml/2006/main">
              <a:ext uri="{FF2B5EF4-FFF2-40B4-BE49-F238E27FC236}">
                <a16:creationId xmlns:a16="http://schemas.microsoft.com/office/drawing/2014/main" id="{BAE4D266-26F0-47DB-A0D1-2D3AFCBF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3371850" cy="36957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D2340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C7655730-62C5-4A3C-87A6-A373DD48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7BFF"/>
          </a:solidFill>
          <a:ln xmlns:a="http://schemas.openxmlformats.org/drawingml/2006/main" w="0">
            <a:solidFill>
              <a:srgbClr val="8E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FD1255E-1CEC-4E8D-AFE5-D793A5CC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859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8E7BFF"/>
                </a:solidFill>
                <a:latin typeface="Aharoni"/>
                <a:ea typeface="Aharoni"/>
                <a:cs typeface="Aharoni"/>
              </a:rPr>
              <a:t>EVIDENCE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CA66729-DAE9-4AFA-B6CB-15933240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838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Do not report success without the declared postcondition and a redacted trace.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BBD199D-389F-408E-8286-37D40C9F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06F"/>
          </a:solidFill>
          <a:ln xmlns:a="http://schemas.openxmlformats.org/drawingml/2006/main" w="0">
            <a:solidFill>
              <a:srgbClr val="3450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C294534D-10C0-4A5A-93DC-B365196B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7BFF"/>
          </a:solidFill>
          <a:ln xmlns:a="http://schemas.openxmlformats.org/drawingml/2006/main" w="0">
            <a:solidFill>
              <a:srgbClr val="8E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40FC95A-0052-4F7B-BB85-BC6A1382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148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Verifier is mandatory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2EAE7ACC-16CE-4E51-BD49-BD4E0283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7BFF"/>
          </a:solidFill>
          <a:ln xmlns:a="http://schemas.openxmlformats.org/drawingml/2006/main" w="0">
            <a:solidFill>
              <a:srgbClr val="8E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99EBDA6-C728-43EE-91F6-2ABABA28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PII + action values redacted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57921194-AA79-4D8B-B352-BAD839FB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7BFF"/>
          </a:solidFill>
          <a:ln xmlns:a="http://schemas.openxmlformats.org/drawingml/2006/main" w="0">
            <a:solidFill>
              <a:srgbClr val="8E7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81B20AA-268B-45BE-92D6-55A9C057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9C7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C7D8"/>
                </a:solidFill>
                <a:latin typeface="Aharoni"/>
                <a:ea typeface="Aharoni"/>
                <a:cs typeface="Aharoni"/>
              </a:rPr>
              <a:t>Secure trace creation</a:t>
            </a:r>
          </a:p>
        </p:txBody>
      </p:sp>
      <p:sp>
        <p:nvSpPr>
          <p:cNvPr id="38" name="圓角矩形 37">
            <a:extLst xmlns:a="http://schemas.openxmlformats.org/drawingml/2006/main">
              <a:ext uri="{FF2B5EF4-FFF2-40B4-BE49-F238E27FC236}">
                <a16:creationId xmlns:a16="http://schemas.microsoft.com/office/drawing/2014/main" id="{1BDC28F8-070D-4E76-93AF-0CBB7DF1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744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2E4E"/>
          </a:solidFill>
          <a:ln xmlns:a="http://schemas.openxmlformats.org/drawingml/2006/main" w="0">
            <a:solidFill>
              <a:srgbClr val="122E4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4F1930DB-0523-4FDF-A257-BD08D20A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0275"/>
            <a:ext cx="1032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Optional models can suggest actions. They cannot expand budget, bypass policy, approve themselves, or redefine success.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E36ED85-2AB2-4B49-82E8-39F8C2BB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7F94A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F94AD"/>
                </a:solidFill>
                <a:latin typeface="Aharoni"/>
                <a:ea typeface="Aharoni"/>
                <a:cs typeface="Aharoni"/>
              </a:rPr>
              <a:t>Source: security/approval/replay, production browser guards, trace redaction, verifier, and OpenAI planner code.</a:t>
            </a:r>
          </a:p>
        </p:txBody>
      </p:sp>
    </p:spTree>
    <p:extLst>
      <p:ext uri="{BB962C8B-B14F-4D97-AF65-F5344CB8AC3E}">
        <p14:creationId xmlns:p14="http://schemas.microsoft.com/office/powerpoint/2010/main" val="505336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4F401A1-21D2-4A27-9E24-F1FA5767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SKILL MEMORY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E23468F-3995-4573-81D5-1D32CDDC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Learning is earned through independent proof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5F85E38-00F4-47AD-83D8-8CA2FCC0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08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6B60556-BC43-4BEC-BE29-59A45348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LHIC does not promote a successful trace directly into the Fast Path.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AD54BA2-4648-48A4-916D-71D65A75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橢圓 5">
            <a:extLst xmlns:a="http://schemas.openxmlformats.org/drawingml/2006/main">
              <a:ext uri="{FF2B5EF4-FFF2-40B4-BE49-F238E27FC236}">
                <a16:creationId xmlns:a16="http://schemas.microsoft.com/office/drawing/2014/main" id="{5ED7A31A-3ED9-4F18-B6F2-98E60CC8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5E66300-D0FB-483B-BD21-07B3EB9F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67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285E744-90ED-4838-B013-B7BEBC8F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Verified run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B56F692-76C4-41C4-9911-058DAB27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Task succeeds with declared postcondition evidence.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54C4F94-E468-4D9C-88C4-53C4AB97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RUN</a:t>
            </a:r>
          </a:p>
        </p:txBody>
      </p:sp>
      <p:sp>
        <p:nvSpPr>
          <p:cNvPr id="11" name="橢圓 10">
            <a:extLst xmlns:a="http://schemas.openxmlformats.org/drawingml/2006/main">
              <a:ext uri="{FF2B5EF4-FFF2-40B4-BE49-F238E27FC236}">
                <a16:creationId xmlns:a16="http://schemas.microsoft.com/office/drawing/2014/main" id="{A7E0E74D-3121-439A-A78B-7188039F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80C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F2FA102-DE46-4FA3-B09B-4036FBE1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5144719-5A1B-4E3E-8E44-B62544EC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385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Independent repetition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5378A78-9BE4-4E7F-82B2-B8ABC925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767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Three distinct verified task IDs are required.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510DF8B-E6CD-42D6-BBEB-41FF801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76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GATE</a:t>
            </a:r>
          </a:p>
        </p:txBody>
      </p:sp>
      <p:sp>
        <p:nvSpPr>
          <p:cNvPr id="16" name="橢圓 15">
            <a:extLst xmlns:a="http://schemas.openxmlformats.org/drawingml/2006/main">
              <a:ext uri="{FF2B5EF4-FFF2-40B4-BE49-F238E27FC236}">
                <a16:creationId xmlns:a16="http://schemas.microsoft.com/office/drawing/2014/main" id="{AB669F60-A6E8-4BB1-9F6B-88E58A22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7B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5AFDF61-32CB-4D9E-A059-04AEF2AC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67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D97AF50-2800-4461-B860-0E0AE020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85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Unseen-UI holdout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373C6A4-8C06-478C-84B2-C709926A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Offline test must use a new UI fingerprint.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37B2C85-433D-42A9-8E67-423298EF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E7B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E7BFF"/>
                </a:solidFill>
                <a:latin typeface="Aharoni"/>
                <a:ea typeface="Aharoni"/>
                <a:cs typeface="Aharoni"/>
              </a:rPr>
              <a:t>GATE</a:t>
            </a:r>
          </a:p>
        </p:txBody>
      </p:sp>
      <p:sp>
        <p:nvSpPr>
          <p:cNvPr id="21" name="橢圓 20">
            <a:extLst xmlns:a="http://schemas.openxmlformats.org/drawingml/2006/main">
              <a:ext uri="{FF2B5EF4-FFF2-40B4-BE49-F238E27FC236}">
                <a16:creationId xmlns:a16="http://schemas.microsoft.com/office/drawing/2014/main" id="{ACE70217-E856-4167-9190-7E4943B1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981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9E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E8AB066-C0CD-4D6A-9883-43D021B2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67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85E9671-0666-4E0A-B692-26D737DB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385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Promoted skill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CB70D3E-9E8B-4F65-BF4D-272853FA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7670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Only redacted/hash provenance enters memory.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6515EA5-85E3-4EEB-B2F2-025931B5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476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FAST PATH ELIGIBLE</a:t>
            </a:r>
          </a:p>
        </p:txBody>
      </p:sp>
      <p:sp>
        <p:nvSpPr>
          <p:cNvPr id="26" name="圓角矩形 25">
            <a:extLst xmlns:a="http://schemas.openxmlformats.org/drawingml/2006/main">
              <a:ext uri="{FF2B5EF4-FFF2-40B4-BE49-F238E27FC236}">
                <a16:creationId xmlns:a16="http://schemas.microsoft.com/office/drawing/2014/main" id="{0145634C-B133-47E0-B889-3095E2E0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744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8DF"/>
          </a:solidFill>
          <a:ln xmlns:a="http://schemas.openxmlformats.org/drawingml/2006/main" w="9525">
            <a:solidFill>
              <a:srgbClr val="D7E7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83848F4-06FF-4216-9D90-2F908614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21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19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4E6E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E6E16"/>
                </a:solidFill>
                <a:latin typeface="Aharoni"/>
                <a:ea typeface="Aharoni"/>
                <a:cs typeface="Aharoni"/>
              </a:rPr>
              <a:t>Promotion stays blocked until every evidence gate passes—and network synchronization is completed before runtime, never during the Fast Path.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179E16B-D9F2-44BC-AD84-B71A59D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learning gate, skill store, shared-skill eligibility, and selector-memory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029844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1BC6A78-D4A8-411F-8640-3CAEBD5C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PRODUCT SURFACES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8882892-CB0A-4C27-8CDC-47B11570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One runtime. Four operator surfaces.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FB9B538-11A3-4E42-A611-2A5DDA37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09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6EC6F2-5748-436E-A6D3-BF915735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A Codex-built control plane, not a demo script.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1AED14-A538-4AA6-8E4C-30CF5B6C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D6F20D3-17F3-4515-8910-2A3026F8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574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Desktop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089D25B-37D1-4A62-B583-EEFEAC44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717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Electron/React operator console, approvals, dashboard, release UX.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F7B7FA-2E36-4C24-92E1-CEA8A77C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657B2C8-1AFE-47FC-A911-A8044370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5B9DCE9-6FF9-4E25-8713-A866540B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CLI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7B15EAF-E8EE-46C9-8014-26CD4C52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670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Task execution, inspection, benchmarks, packaging, and operator workflows.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52E562B-4A1E-4801-B33A-963D1084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E60E91C-18C8-4B66-A066-FB0FECEE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2CA4D24-9E91-4A22-BD94-F3AABDC5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MCP server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CC587EA-4756-48B3-9CD7-1736FA10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624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Slow-path and external-agent adapter—explicitly outside Fast Path.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B4BF139-FD5C-4882-983D-5A735F87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2C3839F-1E97-4B6E-8E76-9E500DCE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04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4F92C19-87BC-435A-8102-6DC81AC2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434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Shared skills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48ECBD1-17A6-4C06-8AD7-26FFDFC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577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C374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C3748"/>
                </a:solidFill>
                <a:latin typeface="Aharoni"/>
                <a:ea typeface="Aharoni"/>
                <a:cs typeface="Aharoni"/>
              </a:rPr>
              <a:t>Appwrite-backed control plane with local cache before runtime.</a:t>
            </a:r>
          </a:p>
        </p:txBody>
      </p:sp>
      <p:sp>
        <p:nvSpPr>
          <p:cNvPr id="20" name="圓角矩形 19">
            <a:extLst xmlns:a="http://schemas.openxmlformats.org/drawingml/2006/main">
              <a:ext uri="{FF2B5EF4-FFF2-40B4-BE49-F238E27FC236}">
                <a16:creationId xmlns:a16="http://schemas.microsoft.com/office/drawing/2014/main" id="{F078CFD0-D731-4EB7-8EE6-E0642170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276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71628"/>
          </a:solidFill>
          <a:ln xmlns:a="http://schemas.openxmlformats.org/drawingml/2006/main" w="0">
            <a:solidFill>
              <a:srgbClr val="071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18C2E08-9D24-4855-9419-5A1C7283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102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12 PACKAGES</a:t>
            </a:r>
          </a:p>
        </p:txBody>
      </p:sp>
      <p:sp>
        <p:nvSpPr>
          <p:cNvPr id="22" name="圓角矩形 21">
            <a:extLst xmlns:a="http://schemas.openxmlformats.org/drawingml/2006/main">
              <a:ext uri="{FF2B5EF4-FFF2-40B4-BE49-F238E27FC236}">
                <a16:creationId xmlns:a16="http://schemas.microsoft.com/office/drawing/2014/main" id="{D2B6AE1A-0F05-4F33-BFDD-6F2D9EAD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43600"/>
            <a:ext cx="1028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4F7F9"/>
          </a:solidFill>
          <a:ln xmlns:a="http://schemas.openxmlformats.org/drawingml/2006/main" w="0">
            <a:solidFill>
              <a:srgbClr val="E4F7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9387072-25B0-41B3-9B8F-76A2EEDB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102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68F9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68F9A"/>
                </a:solidFill>
                <a:latin typeface="Aharoni"/>
                <a:ea typeface="Aharoni"/>
                <a:cs typeface="Aharoni"/>
              </a:rPr>
              <a:t>4 APPS</a:t>
            </a:r>
          </a:p>
        </p:txBody>
      </p:sp>
      <p:sp>
        <p:nvSpPr>
          <p:cNvPr id="24" name="圓角矩形 23">
            <a:extLst xmlns:a="http://schemas.openxmlformats.org/drawingml/2006/main">
              <a:ext uri="{FF2B5EF4-FFF2-40B4-BE49-F238E27FC236}">
                <a16:creationId xmlns:a16="http://schemas.microsoft.com/office/drawing/2014/main" id="{E589B95A-D91A-4989-999B-C278CD12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43600"/>
            <a:ext cx="1162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0F8DF"/>
          </a:solidFill>
          <a:ln xmlns:a="http://schemas.openxmlformats.org/drawingml/2006/main" w="0">
            <a:solidFill>
              <a:srgbClr val="F0F8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6053425-F1C8-4D43-8C8B-DC5962CC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102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286 FILES</a:t>
            </a:r>
          </a:p>
        </p:txBody>
      </p:sp>
      <p:sp>
        <p:nvSpPr>
          <p:cNvPr id="26" name="圓角矩形 25">
            <a:extLst xmlns:a="http://schemas.openxmlformats.org/drawingml/2006/main">
              <a:ext uri="{FF2B5EF4-FFF2-40B4-BE49-F238E27FC236}">
                <a16:creationId xmlns:a16="http://schemas.microsoft.com/office/drawing/2014/main" id="{FEACD58A-6802-47F0-BE1B-5F3D3891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09600"/>
            <a:ext cx="5791200" cy="54292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071628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圖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10172abed4c99"/>
          <a:stretch xmlns:a="http://schemas.openxmlformats.org/drawingml/2006/main"/>
        </p:blipFill>
        <p:spPr>
          <a:xfrm xmlns:a="http://schemas.openxmlformats.org/drawingml/2006/main">
            <a:off x="5905500" y="1791891"/>
            <a:ext cx="5448300" cy="3064669"/>
          </a:xfrm>
          <a:prstGeom xmlns:a="http://schemas.openxmlformats.org/drawingml/2006/main" prst="roundRect">
            <a:avLst>
              <a:gd name="adj" fmla="val 2247"/>
            </a:avLst>
          </a:prstGeom>
        </p:spPr>
      </p:pic>
      <p:sp>
        <p:nvSpPr>
          <p:cNvPr id="28" name="圓角矩形 27">
            <a:extLst xmlns:a="http://schemas.openxmlformats.org/drawingml/2006/main">
              <a:ext uri="{FF2B5EF4-FFF2-40B4-BE49-F238E27FC236}">
                <a16:creationId xmlns:a16="http://schemas.microsoft.com/office/drawing/2014/main" id="{F66BB2A6-A112-42C4-920E-DF07175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76300"/>
            <a:ext cx="25336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450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D39DD4E-B954-4B58-9708-DADE5F0F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942975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DESKTOP OPERATOR CONSOLE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A4C7C90-937B-47CC-8EEF-6357B338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Built with OpenAI Codex  •  Source: apps/desktop, apps/cli, apps/mcp-server, shared-skills package, and Appwrite service.</a:t>
            </a:r>
          </a:p>
        </p:txBody>
      </p:sp>
    </p:spTree>
    <p:extLst>
      <p:ext uri="{BB962C8B-B14F-4D97-AF65-F5344CB8AC3E}">
        <p14:creationId xmlns:p14="http://schemas.microsoft.com/office/powerpoint/2010/main" val="11574713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42ADC48-7A8A-4D73-8ECB-0C4AED01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980C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980C6"/>
                </a:solidFill>
                <a:latin typeface="Aharoni"/>
                <a:ea typeface="Aharoni"/>
                <a:cs typeface="Aharoni"/>
              </a:rPr>
              <a:t>MATURITY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A0027DB-F21D-4159-8EC6-01C539FE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71628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71628"/>
                </a:solidFill>
                <a:latin typeface="Aharoni"/>
                <a:ea typeface="Aharoni"/>
                <a:cs typeface="Aharoni"/>
              </a:rPr>
              <a:t>The core path is ahead of external proof and distribution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3454383-19EF-40D0-A1E3-D96E5795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10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3966F45-1A48-46B5-8114-991A0CC9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A useful release conversation distinguishes implemented behavior from integration-ready and gated work.</a:t>
            </a:r>
          </a:p>
        </p:txBody>
      </p:sp>
      <p:graphicFrame>
        <p:nvGraphicFramePr>
          <p:cNvPr id="15" name="表格 12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744200" cy="361949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286000"/>
                <a:gridCol w="5219700"/>
              </a:tblGrid>
              <a:tr h="51707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haroni"/>
                          <a:ea typeface="Aharoni"/>
                          <a:cs typeface="Aharoni"/>
                        </a:rPr>
                        <a:t>Capability</a:t>
                      </a:r>
                    </a:p>
                  </a:txBody>
                  <a:tcPr marL="114300" marR="114300" marT="95250" marB="95250">
                    <a:solidFill>
                      <a:srgbClr val="07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haroni"/>
                          <a:ea typeface="Aharoni"/>
                          <a:cs typeface="Aharoni"/>
                        </a:rPr>
                        <a:t>Assessment</a:t>
                      </a:r>
                    </a:p>
                  </a:txBody>
                  <a:tcPr marL="114300" marR="114300" marT="95250" marB="95250">
                    <a:solidFill>
                      <a:srgbClr val="07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haroni"/>
                          <a:ea typeface="Aharoni"/>
                          <a:cs typeface="Aharoni"/>
                        </a:rPr>
                        <a:t>Evidence / remaining work</a:t>
                      </a:r>
                    </a:p>
                  </a:txBody>
                  <a:tcPr marL="114300" marR="114300" marT="95250" marB="95250">
                    <a:solidFill>
                      <a:srgbClr val="071628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Fast Path browser execution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759E20"/>
                          </a:solidFill>
                          <a:latin typeface="Aharoni"/>
                          <a:ea typeface="Aharoni"/>
                          <a:cs typeface="Aharoni"/>
                        </a:rPr>
                        <a:t>IMPLEMENTED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Direct SDK, policy, verifier, trace, tests</a:t>
                      </a:r>
                    </a:p>
                  </a:txBody>
                  <a:tcPr marL="114300" marR="114300" marT="85725" marB="85725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Security + approvals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759E20"/>
                          </a:solidFill>
                          <a:latin typeface="Aharoni"/>
                          <a:ea typeface="Aharoni"/>
                          <a:cs typeface="Aharoni"/>
                        </a:rPr>
                        <a:t>IMPLEMENTED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Exact-action signing, replay checks, redaction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Desktop control center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980C6"/>
                          </a:solidFill>
                          <a:latin typeface="Aharoni"/>
                          <a:ea typeface="Aharoni"/>
                          <a:cs typeface="Aharoni"/>
                        </a:rPr>
                        <a:t>EVOLVING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Build passes; distribution evidence still gated</a:t>
                      </a:r>
                    </a:p>
                  </a:txBody>
                  <a:tcPr marL="114300" marR="114300" marT="85725" marB="85725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BrowserPool / workflows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980C6"/>
                          </a:solidFill>
                          <a:latin typeface="Aharoni"/>
                          <a:ea typeface="Aharoni"/>
                          <a:cs typeface="Aharoni"/>
                        </a:rPr>
                        <a:t>INTEGRATION-READY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Caller owns lifecycle, workers, secrets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External benchmark publication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69A37"/>
                          </a:solidFill>
                          <a:latin typeface="Aharoni"/>
                          <a:ea typeface="Aharoni"/>
                          <a:cs typeface="Aharoni"/>
                        </a:rPr>
                        <a:t>GATED</a:t>
                      </a:r>
                    </a:p>
                  </a:txBody>
                  <a:tcPr marL="114300" marR="114300" marT="85725" marB="857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No eligible public submission result</a:t>
                      </a:r>
                    </a:p>
                  </a:txBody>
                  <a:tcPr marL="114300" marR="114300" marT="85725" marB="85725"/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Screenshot/custom verifiers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69A37"/>
                          </a:solidFill>
                          <a:latin typeface="Aharoni"/>
                          <a:ea typeface="Aharoni"/>
                          <a:cs typeface="Aharoni"/>
                        </a:rPr>
                        <a:t>KNOWN GAP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748"/>
                          </a:solidFill>
                          <a:latin typeface="Aharoni"/>
                          <a:ea typeface="Aharoni"/>
                          <a:cs typeface="Aharoni"/>
                        </a:rPr>
                        <a:t>Not available in verifier v0</a:t>
                      </a:r>
                    </a:p>
                  </a:txBody>
                  <a:tcPr marL="114300" marR="114300" marT="85725" marB="85725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圓角矩形 5">
            <a:extLst xmlns:a="http://schemas.openxmlformats.org/drawingml/2006/main">
              <a:ext uri="{FF2B5EF4-FFF2-40B4-BE49-F238E27FC236}">
                <a16:creationId xmlns:a16="http://schemas.microsoft.com/office/drawing/2014/main" id="{DA090BA1-4656-46CF-9D0F-3CB5F55C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9C2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A7881C3-7281-4D96-B24D-699A9C31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88551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85513"/>
                </a:solidFill>
                <a:latin typeface="Aharoni"/>
                <a:ea typeface="Aharoni"/>
                <a:cs typeface="Aharoni"/>
              </a:rPr>
              <a:t>Release truth is split: npm latest 0.1.1; local docs describe 0.1.2 CLI RC and desktop 0.1.4 development build.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6740C3A-9CC6-40E6-A245-22CF3C9A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haroni"/>
                <a:ea typeface="Aharoni"/>
                <a:cs typeface="Aharoni"/>
              </a:rPr>
              <a:t>Source: local source/tests, release-status and production-readiness docs; npm registry metadata observed 20 Jul 2026.</a:t>
            </a:r>
          </a:p>
        </p:txBody>
      </p:sp>
    </p:spTree>
    <p:extLst>
      <p:ext uri="{BB962C8B-B14F-4D97-AF65-F5344CB8AC3E}">
        <p14:creationId xmlns:p14="http://schemas.microsoft.com/office/powerpoint/2010/main" val="17212775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6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E9C49E6-238F-48B0-8DBA-A70ACD5D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7"/>
          </a:solidFill>
          <a:ln xmlns:a="http://schemas.openxmlformats.org/drawingml/2006/main" w="0">
            <a:solidFill>
              <a:srgbClr val="22C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42C136C-C034-48F2-81D8-BD848ADC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THE POSITION TO OWN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EE0D2D0-4D13-4DD9-9A72-45F2C460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5429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Local execution</a:t>
            </a:r>
          </a:p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with proof.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9791EA-D854-492E-A6BB-29370CF3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238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BECCD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BECCDE"/>
                </a:solidFill>
                <a:latin typeface="Aharoni"/>
                <a:ea typeface="Aharoni"/>
                <a:cs typeface="Aharoni"/>
              </a:rPr>
              <a:t>LHIC is strongest as a Codex-built execution substrate—where policy, human authority, deterministic automation, verification, and audit evidence decide what actually happened.</a:t>
            </a:r>
          </a:p>
        </p:txBody>
      </p:sp>
      <p:sp>
        <p:nvSpPr>
          <p:cNvPr id="5" name="圓角矩形 4">
            <a:extLst xmlns:a="http://schemas.openxmlformats.org/drawingml/2006/main">
              <a:ext uri="{FF2B5EF4-FFF2-40B4-BE49-F238E27FC236}">
                <a16:creationId xmlns:a16="http://schemas.microsoft.com/office/drawing/2014/main" id="{D0E25745-F9E2-4E9C-B89D-15F88F2F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3716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D3150"/>
          </a:solidFill>
          <a:ln xmlns:a="http://schemas.openxmlformats.org/drawingml/2006/main" w="9525">
            <a:solidFill>
              <a:srgbClr val="4F638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A3C6DAD-3FF1-4279-B647-5C060C0F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B7C6D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7C6D8"/>
                </a:solidFill>
                <a:latin typeface="Aharoni"/>
                <a:ea typeface="Aharoni"/>
                <a:cs typeface="Aharoni"/>
              </a:rPr>
              <a:t>OPENAI CODEX BUILD</a:t>
            </a:r>
          </a:p>
        </p:txBody>
      </p:sp>
      <p:sp>
        <p:nvSpPr>
          <p:cNvPr id="7" name="圓角矩形 6">
            <a:extLst xmlns:a="http://schemas.openxmlformats.org/drawingml/2006/main">
              <a:ext uri="{FF2B5EF4-FFF2-40B4-BE49-F238E27FC236}">
                <a16:creationId xmlns:a16="http://schemas.microsoft.com/office/drawing/2014/main" id="{C9E81147-B7BF-4E44-A394-9AC736F6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43500"/>
            <a:ext cx="2324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0F8DF"/>
          </a:solidFill>
          <a:ln xmlns:a="http://schemas.openxmlformats.org/drawingml/2006/main" w="0">
            <a:solidFill>
              <a:srgbClr val="F0F8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1439330-847F-4A7E-BA75-9D56B2E4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01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759E2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59E20"/>
                </a:solidFill>
                <a:latin typeface="Aharoni"/>
                <a:ea typeface="Aharoni"/>
                <a:cs typeface="Aharoni"/>
              </a:rPr>
              <a:t>STRONG INTERNAL INVARIANTS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6FD122-AC85-42B6-B1DB-683EE9E7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6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9F34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34A"/>
                </a:solidFill>
                <a:latin typeface="Aharoni"/>
                <a:ea typeface="Aharoni"/>
                <a:cs typeface="Aharoni"/>
              </a:rPr>
              <a:t>NEXT 90 DAYS</a:t>
            </a:r>
          </a:p>
        </p:txBody>
      </p:sp>
      <p:sp>
        <p:nvSpPr>
          <p:cNvPr id="10" name="圓角矩形 9">
            <a:extLst xmlns:a="http://schemas.openxmlformats.org/drawingml/2006/main">
              <a:ext uri="{FF2B5EF4-FFF2-40B4-BE49-F238E27FC236}">
                <a16:creationId xmlns:a16="http://schemas.microsoft.com/office/drawing/2014/main" id="{B53E6978-E094-4DD2-91A0-E3885D94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33500"/>
            <a:ext cx="4838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340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0361440-C9BA-447D-A36E-02E59074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71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01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2A4078D-D80C-488E-9E66-3CE2EAF1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430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External evaluation pack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618B6E7-D1E3-499D-BFB6-BA039EA8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240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Pinned BrowserGym/WorkArena harness, traces, and failure taxonomy.</a:t>
            </a:r>
          </a:p>
        </p:txBody>
      </p:sp>
      <p:sp>
        <p:nvSpPr>
          <p:cNvPr id="14" name="圓角矩形 13">
            <a:extLst xmlns:a="http://schemas.openxmlformats.org/drawingml/2006/main">
              <a:ext uri="{FF2B5EF4-FFF2-40B4-BE49-F238E27FC236}">
                <a16:creationId xmlns:a16="http://schemas.microsoft.com/office/drawing/2014/main" id="{B10A04B4-2606-44ED-B388-6F7C775E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4838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340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3805F92-28FB-49B1-A830-568F6B33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02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62935A8-99BB-4FCA-B4EB-ADFB1A1B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718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Verifier challenge set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5469259-68F3-4813-9099-1FA31ABF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528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False-positive and false-negative tests by postcondition family.</a:t>
            </a:r>
          </a:p>
        </p:txBody>
      </p:sp>
      <p:sp>
        <p:nvSpPr>
          <p:cNvPr id="18" name="圓角矩形 17">
            <a:extLst xmlns:a="http://schemas.openxmlformats.org/drawingml/2006/main">
              <a:ext uri="{FF2B5EF4-FFF2-40B4-BE49-F238E27FC236}">
                <a16:creationId xmlns:a16="http://schemas.microsoft.com/office/drawing/2014/main" id="{52BE5E79-7116-49CC-9B0E-5873E949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838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340"/>
          </a:solidFill>
          <a:ln xmlns:a="http://schemas.openxmlformats.org/drawingml/2006/main" w="9525">
            <a:solidFill>
              <a:srgbClr val="2940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710B0CE-F0B9-4351-9FA1-0D5B96BA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291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2C7D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2C7D7"/>
                </a:solidFill>
                <a:latin typeface="Aharoni"/>
                <a:ea typeface="Aharoni"/>
                <a:cs typeface="Aharoni"/>
              </a:rPr>
              <a:t>03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337FE32-8FF4-4717-ABD2-42CE06A0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005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haroni"/>
                <a:ea typeface="Aharoni"/>
                <a:cs typeface="Aharoni"/>
              </a:rPr>
              <a:t>Harmonized release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68958A0-954E-4095-8FF0-C6CA1532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815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A9B9C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9B9CD"/>
                </a:solidFill>
                <a:latin typeface="Aharoni"/>
                <a:ea typeface="Aharoni"/>
                <a:cs typeface="Aharoni"/>
              </a:rPr>
              <a:t>One version matrix plus signed/notarized desktop evidence.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D4071FC-2FD8-486D-9D96-96CF63DD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F94A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F94AD"/>
                </a:solidFill>
                <a:latin typeface="Aharoni"/>
                <a:ea typeface="Aharoni"/>
                <a:cs typeface="Aharoni"/>
              </a:rPr>
              <a:t>OpenAI Build Week artifact  •  current working tree  •  20 July 2026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1397112-5658-4CB4-89F7-B97824A9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7F94A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F94AD"/>
                </a:solidFill>
                <a:latin typeface="Aharoni"/>
                <a:ea typeface="Aharoni"/>
                <a:cs typeface="Aharon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1025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2026-07-21T19:09:53.1100000Z</dcterms:created>
  <dcterms:modified xsi:type="dcterms:W3CDTF">2026-07-21T19:09:53.1100000Z</dcterms:modified>
</coreProperties>
</file>