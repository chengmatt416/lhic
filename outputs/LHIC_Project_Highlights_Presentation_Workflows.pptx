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1"/>
  </p:normalViewPr>
  <p:slideViewPr>
    <p:cSldViewPr snapToGrid="0">
      <p:cViewPr>
        <p:scale>
          <a:sx n="85" d="100"/>
          <a:sy n="85" d="100"/>
        </p:scale>
        <p:origin x="1416" y="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Controlled task success</c:v>
          </c:tx>
          <c:spPr>
            <a:solidFill>
              <a:srgbClr val="FF9300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55A-D643-9EF8-8873AE775AD6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330" b="1" i="0" u="none">
                    <a:solidFill>
                      <a:schemeClr val="lt1"/>
                    </a:solidFill>
                    <a:latin typeface="+mn-lt"/>
                    <a:ea typeface="+mn-lt"/>
                    <a:cs typeface="+mn-lt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Semantic target</c:v>
              </c:pt>
              <c:pt idx="1">
                <c:v>Static selector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20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55A-D643-9EF8-8873AE775AD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spcFirstLastPara="1" vert="horz" wrap="square" anchor="ctr" anchorCtr="1"/>
          <a:lstStyle/>
          <a:p>
            <a:pPr>
              <a:defRPr sz="1197" b="0" i="0" u="none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zero"/>
    <c:showDLblsOverMax val="1"/>
  </c:chart>
  <c:spPr>
    <a:gradFill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mpd="sng">
      <a:solidFill>
        <a:schemeClr val="dk1">
          <a:lumMod val="15000"/>
          <a:lumOff val="85000"/>
        </a:schemeClr>
      </a:solidFill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0:00–0:10 — Hi, I’m presenting LHIC: Local Human Intent Controller. It turns intent into typed local actions, explicit proof, and redacted traces.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0:10–0:17 — This is controlled local evidence, not a market or SOTA claim. I’ll show what the current checkout can prove repeatably.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dirty="0"/>
              <a:t>0:17–0:32 — Core thesis: intelligence can propose, but LHIC decides what happened. Success is not a click; it is a declared postcondition backed by verifier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0:32–0:47 — Fast Path handles routine browser work deterministically through Playwright, DOM, accessibility, and keyboard. No model, no MCP, and no raw browser coordinates.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0:47–1:02 — Slow Path is bounded model help. Requests are redacted, proposals must be strict JSON, and local checks decide policy, approval, execution, and success.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1:02–1:16 — High-risk and native desktop actions require exact human approval. The approval is hashed, signed, time-limited, context-checked, and consumed once.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1:16–1:29 — The architecture is a typed loop: sense, plan, act, prove, trace. Ambiguity fails closed, and learning only starts after proof.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1:29–1:42 — Four engineering choices define LHIC: verifier-first execution, exact human authority, semantic resilience, and evidence-gated learning, all supported by hardened traces.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1:42–1:56 — The local evidence suite passed: 341 tests, 300 executions, 774 millisecond P95 latency, and zero model or MCP calls on Fast Path tasks.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dirty="0"/>
              <a:t>1:56–2:08 — The selector ablation is a regression signal: semantic targeting survived at 100%, while the intentionally limited static route reached 20%.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2:08–2:22 — Safety lives in the execution layer. Network guards, exact authority, mandatory verifiers, and redacted traces keep optional models from expanding power.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2:22–2:34 — Skill memory is earned. LHIC requires verified runs, three independent task IDs, an unseen-UI holdout, and redacted provenance before promotion.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2:34–2:45 — The runtime has four operator surfaces: desktop, CLI, MCP server, and shared skills. It is broader than a single scripted demo.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2:45–2:55 — Maturity is transparent: Fast Path and approvals are implemented; distribution evidence, external benchmarks, and screenshot/custom verifiers are still gated. 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2:55–3:00 — The position to own is local execution with proof. Next: external evaluation, verifier challenge sets, and a harmonized signed release.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1008FFD-9F24-40AD-BC0C-CF706D53C1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D39426-A49B-48EF-9B9D-43A8D7A171B4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8F129D-6CDD-4B23-ADE3-1DCE4DE7D40D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LHIC  /  PROJECT HIGHLIGHTS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BDCD02-B39F-43BE-8D79-E28670857FC3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4953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44"/>
          </a:bodyPr>
          <a:lstStyle/>
          <a:p>
            <a:pPr algn="l">
              <a:buNone/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Local execution.</a:t>
            </a:r>
          </a:p>
          <a:p>
            <a:pPr algn="l">
              <a:buNone/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Verifiable outcomes.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546CE4-EC70-4D38-B68B-6ECDE3B85B20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476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0" i="0">
                <a:solidFill>
                  <a:srgbClr val="BECCD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ECCDE"/>
                </a:solidFill>
                <a:latin typeface="Aharoni"/>
                <a:ea typeface="Aharoni"/>
                <a:cs typeface="Aharoni"/>
              </a:rPr>
              <a:t>Local Human Intent Controller turns intent into typed actions, local automation, explicit proof, and redacted traces.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3B6A00C-C5AB-4031-A73C-B8827CA8089E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82880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0">
            <a:solidFill>
              <a:srgbClr val="F0F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9B86F3-0EAE-4E75-AF0A-7735EB0CCDDD}"/>
              </a:ext>
            </a:extLst>
          </p:cNvPr>
          <p:cNvSpPr>
            <a:spLocks noGrp="1"/>
          </p:cNvSpPr>
          <p:nvPr/>
        </p:nvSpPr>
        <p:spPr>
          <a:xfrm>
            <a:off x="781050" y="5114925"/>
            <a:ext cx="1638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MODEL-FREE FAST PATH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5EA814A-0AA9-4FCA-9F6B-C67FEC22207E}"/>
              </a:ext>
            </a:extLst>
          </p:cNvPr>
          <p:cNvSpPr>
            <a:spLocks noGrp="1"/>
          </p:cNvSpPr>
          <p:nvPr/>
        </p:nvSpPr>
        <p:spPr>
          <a:xfrm>
            <a:off x="2628900" y="5048250"/>
            <a:ext cx="1466850" cy="304800"/>
          </a:xfrm>
          <a:prstGeom prst="roundRect">
            <a:avLst>
              <a:gd name="adj" fmla="val 37500"/>
            </a:avLst>
          </a:prstGeom>
          <a:solidFill>
            <a:srgbClr val="E4F7F9"/>
          </a:solidFill>
          <a:ln w="0">
            <a:solidFill>
              <a:srgbClr val="E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FFAB76-54DB-4704-96DC-F4028D0C874A}"/>
              </a:ext>
            </a:extLst>
          </p:cNvPr>
          <p:cNvSpPr>
            <a:spLocks noGrp="1"/>
          </p:cNvSpPr>
          <p:nvPr/>
        </p:nvSpPr>
        <p:spPr>
          <a:xfrm>
            <a:off x="2724150" y="511492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F9A"/>
                </a:solidFill>
                <a:latin typeface="Aharoni"/>
                <a:ea typeface="Aharoni"/>
                <a:cs typeface="Aharoni"/>
              </a:rPr>
              <a:t>VERIFIER-FIRST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EE967B4F-8338-4B7D-8F50-39B399AEC3EC}"/>
              </a:ext>
            </a:extLst>
          </p:cNvPr>
          <p:cNvSpPr>
            <a:spLocks noGrp="1"/>
          </p:cNvSpPr>
          <p:nvPr/>
        </p:nvSpPr>
        <p:spPr>
          <a:xfrm>
            <a:off x="4210050" y="5048250"/>
            <a:ext cx="1562100" cy="304800"/>
          </a:xfrm>
          <a:prstGeom prst="roundRect">
            <a:avLst>
              <a:gd name="adj" fmla="val 37500"/>
            </a:avLst>
          </a:prstGeom>
          <a:solidFill>
            <a:srgbClr val="1D3150"/>
          </a:solidFill>
          <a:ln w="9525">
            <a:solidFill>
              <a:srgbClr val="4F63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5DD948-3E47-48C8-8357-9040B9D60E36}"/>
              </a:ext>
            </a:extLst>
          </p:cNvPr>
          <p:cNvSpPr>
            <a:spLocks noGrp="1"/>
          </p:cNvSpPr>
          <p:nvPr/>
        </p:nvSpPr>
        <p:spPr>
          <a:xfrm>
            <a:off x="4305300" y="5114925"/>
            <a:ext cx="1371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HUMAN AUTHORITY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A638E6-0EE2-4B6F-84AB-2D24DFB42382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A3BC"/>
                </a:solidFill>
                <a:latin typeface="Aharoni"/>
                <a:ea typeface="Aharoni"/>
                <a:cs typeface="Aharoni"/>
              </a:rPr>
              <a:t>Technical &amp; product briefing  •  20 July 2026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9B78E762-7688-4D12-911F-0BB258164A35}"/>
              </a:ext>
            </a:extLst>
          </p:cNvPr>
          <p:cNvSpPr>
            <a:spLocks noGrp="1"/>
          </p:cNvSpPr>
          <p:nvPr/>
        </p:nvSpPr>
        <p:spPr>
          <a:xfrm>
            <a:off x="5981700" y="704850"/>
            <a:ext cx="5600700" cy="5200650"/>
          </a:xfrm>
          <a:prstGeom prst="roundRect">
            <a:avLst>
              <a:gd name="adj" fmla="val 2930"/>
            </a:avLst>
          </a:prstGeom>
          <a:solidFill>
            <a:srgbClr val="0C203A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D17F4056-DCAF-4332-97AA-FA52EC2B006E}"/>
              </a:ext>
            </a:extLst>
          </p:cNvPr>
          <p:cNvSpPr>
            <a:spLocks noGrp="1"/>
          </p:cNvSpPr>
          <p:nvPr/>
        </p:nvSpPr>
        <p:spPr>
          <a:xfrm>
            <a:off x="9277350" y="933450"/>
            <a:ext cx="1962150" cy="304800"/>
          </a:xfrm>
          <a:prstGeom prst="roundRect">
            <a:avLst>
              <a:gd name="adj" fmla="val 37500"/>
            </a:avLst>
          </a:prstGeom>
          <a:solidFill>
            <a:srgbClr val="0B1B31"/>
          </a:solidFill>
          <a:ln w="9525">
            <a:solidFill>
              <a:srgbClr val="65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AFE140-B4D6-4C8F-88F9-47F32D6EC7DA}"/>
              </a:ext>
            </a:extLst>
          </p:cNvPr>
          <p:cNvSpPr>
            <a:spLocks noGrp="1"/>
          </p:cNvSpPr>
          <p:nvPr/>
        </p:nvSpPr>
        <p:spPr>
          <a:xfrm>
            <a:off x="9372600" y="1000125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CONTROLLED LOCAL DEMO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5BA9FB-800D-4B43-8039-15EE10BF35D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A3BC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9" name="投影片縮放 18">
                <a:extLst>
                  <a:ext uri="{FF2B5EF4-FFF2-40B4-BE49-F238E27FC236}">
                    <a16:creationId xmlns:a16="http://schemas.microsoft.com/office/drawing/2014/main" id="{D516884D-C388-255C-4308-E5CDB43D03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6015495"/>
                  </p:ext>
                </p:extLst>
              </p:nvPr>
            </p:nvGraphicFramePr>
            <p:xfrm>
              <a:off x="6287559" y="2187794"/>
              <a:ext cx="5166418" cy="2906110"/>
            </p:xfrm>
            <a:graphic>
              <a:graphicData uri="http://schemas.microsoft.com/office/powerpoint/2016/slidezoom">
                <pslz:sldZm>
                  <pslz:sldZmObj sldId="257" cId="710745928">
                    <pslz:zmPr id="{29DF2676-EFEF-0641-A8F2-9BEBACBACFE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166418" cy="290611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9" name="投影片縮放 18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D516884D-C388-255C-4308-E5CDB43D03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87559" y="2187794"/>
                <a:ext cx="5166418" cy="290611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437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A1DB081-76FA-E8D4-84A2-A4969EEBA6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588A11-93CE-5617-FE97-DF38CDB64B40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圖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204" y="471487"/>
            <a:ext cx="11075549" cy="6229997"/>
          </a:xfrm>
          <a:prstGeom prst="roundRect">
            <a:avLst>
              <a:gd name="adj" fmla="val 0"/>
            </a:avLst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A8B1883-F680-92FE-8642-A224F40E366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A3BC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0745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52108FD-9B64-4BE6-8724-5506C3030E7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CORE 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37FD5A-2300-43FC-A271-D8A01DD14F3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Intelligence can propose. LHIC decides what happened.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13EAD-7F53-42BB-A200-00B5FF77724D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1BF1E6-807E-4DA2-B29F-B432B38DFFA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The execution boundary is the product.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50D2D9-CD95-4EC5-8E05-6A7E41363EB1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47625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Routine work stays local and deterministic. Ambiguous work may use a model, but every proposal is revalidated. High-risk or global work returns authority to the human.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43D4026F-C677-48E4-AC48-5D9EFE578EC6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4762500" cy="1028700"/>
          </a:xfrm>
          <a:prstGeom prst="roundRect">
            <a:avLst>
              <a:gd name="adj" fmla="val 11111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9BE987-ED5C-4C79-AD9D-EB80C87AC211}"/>
              </a:ext>
            </a:extLst>
          </p:cNvPr>
          <p:cNvSpPr>
            <a:spLocks noGrp="1"/>
          </p:cNvSpPr>
          <p:nvPr/>
        </p:nvSpPr>
        <p:spPr>
          <a:xfrm>
            <a:off x="876300" y="48768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SUCCESS ≠ “THE CLICK RAN”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4706EB-C046-4D11-8F66-4C4D685C0319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84"/>
          </a:bodyPr>
          <a:lstStyle/>
          <a:p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Success is a declared postcondition with verifier evidence and a redacted trace.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E0CAF698-94F0-4780-A76E-3723F5DBDB67}"/>
              </a:ext>
            </a:extLst>
          </p:cNvPr>
          <p:cNvSpPr>
            <a:spLocks noGrp="1"/>
          </p:cNvSpPr>
          <p:nvPr/>
        </p:nvSpPr>
        <p:spPr>
          <a:xfrm>
            <a:off x="5981700" y="15811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EB593289-FDB6-4EA7-B4E0-220E30E11D14}"/>
              </a:ext>
            </a:extLst>
          </p:cNvPr>
          <p:cNvSpPr>
            <a:spLocks noGrp="1"/>
          </p:cNvSpPr>
          <p:nvPr/>
        </p:nvSpPr>
        <p:spPr>
          <a:xfrm>
            <a:off x="5981700" y="1581150"/>
            <a:ext cx="95250" cy="1257300"/>
          </a:xfrm>
          <a:prstGeom prst="roundRect">
            <a:avLst>
              <a:gd name="adj" fmla="val 50000"/>
            </a:avLst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5C972D-75A0-4A17-BD79-3A5799823724}"/>
              </a:ext>
            </a:extLst>
          </p:cNvPr>
          <p:cNvSpPr>
            <a:spLocks noGrp="1"/>
          </p:cNvSpPr>
          <p:nvPr/>
        </p:nvSpPr>
        <p:spPr>
          <a:xfrm>
            <a:off x="6248400" y="177165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Fast Path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2E8BEE-4831-40C3-9971-3FDDD2CCDE83}"/>
              </a:ext>
            </a:extLst>
          </p:cNvPr>
          <p:cNvSpPr>
            <a:spLocks noGrp="1"/>
          </p:cNvSpPr>
          <p:nvPr/>
        </p:nvSpPr>
        <p:spPr>
          <a:xfrm>
            <a:off x="6248400" y="210502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LOCAL / DETERMINISTIC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733397-591A-49C4-A4F8-AC419E7E0E12}"/>
              </a:ext>
            </a:extLst>
          </p:cNvPr>
          <p:cNvSpPr>
            <a:spLocks noGrp="1"/>
          </p:cNvSpPr>
          <p:nvPr/>
        </p:nvSpPr>
        <p:spPr>
          <a:xfrm>
            <a:off x="6248400" y="236220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Playwright + DOM + accessibility. No LLM. No MCP. No browser coordinates.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32043521-7FA3-466F-A80E-0C16EAA051B6}"/>
              </a:ext>
            </a:extLst>
          </p:cNvPr>
          <p:cNvSpPr>
            <a:spLocks noGrp="1"/>
          </p:cNvSpPr>
          <p:nvPr/>
        </p:nvSpPr>
        <p:spPr>
          <a:xfrm>
            <a:off x="5981700" y="30099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6D4528D3-76DC-4048-85CE-DD18D0D2B76E}"/>
              </a:ext>
            </a:extLst>
          </p:cNvPr>
          <p:cNvSpPr>
            <a:spLocks noGrp="1"/>
          </p:cNvSpPr>
          <p:nvPr/>
        </p:nvSpPr>
        <p:spPr>
          <a:xfrm>
            <a:off x="5981700" y="3009900"/>
            <a:ext cx="95250" cy="1257300"/>
          </a:xfrm>
          <a:prstGeom prst="roundRect">
            <a:avLst>
              <a:gd name="adj" fmla="val 50000"/>
            </a:avLst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2CCD6D-1E0F-4452-B401-B1DC28C14B57}"/>
              </a:ext>
            </a:extLst>
          </p:cNvPr>
          <p:cNvSpPr>
            <a:spLocks noGrp="1"/>
          </p:cNvSpPr>
          <p:nvPr/>
        </p:nvSpPr>
        <p:spPr>
          <a:xfrm>
            <a:off x="6248400" y="32004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Slow Path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621CDF-B3DE-4623-8BB7-B863F8D6342C}"/>
              </a:ext>
            </a:extLst>
          </p:cNvPr>
          <p:cNvSpPr>
            <a:spLocks noGrp="1"/>
          </p:cNvSpPr>
          <p:nvPr/>
        </p:nvSpPr>
        <p:spPr>
          <a:xfrm>
            <a:off x="6248400" y="353377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OPTIONAL / BOUNDED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39C126-6DF6-47DB-BD8E-D718CA2BD7F6}"/>
              </a:ext>
            </a:extLst>
          </p:cNvPr>
          <p:cNvSpPr>
            <a:spLocks noGrp="1"/>
          </p:cNvSpPr>
          <p:nvPr/>
        </p:nvSpPr>
        <p:spPr>
          <a:xfrm>
            <a:off x="6248400" y="379095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Strict structured plan, redacted request, 30-second timeout, full schema and policy checks.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54719C48-CA82-4178-8D5C-BDF195F9C608}"/>
              </a:ext>
            </a:extLst>
          </p:cNvPr>
          <p:cNvSpPr>
            <a:spLocks noGrp="1"/>
          </p:cNvSpPr>
          <p:nvPr/>
        </p:nvSpPr>
        <p:spPr>
          <a:xfrm>
            <a:off x="5981700" y="44386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FAC4412F-40A4-49F0-AEDB-AC8C676B270C}"/>
              </a:ext>
            </a:extLst>
          </p:cNvPr>
          <p:cNvSpPr>
            <a:spLocks noGrp="1"/>
          </p:cNvSpPr>
          <p:nvPr/>
        </p:nvSpPr>
        <p:spPr>
          <a:xfrm>
            <a:off x="5981700" y="4438650"/>
            <a:ext cx="95250" cy="1257300"/>
          </a:xfrm>
          <a:prstGeom prst="roundRect">
            <a:avLst>
              <a:gd name="adj" fmla="val 50000"/>
            </a:avLst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91E7ED-C398-4AF5-9116-A81C8F39F840}"/>
              </a:ext>
            </a:extLst>
          </p:cNvPr>
          <p:cNvSpPr>
            <a:spLocks noGrp="1"/>
          </p:cNvSpPr>
          <p:nvPr/>
        </p:nvSpPr>
        <p:spPr>
          <a:xfrm>
            <a:off x="6248400" y="462915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Human authority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B0FA956-EE8F-4D71-BBE5-4A9481F1E6A7}"/>
              </a:ext>
            </a:extLst>
          </p:cNvPr>
          <p:cNvSpPr>
            <a:spLocks noGrp="1"/>
          </p:cNvSpPr>
          <p:nvPr/>
        </p:nvSpPr>
        <p:spPr>
          <a:xfrm>
            <a:off x="6248400" y="496252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EXACT-ACTION APPROVAL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7E9FF0-277E-4CD7-8B57-06468CEE4BE8}"/>
              </a:ext>
            </a:extLst>
          </p:cNvPr>
          <p:cNvSpPr>
            <a:spLocks noGrp="1"/>
          </p:cNvSpPr>
          <p:nvPr/>
        </p:nvSpPr>
        <p:spPr>
          <a:xfrm>
            <a:off x="6248400" y="521970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Required for high/unknown risk and every native desktop action; pre/post window and process proof.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E3C9D0-BFDE-4639-BC1D-EBE7C6B4A8B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repository architecture, routing profiles, OpenAI planner, and global-control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238906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6004B3F-36D6-B72D-51E0-AA200FE324C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FAST PATH WORKFLOW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3EFD69-8D51-7959-7760-D050AA16EF6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Fast Path: deterministic browser workflow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F4AC0-07A5-C847-9F2D-87D03DB12C9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75BDAF-B625-7881-09CB-D6925025689A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25408E3D-8B62-02E5-EC9D-7AB11B6DBC8A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6776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1BE82AB-0741-3419-43F0-5F23925DE64E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95250" cy="1257300"/>
          </a:xfrm>
          <a:prstGeom prst="roundRect">
            <a:avLst>
              <a:gd name="adj" fmla="val 50000"/>
            </a:avLst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569552-A218-ADC5-B430-F4FAEDDC2D0E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71628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Fast Path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D96F6E-F897-99C3-6627-2460AF98CABD}"/>
              </a:ext>
            </a:extLst>
          </p:cNvPr>
          <p:cNvSpPr>
            <a:spLocks noGrp="1"/>
          </p:cNvSpPr>
          <p:nvPr/>
        </p:nvSpPr>
        <p:spPr>
          <a:xfrm>
            <a:off x="781050" y="178117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22C7D7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LOCAL / DETERMINISTIC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07EA7E-9B8B-E8DF-9AA6-93BC43439FFF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470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Playwright + DOM/AX + keyboard. No LLM. No MCP. No browser coordinates.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BAD4C6-BD2F-7636-5EE2-71F136E1DA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Semantic browser work stays local, deterministic, and evidence-backed.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8DDF56E-CE24-418C-9604-18405018B9C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1097280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FULL WORKFLOW  /  NO MODEL OR MCP IN THE LOOP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F50332B8-549D-4338-95B6-8D14B5F8FAD1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73CBEB-9DF7-47A7-8333-E2948FF566AE}"/>
              </a:ext>
            </a:extLst>
          </p:cNvPr>
          <p:cNvSpPr>
            <a:spLocks noGrp="1"/>
          </p:cNvSpPr>
          <p:nvPr/>
        </p:nvSpPr>
        <p:spPr>
          <a:xfrm>
            <a:off x="723900" y="319087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75FFB8-0B46-4E3C-BA0E-D3B27B6F816C}"/>
              </a:ext>
            </a:extLst>
          </p:cNvPr>
          <p:cNvSpPr>
            <a:spLocks noGrp="1"/>
          </p:cNvSpPr>
          <p:nvPr/>
        </p:nvSpPr>
        <p:spPr>
          <a:xfrm>
            <a:off x="723900" y="336232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INTENT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BF7B714-A348-4B35-BDBB-AE637AB858DB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Natural-language goal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0A375D3-9CFC-4DD2-A4EF-DF44FAD7DCC7}"/>
              </a:ext>
            </a:extLst>
          </p:cNvPr>
          <p:cNvSpPr>
            <a:spLocks noGrp="1"/>
          </p:cNvSpPr>
          <p:nvPr/>
        </p:nvSpPr>
        <p:spPr>
          <a:xfrm>
            <a:off x="2295525" y="3314700"/>
            <a:ext cx="76200" cy="28575"/>
          </a:xfrm>
          <a:prstGeom prst="rect">
            <a:avLst/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547EFDF-E041-475B-95B9-A1BD8ECC99BE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765A35F6-0CE9-4E0F-B3F0-B737A5BBA8D0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3B00876-E1FA-4928-8387-E0CC65E947F2}"/>
              </a:ext>
            </a:extLst>
          </p:cNvPr>
          <p:cNvSpPr>
            <a:spLocks noGrp="1"/>
          </p:cNvSpPr>
          <p:nvPr/>
        </p:nvSpPr>
        <p:spPr>
          <a:xfrm>
            <a:off x="2514600" y="319087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C715F92-F291-499A-AC9C-E50F2D7676FD}"/>
              </a:ext>
            </a:extLst>
          </p:cNvPr>
          <p:cNvSpPr>
            <a:spLocks noGrp="1"/>
          </p:cNvSpPr>
          <p:nvPr/>
        </p:nvSpPr>
        <p:spPr>
          <a:xfrm>
            <a:off x="2514600" y="336232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OBSERVE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65B033E-ED83-43AC-BBBB-ABEFAE78DE01}"/>
              </a:ext>
            </a:extLst>
          </p:cNvPr>
          <p:cNvSpPr>
            <a:spLocks noGrp="1"/>
          </p:cNvSpPr>
          <p:nvPr/>
        </p:nvSpPr>
        <p:spPr>
          <a:xfrm>
            <a:off x="2514600" y="360045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DOM + accessibility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21DE6EC-F660-4A5B-9792-82F6EDE3BAF6}"/>
              </a:ext>
            </a:extLst>
          </p:cNvPr>
          <p:cNvSpPr>
            <a:spLocks noGrp="1"/>
          </p:cNvSpPr>
          <p:nvPr/>
        </p:nvSpPr>
        <p:spPr>
          <a:xfrm>
            <a:off x="4086225" y="3314700"/>
            <a:ext cx="76200" cy="28575"/>
          </a:xfrm>
          <a:prstGeom prst="rect">
            <a:avLst/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7666D24-04D1-4A36-802C-661F6491F3FA}"/>
              </a:ext>
            </a:extLst>
          </p:cNvPr>
          <p:cNvSpPr>
            <a:spLocks noGrp="1"/>
          </p:cNvSpPr>
          <p:nvPr/>
        </p:nvSpPr>
        <p:spPr>
          <a:xfrm>
            <a:off x="4076700" y="314325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DA05D8A7-2E23-4EC5-AA4B-E9CB6F3DED1D}"/>
              </a:ext>
            </a:extLst>
          </p:cNvPr>
          <p:cNvSpPr>
            <a:spLocks noGrp="1"/>
          </p:cNvSpPr>
          <p:nvPr/>
        </p:nvSpPr>
        <p:spPr>
          <a:xfrm>
            <a:off x="4191000" y="309562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C57C02F-4173-41B8-88DB-41ABB53C3EA9}"/>
              </a:ext>
            </a:extLst>
          </p:cNvPr>
          <p:cNvSpPr>
            <a:spLocks noGrp="1"/>
          </p:cNvSpPr>
          <p:nvPr/>
        </p:nvSpPr>
        <p:spPr>
          <a:xfrm>
            <a:off x="4305300" y="319087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266FD8-7BE1-4B72-BD89-B75A09E2B31C}"/>
              </a:ext>
            </a:extLst>
          </p:cNvPr>
          <p:cNvSpPr>
            <a:spLocks noGrp="1"/>
          </p:cNvSpPr>
          <p:nvPr/>
        </p:nvSpPr>
        <p:spPr>
          <a:xfrm>
            <a:off x="4305300" y="336232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RESOLVE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2D1F153-10E7-4F35-AC9B-4B96466C453C}"/>
              </a:ext>
            </a:extLst>
          </p:cNvPr>
          <p:cNvSpPr>
            <a:spLocks noGrp="1"/>
          </p:cNvSpPr>
          <p:nvPr/>
        </p:nvSpPr>
        <p:spPr>
          <a:xfrm>
            <a:off x="4305300" y="360045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Exactly one target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10E3458-08F9-48AB-9953-ED0FC033CA3C}"/>
              </a:ext>
            </a:extLst>
          </p:cNvPr>
          <p:cNvSpPr>
            <a:spLocks noGrp="1"/>
          </p:cNvSpPr>
          <p:nvPr/>
        </p:nvSpPr>
        <p:spPr>
          <a:xfrm>
            <a:off x="5876925" y="3314700"/>
            <a:ext cx="76200" cy="28575"/>
          </a:xfrm>
          <a:prstGeom prst="rect">
            <a:avLst/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7AB7F01-1BB8-4C68-BEF2-4C0215462733}"/>
              </a:ext>
            </a:extLst>
          </p:cNvPr>
          <p:cNvSpPr>
            <a:spLocks noGrp="1"/>
          </p:cNvSpPr>
          <p:nvPr/>
        </p:nvSpPr>
        <p:spPr>
          <a:xfrm>
            <a:off x="5867400" y="314325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DAD2813A-066F-40C5-8119-2718B382359C}"/>
              </a:ext>
            </a:extLst>
          </p:cNvPr>
          <p:cNvSpPr>
            <a:spLocks noGrp="1"/>
          </p:cNvSpPr>
          <p:nvPr/>
        </p:nvSpPr>
        <p:spPr>
          <a:xfrm>
            <a:off x="5981700" y="309562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E165A6C-8A1F-4553-BB57-2A27324CDCBE}"/>
              </a:ext>
            </a:extLst>
          </p:cNvPr>
          <p:cNvSpPr>
            <a:spLocks noGrp="1"/>
          </p:cNvSpPr>
          <p:nvPr/>
        </p:nvSpPr>
        <p:spPr>
          <a:xfrm>
            <a:off x="6096000" y="319087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09AB782-0A62-469C-B0D2-401DF4034AE3}"/>
              </a:ext>
            </a:extLst>
          </p:cNvPr>
          <p:cNvSpPr>
            <a:spLocks noGrp="1"/>
          </p:cNvSpPr>
          <p:nvPr/>
        </p:nvSpPr>
        <p:spPr>
          <a:xfrm>
            <a:off x="6096000" y="336232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ACT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B3D20D0-EFD2-4183-BB2D-F5CACC6BB137}"/>
              </a:ext>
            </a:extLst>
          </p:cNvPr>
          <p:cNvSpPr>
            <a:spLocks noGrp="1"/>
          </p:cNvSpPr>
          <p:nvPr/>
        </p:nvSpPr>
        <p:spPr>
          <a:xfrm>
            <a:off x="6096000" y="360045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Playwright / keyboard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973255E-4BB7-4A68-8FA9-FDA8DFE38007}"/>
              </a:ext>
            </a:extLst>
          </p:cNvPr>
          <p:cNvSpPr>
            <a:spLocks noGrp="1"/>
          </p:cNvSpPr>
          <p:nvPr/>
        </p:nvSpPr>
        <p:spPr>
          <a:xfrm>
            <a:off x="7667625" y="3314700"/>
            <a:ext cx="76200" cy="28575"/>
          </a:xfrm>
          <a:prstGeom prst="rect">
            <a:avLst/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9F439D-A9CC-4928-9141-8ED0BE759A75}"/>
              </a:ext>
            </a:extLst>
          </p:cNvPr>
          <p:cNvSpPr>
            <a:spLocks noGrp="1"/>
          </p:cNvSpPr>
          <p:nvPr/>
        </p:nvSpPr>
        <p:spPr>
          <a:xfrm>
            <a:off x="7658100" y="314325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A7331154-A7E5-4B50-A993-49E0F4BF1FDF}"/>
              </a:ext>
            </a:extLst>
          </p:cNvPr>
          <p:cNvSpPr>
            <a:spLocks noGrp="1"/>
          </p:cNvSpPr>
          <p:nvPr/>
        </p:nvSpPr>
        <p:spPr>
          <a:xfrm>
            <a:off x="7772400" y="309562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0919665-9642-461D-A23B-93D0E156EDA8}"/>
              </a:ext>
            </a:extLst>
          </p:cNvPr>
          <p:cNvSpPr>
            <a:spLocks noGrp="1"/>
          </p:cNvSpPr>
          <p:nvPr/>
        </p:nvSpPr>
        <p:spPr>
          <a:xfrm>
            <a:off x="7886700" y="319087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05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7EC4ACC-5C06-492F-A975-FF196FEB97A7}"/>
              </a:ext>
            </a:extLst>
          </p:cNvPr>
          <p:cNvSpPr>
            <a:spLocks noGrp="1"/>
          </p:cNvSpPr>
          <p:nvPr/>
        </p:nvSpPr>
        <p:spPr>
          <a:xfrm>
            <a:off x="7886700" y="336232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VERIFY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DFA4351-F3A4-48F2-98CB-EB5E5D3C3CE2}"/>
              </a:ext>
            </a:extLst>
          </p:cNvPr>
          <p:cNvSpPr>
            <a:spLocks noGrp="1"/>
          </p:cNvSpPr>
          <p:nvPr/>
        </p:nvSpPr>
        <p:spPr>
          <a:xfrm>
            <a:off x="7886700" y="360045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Postcondition evidence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9AA1F3D-4E5E-4409-AA23-704182382E6F}"/>
              </a:ext>
            </a:extLst>
          </p:cNvPr>
          <p:cNvSpPr>
            <a:spLocks noGrp="1"/>
          </p:cNvSpPr>
          <p:nvPr/>
        </p:nvSpPr>
        <p:spPr>
          <a:xfrm>
            <a:off x="9458325" y="3314700"/>
            <a:ext cx="76200" cy="28575"/>
          </a:xfrm>
          <a:prstGeom prst="rect">
            <a:avLst/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65AF12B-B5BE-43E5-B847-CF6E5F985251}"/>
              </a:ext>
            </a:extLst>
          </p:cNvPr>
          <p:cNvSpPr>
            <a:spLocks noGrp="1"/>
          </p:cNvSpPr>
          <p:nvPr/>
        </p:nvSpPr>
        <p:spPr>
          <a:xfrm>
            <a:off x="9448800" y="314325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B4EAAB98-77A0-44B4-A87C-614E6F17822C}"/>
              </a:ext>
            </a:extLst>
          </p:cNvPr>
          <p:cNvSpPr>
            <a:spLocks noGrp="1"/>
          </p:cNvSpPr>
          <p:nvPr/>
        </p:nvSpPr>
        <p:spPr>
          <a:xfrm>
            <a:off x="9563100" y="309562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1E6DFC6-EE27-41FF-B2FD-3FC360CFB573}"/>
              </a:ext>
            </a:extLst>
          </p:cNvPr>
          <p:cNvSpPr>
            <a:spLocks noGrp="1"/>
          </p:cNvSpPr>
          <p:nvPr/>
        </p:nvSpPr>
        <p:spPr>
          <a:xfrm>
            <a:off x="9677400" y="319087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06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CA686CD-F2B4-45CF-B3E6-75257AA5062F}"/>
              </a:ext>
            </a:extLst>
          </p:cNvPr>
          <p:cNvSpPr>
            <a:spLocks noGrp="1"/>
          </p:cNvSpPr>
          <p:nvPr/>
        </p:nvSpPr>
        <p:spPr>
          <a:xfrm>
            <a:off x="9677400" y="336232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TRACE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35441FC-0BCE-416B-9399-BF8137AED37F}"/>
              </a:ext>
            </a:extLst>
          </p:cNvPr>
          <p:cNvSpPr>
            <a:spLocks noGrp="1"/>
          </p:cNvSpPr>
          <p:nvPr/>
        </p:nvSpPr>
        <p:spPr>
          <a:xfrm>
            <a:off x="9677400" y="360045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Redacted + memory-ready</a:t>
            </a:r>
          </a:p>
        </p:txBody>
      </p:sp>
      <p:sp>
        <p:nvSpPr>
          <p:cNvPr id="61" name="圓角矩形 60">
            <a:extLst>
              <a:ext uri="{FF2B5EF4-FFF2-40B4-BE49-F238E27FC236}">
                <a16:creationId xmlns:a16="http://schemas.microsoft.com/office/drawing/2014/main" id="{D3A61F86-2015-4581-9751-5DC7932E0572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EDF5FC"/>
          </a:solidFill>
          <a:ln w="0">
            <a:solidFill>
              <a:srgbClr val="EDF5FC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60E5F1C-261A-40C9-A5E9-9FA5950BDD4E}"/>
              </a:ext>
            </a:extLst>
          </p:cNvPr>
          <p:cNvSpPr>
            <a:spLocks noGrp="1"/>
          </p:cNvSpPr>
          <p:nvPr/>
        </p:nvSpPr>
        <p:spPr>
          <a:xfrm>
            <a:off x="781050" y="4333875"/>
            <a:ext cx="106299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Fast Path invariant: 0 model calls • 0 MCP calls • no raw browser coordinates</a:t>
            </a:r>
          </a:p>
        </p:txBody>
      </p:sp>
    </p:spTree>
    <p:extLst>
      <p:ext uri="{BB962C8B-B14F-4D97-AF65-F5344CB8AC3E}">
        <p14:creationId xmlns:p14="http://schemas.microsoft.com/office/powerpoint/2010/main" val="38704420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B7554595-FBDC-D922-EB6C-E98316AA981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SLOW PATH WORKFLOW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04E702-E7E7-90BD-51A6-653301BC905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Slow Path: bounded model-assisted workflow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21A240-253D-E5D0-32FD-36FDB78C044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CE1751-89CD-ED43-9AF5-B4FA9CF9BA77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F6EBC8B-2D31-E0D6-5B76-82B17FDEA7F4}"/>
              </a:ext>
            </a:extLst>
          </p:cNvPr>
          <p:cNvSpPr>
            <a:spLocks noGrp="1"/>
          </p:cNvSpPr>
          <p:nvPr/>
        </p:nvSpPr>
        <p:spPr>
          <a:xfrm>
            <a:off x="479448" y="1276350"/>
            <a:ext cx="116586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6784D4C-D1C8-C667-6DAE-BDE08EDB5C49}"/>
              </a:ext>
            </a:extLst>
          </p:cNvPr>
          <p:cNvSpPr>
            <a:spLocks noGrp="1"/>
          </p:cNvSpPr>
          <p:nvPr/>
        </p:nvSpPr>
        <p:spPr>
          <a:xfrm>
            <a:off x="497942" y="1266825"/>
            <a:ext cx="111658" cy="1257300"/>
          </a:xfrm>
          <a:prstGeom prst="roundRect">
            <a:avLst>
              <a:gd name="adj" fmla="val 50000"/>
            </a:avLst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189955-E17E-6C7E-994E-1A318C4C2477}"/>
              </a:ext>
            </a:extLst>
          </p:cNvPr>
          <p:cNvSpPr>
            <a:spLocks noGrp="1"/>
          </p:cNvSpPr>
          <p:nvPr/>
        </p:nvSpPr>
        <p:spPr>
          <a:xfrm>
            <a:off x="710690" y="1457325"/>
            <a:ext cx="105097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071628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Slow Path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54A1D7-4253-7DE2-3C6C-C75E0AD0C2C2}"/>
              </a:ext>
            </a:extLst>
          </p:cNvPr>
          <p:cNvSpPr>
            <a:spLocks noGrp="1"/>
          </p:cNvSpPr>
          <p:nvPr/>
        </p:nvSpPr>
        <p:spPr>
          <a:xfrm>
            <a:off x="710690" y="1790700"/>
            <a:ext cx="1050976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8E7BFF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MODEL-ASSISTED / BOUNDED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D9531A-511B-ACC7-8FED-44E8D2661E3D}"/>
              </a:ext>
            </a:extLst>
          </p:cNvPr>
          <p:cNvSpPr>
            <a:spLocks noGrp="1"/>
          </p:cNvSpPr>
          <p:nvPr/>
        </p:nvSpPr>
        <p:spPr>
          <a:xfrm>
            <a:off x="710690" y="2047875"/>
            <a:ext cx="105097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 dirty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Optional strict-JSON plan. Redacted request. Local schema, policy, approval, and verifier checks.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EAED67-EE59-B2EA-3AE8-5D6D5687F50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Models can propose; LHIC remains the authority on scope, policy, and success.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00F47A-AA1E-4496-AEF2-B43871BD9450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1097280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FULL WORKFLOW  /  PROPOSAL IS NOT AUTHORITY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7D483608-AF6D-4E41-9862-197F78578FA7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D38D9E-1210-4FAE-AF8B-D7CF131B7234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EA5D67B-E98C-474B-B166-40EFDB1837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OBSERVE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2053EDA-C680-4E15-B1B5-56E2B2012939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Normalize UI state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65C2921-AE93-4123-8F70-8CFF78B5F326}"/>
              </a:ext>
            </a:extLst>
          </p:cNvPr>
          <p:cNvSpPr>
            <a:spLocks noGrp="1"/>
          </p:cNvSpPr>
          <p:nvPr/>
        </p:nvSpPr>
        <p:spPr>
          <a:xfrm>
            <a:off x="2295525" y="3343275"/>
            <a:ext cx="762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3CE19B-A9A5-421A-93D5-A6A65A550BE0}"/>
              </a:ext>
            </a:extLst>
          </p:cNvPr>
          <p:cNvSpPr>
            <a:spLocks noGrp="1"/>
          </p:cNvSpPr>
          <p:nvPr/>
        </p:nvSpPr>
        <p:spPr>
          <a:xfrm>
            <a:off x="2286000" y="3171825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EFFE4050-5504-4A9E-866C-988DDD638C70}"/>
              </a:ext>
            </a:extLst>
          </p:cNvPr>
          <p:cNvSpPr>
            <a:spLocks noGrp="1"/>
          </p:cNvSpPr>
          <p:nvPr/>
        </p:nvSpPr>
        <p:spPr>
          <a:xfrm>
            <a:off x="2400300" y="3124200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9DB2FE7-66E8-48A6-8BAD-9C0224E73918}"/>
              </a:ext>
            </a:extLst>
          </p:cNvPr>
          <p:cNvSpPr>
            <a:spLocks noGrp="1"/>
          </p:cNvSpPr>
          <p:nvPr/>
        </p:nvSpPr>
        <p:spPr>
          <a:xfrm>
            <a:off x="2514600" y="3219450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477AC15-1C85-4556-A150-58FC20DBB10F}"/>
              </a:ext>
            </a:extLst>
          </p:cNvPr>
          <p:cNvSpPr>
            <a:spLocks noGrp="1"/>
          </p:cNvSpPr>
          <p:nvPr/>
        </p:nvSpPr>
        <p:spPr>
          <a:xfrm>
            <a:off x="2514600" y="3390900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ROUTE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1251D60-1618-48EE-B546-E8D5BCF21986}"/>
              </a:ext>
            </a:extLst>
          </p:cNvPr>
          <p:cNvSpPr>
            <a:spLocks noGrp="1"/>
          </p:cNvSpPr>
          <p:nvPr/>
        </p:nvSpPr>
        <p:spPr>
          <a:xfrm>
            <a:off x="2514600" y="3629025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Confidence / risk budget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003CD7E-6182-4A33-9CD4-8A3E926F7544}"/>
              </a:ext>
            </a:extLst>
          </p:cNvPr>
          <p:cNvSpPr>
            <a:spLocks noGrp="1"/>
          </p:cNvSpPr>
          <p:nvPr/>
        </p:nvSpPr>
        <p:spPr>
          <a:xfrm>
            <a:off x="4086225" y="3343275"/>
            <a:ext cx="762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9850553-3C85-492D-8818-754FCF234393}"/>
              </a:ext>
            </a:extLst>
          </p:cNvPr>
          <p:cNvSpPr>
            <a:spLocks noGrp="1"/>
          </p:cNvSpPr>
          <p:nvPr/>
        </p:nvSpPr>
        <p:spPr>
          <a:xfrm>
            <a:off x="4076700" y="3171825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92E168D3-80EF-4A4B-BD0E-DC8160A1B403}"/>
              </a:ext>
            </a:extLst>
          </p:cNvPr>
          <p:cNvSpPr>
            <a:spLocks noGrp="1"/>
          </p:cNvSpPr>
          <p:nvPr/>
        </p:nvSpPr>
        <p:spPr>
          <a:xfrm>
            <a:off x="4191000" y="3124200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A16E946-F845-4E88-B52C-F3D39C8C0A26}"/>
              </a:ext>
            </a:extLst>
          </p:cNvPr>
          <p:cNvSpPr>
            <a:spLocks noGrp="1"/>
          </p:cNvSpPr>
          <p:nvPr/>
        </p:nvSpPr>
        <p:spPr>
          <a:xfrm>
            <a:off x="4305300" y="3219450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37026FD-C9C4-48E7-B6C2-B9AA934761AB}"/>
              </a:ext>
            </a:extLst>
          </p:cNvPr>
          <p:cNvSpPr>
            <a:spLocks noGrp="1"/>
          </p:cNvSpPr>
          <p:nvPr/>
        </p:nvSpPr>
        <p:spPr>
          <a:xfrm>
            <a:off x="4305300" y="3390900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REDACT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9FED699-197C-4510-99CF-6A59DD087292}"/>
              </a:ext>
            </a:extLst>
          </p:cNvPr>
          <p:cNvSpPr>
            <a:spLocks noGrp="1"/>
          </p:cNvSpPr>
          <p:nvPr/>
        </p:nvSpPr>
        <p:spPr>
          <a:xfrm>
            <a:off x="4305300" y="3629025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Sensitive fields removed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C2DD41F-F7BD-4775-9A6D-CDD24978BF33}"/>
              </a:ext>
            </a:extLst>
          </p:cNvPr>
          <p:cNvSpPr>
            <a:spLocks noGrp="1"/>
          </p:cNvSpPr>
          <p:nvPr/>
        </p:nvSpPr>
        <p:spPr>
          <a:xfrm>
            <a:off x="5876925" y="3343275"/>
            <a:ext cx="762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950964C-21B7-4DFC-9F68-903D7D9057E2}"/>
              </a:ext>
            </a:extLst>
          </p:cNvPr>
          <p:cNvSpPr>
            <a:spLocks noGrp="1"/>
          </p:cNvSpPr>
          <p:nvPr/>
        </p:nvSpPr>
        <p:spPr>
          <a:xfrm>
            <a:off x="5867400" y="3171825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2E55AF1-5FEB-4E10-8BD8-20DD818B3B13}"/>
              </a:ext>
            </a:extLst>
          </p:cNvPr>
          <p:cNvSpPr>
            <a:spLocks noGrp="1"/>
          </p:cNvSpPr>
          <p:nvPr/>
        </p:nvSpPr>
        <p:spPr>
          <a:xfrm>
            <a:off x="5981700" y="3124200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9509788-D2FA-4E8A-9220-7C4096A7AD9D}"/>
              </a:ext>
            </a:extLst>
          </p:cNvPr>
          <p:cNvSpPr>
            <a:spLocks noGrp="1"/>
          </p:cNvSpPr>
          <p:nvPr/>
        </p:nvSpPr>
        <p:spPr>
          <a:xfrm>
            <a:off x="6096000" y="3219450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3CF7FCC-DBDC-41FC-B7DE-0962260E91E8}"/>
              </a:ext>
            </a:extLst>
          </p:cNvPr>
          <p:cNvSpPr>
            <a:spLocks noGrp="1"/>
          </p:cNvSpPr>
          <p:nvPr/>
        </p:nvSpPr>
        <p:spPr>
          <a:xfrm>
            <a:off x="6096000" y="3390900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PLAN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B5815B2-FBCF-40E4-81D1-BD18310F2D9D}"/>
              </a:ext>
            </a:extLst>
          </p:cNvPr>
          <p:cNvSpPr>
            <a:spLocks noGrp="1"/>
          </p:cNvSpPr>
          <p:nvPr/>
        </p:nvSpPr>
        <p:spPr>
          <a:xfrm>
            <a:off x="6096000" y="3629025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Strict JSON proposal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A230A65-979A-4244-8ED7-8A45A9DEFA31}"/>
              </a:ext>
            </a:extLst>
          </p:cNvPr>
          <p:cNvSpPr>
            <a:spLocks noGrp="1"/>
          </p:cNvSpPr>
          <p:nvPr/>
        </p:nvSpPr>
        <p:spPr>
          <a:xfrm>
            <a:off x="7667625" y="3343275"/>
            <a:ext cx="762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39798C7-744F-45EC-9681-40478D98EA51}"/>
              </a:ext>
            </a:extLst>
          </p:cNvPr>
          <p:cNvSpPr>
            <a:spLocks noGrp="1"/>
          </p:cNvSpPr>
          <p:nvPr/>
        </p:nvSpPr>
        <p:spPr>
          <a:xfrm>
            <a:off x="7658100" y="3171825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2D99A6D5-FBD4-4B35-8C4F-540139FF7CF8}"/>
              </a:ext>
            </a:extLst>
          </p:cNvPr>
          <p:cNvSpPr>
            <a:spLocks noGrp="1"/>
          </p:cNvSpPr>
          <p:nvPr/>
        </p:nvSpPr>
        <p:spPr>
          <a:xfrm>
            <a:off x="7772400" y="3124200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EAA8626-72AE-4340-A16F-0785A14D6585}"/>
              </a:ext>
            </a:extLst>
          </p:cNvPr>
          <p:cNvSpPr>
            <a:spLocks noGrp="1"/>
          </p:cNvSpPr>
          <p:nvPr/>
        </p:nvSpPr>
        <p:spPr>
          <a:xfrm>
            <a:off x="7886700" y="3219450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05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AD995B7-7AC8-4FB9-A940-EAE3F9204044}"/>
              </a:ext>
            </a:extLst>
          </p:cNvPr>
          <p:cNvSpPr>
            <a:spLocks noGrp="1"/>
          </p:cNvSpPr>
          <p:nvPr/>
        </p:nvSpPr>
        <p:spPr>
          <a:xfrm>
            <a:off x="7886700" y="3390900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RECHECK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1AC9382-5FF1-4D8A-A7C3-4F596562BFF4}"/>
              </a:ext>
            </a:extLst>
          </p:cNvPr>
          <p:cNvSpPr>
            <a:spLocks noGrp="1"/>
          </p:cNvSpPr>
          <p:nvPr/>
        </p:nvSpPr>
        <p:spPr>
          <a:xfrm>
            <a:off x="7886700" y="3629025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Schema + policy + approval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215FA27-4070-4A2C-B47D-AEB0307EB971}"/>
              </a:ext>
            </a:extLst>
          </p:cNvPr>
          <p:cNvSpPr>
            <a:spLocks noGrp="1"/>
          </p:cNvSpPr>
          <p:nvPr/>
        </p:nvSpPr>
        <p:spPr>
          <a:xfrm>
            <a:off x="9458325" y="3343275"/>
            <a:ext cx="762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C537AF7-2F59-4879-B7B4-CF7869DEFB26}"/>
              </a:ext>
            </a:extLst>
          </p:cNvPr>
          <p:cNvSpPr>
            <a:spLocks noGrp="1"/>
          </p:cNvSpPr>
          <p:nvPr/>
        </p:nvSpPr>
        <p:spPr>
          <a:xfrm>
            <a:off x="9448800" y="3171825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FCBBDD33-DB41-4B54-9C65-0899B854DD11}"/>
              </a:ext>
            </a:extLst>
          </p:cNvPr>
          <p:cNvSpPr>
            <a:spLocks noGrp="1"/>
          </p:cNvSpPr>
          <p:nvPr/>
        </p:nvSpPr>
        <p:spPr>
          <a:xfrm>
            <a:off x="9563100" y="3124200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635167A-FAE6-417F-8430-2900DD5AA4E1}"/>
              </a:ext>
            </a:extLst>
          </p:cNvPr>
          <p:cNvSpPr>
            <a:spLocks noGrp="1"/>
          </p:cNvSpPr>
          <p:nvPr/>
        </p:nvSpPr>
        <p:spPr>
          <a:xfrm>
            <a:off x="9677400" y="3219450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06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E0B27FC-A724-412F-B5E7-AAD0A6DCE85C}"/>
              </a:ext>
            </a:extLst>
          </p:cNvPr>
          <p:cNvSpPr>
            <a:spLocks noGrp="1"/>
          </p:cNvSpPr>
          <p:nvPr/>
        </p:nvSpPr>
        <p:spPr>
          <a:xfrm>
            <a:off x="9677400" y="3390900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EXECUTE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205CAC6-E8B1-4249-85CD-F4636017FE4D}"/>
              </a:ext>
            </a:extLst>
          </p:cNvPr>
          <p:cNvSpPr>
            <a:spLocks noGrp="1"/>
          </p:cNvSpPr>
          <p:nvPr/>
        </p:nvSpPr>
        <p:spPr>
          <a:xfrm>
            <a:off x="9677400" y="3629025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Local act → verify → recover</a:t>
            </a:r>
          </a:p>
        </p:txBody>
      </p:sp>
      <p:sp>
        <p:nvSpPr>
          <p:cNvPr id="61" name="圓角矩形 60">
            <a:extLst>
              <a:ext uri="{FF2B5EF4-FFF2-40B4-BE49-F238E27FC236}">
                <a16:creationId xmlns:a16="http://schemas.microsoft.com/office/drawing/2014/main" id="{EBAD01FF-EAE8-4F68-8440-644380704472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EFFBFC"/>
          </a:solidFill>
          <a:ln w="0">
            <a:solidFill>
              <a:srgbClr val="EFFBFC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DFDD273-E622-4F64-A34A-E8B56DAAE9F7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06299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Slow Path invariant: the provider may propose actions, never expand authority or redefine success</a:t>
            </a:r>
          </a:p>
        </p:txBody>
      </p:sp>
    </p:spTree>
    <p:extLst>
      <p:ext uri="{BB962C8B-B14F-4D97-AF65-F5344CB8AC3E}">
        <p14:creationId xmlns:p14="http://schemas.microsoft.com/office/powerpoint/2010/main" val="1532206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7CEBDC76-2855-D2AC-AE33-2A07DD84579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HUMAN AUTHORITY WORKFLOW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7DCD3F-3753-A5C8-F505-1DDEC545B9E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Human authority: approved desktop workflow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275749-984C-4B9A-4D5C-24509218ACC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07292E-FAA2-79D1-8557-B2DC6A21D2B2}"/>
              </a:ext>
            </a:extLst>
          </p:cNvPr>
          <p:cNvSpPr>
            <a:spLocks noGrp="1"/>
          </p:cNvSpPr>
          <p:nvPr/>
        </p:nvSpPr>
        <p:spPr>
          <a:xfrm>
            <a:off x="876300" y="51911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958A6C00-EBD9-9820-7FA2-1D5FA5801DAD}"/>
              </a:ext>
            </a:extLst>
          </p:cNvPr>
          <p:cNvSpPr>
            <a:spLocks noGrp="1"/>
          </p:cNvSpPr>
          <p:nvPr/>
        </p:nvSpPr>
        <p:spPr>
          <a:xfrm>
            <a:off x="463923" y="1319213"/>
            <a:ext cx="11264153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64B54BED-E1D5-4C74-F705-C79AE0278D79}"/>
              </a:ext>
            </a:extLst>
          </p:cNvPr>
          <p:cNvSpPr>
            <a:spLocks noGrp="1"/>
          </p:cNvSpPr>
          <p:nvPr/>
        </p:nvSpPr>
        <p:spPr>
          <a:xfrm>
            <a:off x="463924" y="1319213"/>
            <a:ext cx="145676" cy="1257300"/>
          </a:xfrm>
          <a:prstGeom prst="roundRect">
            <a:avLst>
              <a:gd name="adj" fmla="val 50000"/>
            </a:avLst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47A397-53A0-1026-9531-A1E392ED9E1A}"/>
              </a:ext>
            </a:extLst>
          </p:cNvPr>
          <p:cNvSpPr>
            <a:spLocks noGrp="1"/>
          </p:cNvSpPr>
          <p:nvPr/>
        </p:nvSpPr>
        <p:spPr>
          <a:xfrm>
            <a:off x="730624" y="1509713"/>
            <a:ext cx="1015418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071628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Human Authority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6A6745-D25D-858E-8C30-FCECB9947B3E}"/>
              </a:ext>
            </a:extLst>
          </p:cNvPr>
          <p:cNvSpPr>
            <a:spLocks noGrp="1"/>
          </p:cNvSpPr>
          <p:nvPr/>
        </p:nvSpPr>
        <p:spPr>
          <a:xfrm>
            <a:off x="730624" y="1843088"/>
            <a:ext cx="1015418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759E20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APPROVAL-GATED / NATIVE DESKTOP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0A8866-6290-6C79-C2F8-6EC2C53C097B}"/>
              </a:ext>
            </a:extLst>
          </p:cNvPr>
          <p:cNvSpPr>
            <a:spLocks noGrp="1"/>
          </p:cNvSpPr>
          <p:nvPr/>
        </p:nvSpPr>
        <p:spPr>
          <a:xfrm>
            <a:off x="730624" y="2100263"/>
            <a:ext cx="1015418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Exact approval, active-window/process checks, native OS action, and postcondition evidence.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2D4273-0F56-E3CB-7A49-039DD3B629B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 panose="02010803020104030203" pitchFamily="2" charset="-79"/>
                <a:ea typeface="Aharoni"/>
                <a:cs typeface="Aharoni" panose="02010803020104030203" pitchFamily="2" charset="-79"/>
              </a:rPr>
              <a:t>High-risk work is explicit, time-bounded, identity-bound, and replay-resistant.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D5FD5B-13A0-4BB6-9FD3-29BF455F31EF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7280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FULL WORKFLOW  /  APPROVAL + ACTIVE-CONTEXT PREFLIGHT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D21184BD-3573-4AAC-A738-1856203B7890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801F67-485B-4684-B24F-D7B8B1CEC19F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0C9623-2710-4ADF-950B-1FFAA573BDFF}"/>
              </a:ext>
            </a:extLst>
          </p:cNvPr>
          <p:cNvSpPr>
            <a:spLocks noGrp="1"/>
          </p:cNvSpPr>
          <p:nvPr/>
        </p:nvSpPr>
        <p:spPr>
          <a:xfrm>
            <a:off x="723900" y="311467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DETECT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55223A-1044-4E4F-BCE7-1B4A0366EEA4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High / unknown risk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165E46-5D14-49B2-886F-94ACCB86F295}"/>
              </a:ext>
            </a:extLst>
          </p:cNvPr>
          <p:cNvSpPr>
            <a:spLocks noGrp="1"/>
          </p:cNvSpPr>
          <p:nvPr/>
        </p:nvSpPr>
        <p:spPr>
          <a:xfrm>
            <a:off x="2295525" y="3067050"/>
            <a:ext cx="76200" cy="28575"/>
          </a:xfrm>
          <a:prstGeom prst="rect">
            <a:avLst/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7F0D06-60DC-4C2A-AC41-956B7A7B4C77}"/>
              </a:ext>
            </a:extLst>
          </p:cNvPr>
          <p:cNvSpPr>
            <a:spLocks noGrp="1"/>
          </p:cNvSpPr>
          <p:nvPr/>
        </p:nvSpPr>
        <p:spPr>
          <a:xfrm>
            <a:off x="2286000" y="289560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ECA7D007-DDD3-47D0-AB0D-A9C9B7DF4FA5}"/>
              </a:ext>
            </a:extLst>
          </p:cNvPr>
          <p:cNvSpPr>
            <a:spLocks noGrp="1"/>
          </p:cNvSpPr>
          <p:nvPr/>
        </p:nvSpPr>
        <p:spPr>
          <a:xfrm>
            <a:off x="2400300" y="284797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3CDAA1D-145C-465E-92D3-0F1326723C4F}"/>
              </a:ext>
            </a:extLst>
          </p:cNvPr>
          <p:cNvSpPr>
            <a:spLocks noGrp="1"/>
          </p:cNvSpPr>
          <p:nvPr/>
        </p:nvSpPr>
        <p:spPr>
          <a:xfrm>
            <a:off x="2514600" y="294322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2FE01EB-3AF8-4850-94D2-2A7462FF9179}"/>
              </a:ext>
            </a:extLst>
          </p:cNvPr>
          <p:cNvSpPr>
            <a:spLocks noGrp="1"/>
          </p:cNvSpPr>
          <p:nvPr/>
        </p:nvSpPr>
        <p:spPr>
          <a:xfrm>
            <a:off x="2514600" y="311467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SHOW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3D81A57-0D62-4205-A946-4189265174E4}"/>
              </a:ext>
            </a:extLst>
          </p:cNvPr>
          <p:cNvSpPr>
            <a:spLocks noGrp="1"/>
          </p:cNvSpPr>
          <p:nvPr/>
        </p:nvSpPr>
        <p:spPr>
          <a:xfrm>
            <a:off x="2514600" y="335280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Exact action payload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4EE1C72-F88E-4247-BFCC-700F630163CB}"/>
              </a:ext>
            </a:extLst>
          </p:cNvPr>
          <p:cNvSpPr>
            <a:spLocks noGrp="1"/>
          </p:cNvSpPr>
          <p:nvPr/>
        </p:nvSpPr>
        <p:spPr>
          <a:xfrm>
            <a:off x="4086225" y="3067050"/>
            <a:ext cx="76200" cy="28575"/>
          </a:xfrm>
          <a:prstGeom prst="rect">
            <a:avLst/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E0B2B37-9907-441C-8321-25DE03054A9E}"/>
              </a:ext>
            </a:extLst>
          </p:cNvPr>
          <p:cNvSpPr>
            <a:spLocks noGrp="1"/>
          </p:cNvSpPr>
          <p:nvPr/>
        </p:nvSpPr>
        <p:spPr>
          <a:xfrm>
            <a:off x="4076700" y="289560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61F056AF-BC49-4321-8B70-72B175DBDA15}"/>
              </a:ext>
            </a:extLst>
          </p:cNvPr>
          <p:cNvSpPr>
            <a:spLocks noGrp="1"/>
          </p:cNvSpPr>
          <p:nvPr/>
        </p:nvSpPr>
        <p:spPr>
          <a:xfrm>
            <a:off x="4191000" y="284797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50D47AC-2F7F-4801-B38C-10ABFB66EE1F}"/>
              </a:ext>
            </a:extLst>
          </p:cNvPr>
          <p:cNvSpPr>
            <a:spLocks noGrp="1"/>
          </p:cNvSpPr>
          <p:nvPr/>
        </p:nvSpPr>
        <p:spPr>
          <a:xfrm>
            <a:off x="4305300" y="294322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26D0E16-387F-4BCF-A83C-DC79997E2E41}"/>
              </a:ext>
            </a:extLst>
          </p:cNvPr>
          <p:cNvSpPr>
            <a:spLocks noGrp="1"/>
          </p:cNvSpPr>
          <p:nvPr/>
        </p:nvSpPr>
        <p:spPr>
          <a:xfrm>
            <a:off x="4305300" y="311467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APPROVE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3B84BD-FA1E-47C2-8874-3B89E40EBDF7}"/>
              </a:ext>
            </a:extLst>
          </p:cNvPr>
          <p:cNvSpPr>
            <a:spLocks noGrp="1"/>
          </p:cNvSpPr>
          <p:nvPr/>
        </p:nvSpPr>
        <p:spPr>
          <a:xfrm>
            <a:off x="4305300" y="335280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Hash + signature + TTL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14B416-1BDB-4511-999C-C788E1305578}"/>
              </a:ext>
            </a:extLst>
          </p:cNvPr>
          <p:cNvSpPr>
            <a:spLocks noGrp="1"/>
          </p:cNvSpPr>
          <p:nvPr/>
        </p:nvSpPr>
        <p:spPr>
          <a:xfrm>
            <a:off x="5876925" y="3067050"/>
            <a:ext cx="76200" cy="28575"/>
          </a:xfrm>
          <a:prstGeom prst="rect">
            <a:avLst/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112D25A-819E-4016-A707-1E3BE71A0640}"/>
              </a:ext>
            </a:extLst>
          </p:cNvPr>
          <p:cNvSpPr>
            <a:spLocks noGrp="1"/>
          </p:cNvSpPr>
          <p:nvPr/>
        </p:nvSpPr>
        <p:spPr>
          <a:xfrm>
            <a:off x="5867400" y="289560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8F0D5C74-253F-4C02-BE2F-F9E1AF689B94}"/>
              </a:ext>
            </a:extLst>
          </p:cNvPr>
          <p:cNvSpPr>
            <a:spLocks noGrp="1"/>
          </p:cNvSpPr>
          <p:nvPr/>
        </p:nvSpPr>
        <p:spPr>
          <a:xfrm>
            <a:off x="5981700" y="284797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B0ED39A-5DBF-44D4-9849-C4E61D714393}"/>
              </a:ext>
            </a:extLst>
          </p:cNvPr>
          <p:cNvSpPr>
            <a:spLocks noGrp="1"/>
          </p:cNvSpPr>
          <p:nvPr/>
        </p:nvSpPr>
        <p:spPr>
          <a:xfrm>
            <a:off x="6096000" y="294322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3C4C48B-63CE-40B9-9E34-0F780C82C2BF}"/>
              </a:ext>
            </a:extLst>
          </p:cNvPr>
          <p:cNvSpPr>
            <a:spLocks noGrp="1"/>
          </p:cNvSpPr>
          <p:nvPr/>
        </p:nvSpPr>
        <p:spPr>
          <a:xfrm>
            <a:off x="6096000" y="311467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PREFLIGHT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8877A00-1366-4C0D-95CC-44697CE5D547}"/>
              </a:ext>
            </a:extLst>
          </p:cNvPr>
          <p:cNvSpPr>
            <a:spLocks noGrp="1"/>
          </p:cNvSpPr>
          <p:nvPr/>
        </p:nvSpPr>
        <p:spPr>
          <a:xfrm>
            <a:off x="6096000" y="335280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Window + process match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40D4EA2-177D-4755-AD4F-B5C29515067C}"/>
              </a:ext>
            </a:extLst>
          </p:cNvPr>
          <p:cNvSpPr>
            <a:spLocks noGrp="1"/>
          </p:cNvSpPr>
          <p:nvPr/>
        </p:nvSpPr>
        <p:spPr>
          <a:xfrm>
            <a:off x="7667625" y="3067050"/>
            <a:ext cx="76200" cy="28575"/>
          </a:xfrm>
          <a:prstGeom prst="rect">
            <a:avLst/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76F8176-67D7-4FF8-A5C6-684FF6CE42C4}"/>
              </a:ext>
            </a:extLst>
          </p:cNvPr>
          <p:cNvSpPr>
            <a:spLocks noGrp="1"/>
          </p:cNvSpPr>
          <p:nvPr/>
        </p:nvSpPr>
        <p:spPr>
          <a:xfrm>
            <a:off x="7658100" y="289560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0E8DCED5-CF33-4160-8681-F8642B0A03D5}"/>
              </a:ext>
            </a:extLst>
          </p:cNvPr>
          <p:cNvSpPr>
            <a:spLocks noGrp="1"/>
          </p:cNvSpPr>
          <p:nvPr/>
        </p:nvSpPr>
        <p:spPr>
          <a:xfrm>
            <a:off x="7772400" y="284797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FCD62AA-F7FA-4CA0-B88A-CBE67FEAC147}"/>
              </a:ext>
            </a:extLst>
          </p:cNvPr>
          <p:cNvSpPr>
            <a:spLocks noGrp="1"/>
          </p:cNvSpPr>
          <p:nvPr/>
        </p:nvSpPr>
        <p:spPr>
          <a:xfrm>
            <a:off x="7886700" y="294322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05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76555B2-DC6C-4822-9B4E-C0AA291830E7}"/>
              </a:ext>
            </a:extLst>
          </p:cNvPr>
          <p:cNvSpPr>
            <a:spLocks noGrp="1"/>
          </p:cNvSpPr>
          <p:nvPr/>
        </p:nvSpPr>
        <p:spPr>
          <a:xfrm>
            <a:off x="7886700" y="311467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ACT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F5737D7-04E5-4538-87DB-6977D6FAEEF3}"/>
              </a:ext>
            </a:extLst>
          </p:cNvPr>
          <p:cNvSpPr>
            <a:spLocks noGrp="1"/>
          </p:cNvSpPr>
          <p:nvPr/>
        </p:nvSpPr>
        <p:spPr>
          <a:xfrm>
            <a:off x="7886700" y="335280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Native OS bridge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02EFC5D-4F32-40E9-98A5-677958860762}"/>
              </a:ext>
            </a:extLst>
          </p:cNvPr>
          <p:cNvSpPr>
            <a:spLocks noGrp="1"/>
          </p:cNvSpPr>
          <p:nvPr/>
        </p:nvSpPr>
        <p:spPr>
          <a:xfrm>
            <a:off x="9458325" y="3067050"/>
            <a:ext cx="76200" cy="28575"/>
          </a:xfrm>
          <a:prstGeom prst="rect">
            <a:avLst/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66E315F-8BFB-439A-A5AC-ED7C27927924}"/>
              </a:ext>
            </a:extLst>
          </p:cNvPr>
          <p:cNvSpPr>
            <a:spLocks noGrp="1"/>
          </p:cNvSpPr>
          <p:nvPr/>
        </p:nvSpPr>
        <p:spPr>
          <a:xfrm>
            <a:off x="9448800" y="2895600"/>
            <a:ext cx="1333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›</a:t>
            </a: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10A6FCEC-7851-4C20-8F86-196DA34218FC}"/>
              </a:ext>
            </a:extLst>
          </p:cNvPr>
          <p:cNvSpPr>
            <a:spLocks noGrp="1"/>
          </p:cNvSpPr>
          <p:nvPr/>
        </p:nvSpPr>
        <p:spPr>
          <a:xfrm>
            <a:off x="9563100" y="2847975"/>
            <a:ext cx="16573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DE7459F-6D17-4DB6-B511-CCBD786A965A}"/>
              </a:ext>
            </a:extLst>
          </p:cNvPr>
          <p:cNvSpPr>
            <a:spLocks noGrp="1"/>
          </p:cNvSpPr>
          <p:nvPr/>
        </p:nvSpPr>
        <p:spPr>
          <a:xfrm>
            <a:off x="9677400" y="2943225"/>
            <a:ext cx="14287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06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D4F6863-1799-4CDD-967B-BEB3ADFE2672}"/>
              </a:ext>
            </a:extLst>
          </p:cNvPr>
          <p:cNvSpPr>
            <a:spLocks noGrp="1"/>
          </p:cNvSpPr>
          <p:nvPr/>
        </p:nvSpPr>
        <p:spPr>
          <a:xfrm>
            <a:off x="9677400" y="3114675"/>
            <a:ext cx="142875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PROVE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19D3C69-662B-4B8A-8A90-9B059F8CD185}"/>
              </a:ext>
            </a:extLst>
          </p:cNvPr>
          <p:cNvSpPr>
            <a:spLocks noGrp="1"/>
          </p:cNvSpPr>
          <p:nvPr/>
        </p:nvSpPr>
        <p:spPr>
          <a:xfrm>
            <a:off x="9677400" y="3352800"/>
            <a:ext cx="14287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Post-verify + consume</a:t>
            </a:r>
          </a:p>
        </p:txBody>
      </p:sp>
      <p:sp>
        <p:nvSpPr>
          <p:cNvPr id="61" name="圓角矩形 60">
            <a:extLst>
              <a:ext uri="{FF2B5EF4-FFF2-40B4-BE49-F238E27FC236}">
                <a16:creationId xmlns:a16="http://schemas.microsoft.com/office/drawing/2014/main" id="{E6D30A63-3EF7-46D7-B1BC-B83CE9649C03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4F9E9"/>
          </a:solidFill>
          <a:ln w="0">
            <a:solidFill>
              <a:srgbClr val="F4F9E9"/>
            </a:solidFill>
            <a:prstDash val="solid"/>
          </a:ln>
        </p:spPr>
        <p:txBody>
          <a:bodyPr/>
          <a:lstStyle/>
          <a:p>
            <a:endParaRPr lang="zh-TW" altLang="en-US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4EC0E77-50D9-4CC6-A19B-5F22C84F7D19}"/>
              </a:ext>
            </a:extLst>
          </p:cNvPr>
          <p:cNvSpPr>
            <a:spLocks noGrp="1"/>
          </p:cNvSpPr>
          <p:nvPr/>
        </p:nvSpPr>
        <p:spPr>
          <a:xfrm>
            <a:off x="781050" y="4086225"/>
            <a:ext cx="106299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628"/>
                </a:solidFill>
                <a:latin typeface="Aharoni" panose="02010803020104030203" pitchFamily="2" charset="-79"/>
                <a:ea typeface="Arial"/>
                <a:cs typeface="Aharoni" panose="02010803020104030203" pitchFamily="2" charset="-79"/>
              </a:rPr>
              <a:t>Human authority invariant: no approval, no action • no exact match, no execution • replay is rejected</a:t>
            </a:r>
          </a:p>
        </p:txBody>
      </p:sp>
    </p:spTree>
    <p:extLst>
      <p:ext uri="{BB962C8B-B14F-4D97-AF65-F5344CB8AC3E}">
        <p14:creationId xmlns:p14="http://schemas.microsoft.com/office/powerpoint/2010/main" val="3807130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C5A75668-6C7A-4E1A-9944-9923DB1BF07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1867DE-ADB6-4B57-A3EA-2BEDDD2D6BA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A deterministic control loop with proof at the end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E2BE2-EA1C-452A-8378-C2B581648C3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6A6A41-4106-4114-A675-865A221E76A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Every transition is typed, budgeted, and inspectable.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6884D2AC-F7BD-49FE-A122-C487E742E49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071628"/>
          </a:solidFill>
          <a:ln w="9525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F6B416D-395A-49F2-94DF-095ACA406867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52400" cy="152400"/>
          </a:xfrm>
          <a:prstGeom prst="ellipse">
            <a:avLst/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53DD0F-5EC6-4422-BE38-8889F71F8C15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INTENT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A9B6E1-F1BA-4DCD-9D59-254FAAA47759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Goal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28D343-3E1F-445D-B50F-AE1D8A083822}"/>
              </a:ext>
            </a:extLst>
          </p:cNvPr>
          <p:cNvSpPr>
            <a:spLocks noGrp="1"/>
          </p:cNvSpPr>
          <p:nvPr/>
        </p:nvSpPr>
        <p:spPr>
          <a:xfrm>
            <a:off x="22288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9E2C30-6AC4-4D46-A9A5-8A365305C04B}"/>
              </a:ext>
            </a:extLst>
          </p:cNvPr>
          <p:cNvSpPr>
            <a:spLocks noGrp="1"/>
          </p:cNvSpPr>
          <p:nvPr/>
        </p:nvSpPr>
        <p:spPr>
          <a:xfrm>
            <a:off x="22098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F01A0D6C-EF28-403B-9FDE-03EF7B29F1AC}"/>
              </a:ext>
            </a:extLst>
          </p:cNvPr>
          <p:cNvSpPr>
            <a:spLocks noGrp="1"/>
          </p:cNvSpPr>
          <p:nvPr/>
        </p:nvSpPr>
        <p:spPr>
          <a:xfrm>
            <a:off x="24765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0F62EF6-4160-410A-B382-71D6EA6A9E8A}"/>
              </a:ext>
            </a:extLst>
          </p:cNvPr>
          <p:cNvSpPr>
            <a:spLocks noGrp="1"/>
          </p:cNvSpPr>
          <p:nvPr/>
        </p:nvSpPr>
        <p:spPr>
          <a:xfrm>
            <a:off x="2667000" y="2286000"/>
            <a:ext cx="152400" cy="152400"/>
          </a:xfrm>
          <a:prstGeom prst="ellipse">
            <a:avLst/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325BB9-0DF4-4E8E-A662-4A2D3A39967F}"/>
              </a:ext>
            </a:extLst>
          </p:cNvPr>
          <p:cNvSpPr>
            <a:spLocks noGrp="1"/>
          </p:cNvSpPr>
          <p:nvPr/>
        </p:nvSpPr>
        <p:spPr>
          <a:xfrm>
            <a:off x="26670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SENSE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1E9496-ECC3-4CB8-953B-723D15C30884}"/>
              </a:ext>
            </a:extLst>
          </p:cNvPr>
          <p:cNvSpPr>
            <a:spLocks noGrp="1"/>
          </p:cNvSpPr>
          <p:nvPr/>
        </p:nvSpPr>
        <p:spPr>
          <a:xfrm>
            <a:off x="26670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DOM + AX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D8BB04-138A-45BE-B929-D4466035178A}"/>
              </a:ext>
            </a:extLst>
          </p:cNvPr>
          <p:cNvSpPr>
            <a:spLocks noGrp="1"/>
          </p:cNvSpPr>
          <p:nvPr/>
        </p:nvSpPr>
        <p:spPr>
          <a:xfrm>
            <a:off x="40957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1E3040-3E15-47E7-9772-65AE47ECBD9A}"/>
              </a:ext>
            </a:extLst>
          </p:cNvPr>
          <p:cNvSpPr>
            <a:spLocks noGrp="1"/>
          </p:cNvSpPr>
          <p:nvPr/>
        </p:nvSpPr>
        <p:spPr>
          <a:xfrm>
            <a:off x="40767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AD16D5D-00C7-4AA2-BFB4-45530C3F192F}"/>
              </a:ext>
            </a:extLst>
          </p:cNvPr>
          <p:cNvSpPr>
            <a:spLocks noGrp="1"/>
          </p:cNvSpPr>
          <p:nvPr/>
        </p:nvSpPr>
        <p:spPr>
          <a:xfrm>
            <a:off x="43434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9C6D9F24-1507-4BE9-A373-4C31D7C927A7}"/>
              </a:ext>
            </a:extLst>
          </p:cNvPr>
          <p:cNvSpPr>
            <a:spLocks noGrp="1"/>
          </p:cNvSpPr>
          <p:nvPr/>
        </p:nvSpPr>
        <p:spPr>
          <a:xfrm>
            <a:off x="4533900" y="2286000"/>
            <a:ext cx="152400" cy="15240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C1A9D5-F9F7-4AFA-85F0-CAEE62F1546B}"/>
              </a:ext>
            </a:extLst>
          </p:cNvPr>
          <p:cNvSpPr>
            <a:spLocks noGrp="1"/>
          </p:cNvSpPr>
          <p:nvPr/>
        </p:nvSpPr>
        <p:spPr>
          <a:xfrm>
            <a:off x="45339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PLAN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A17A09-9474-40F8-B8CA-38A5F5BE634D}"/>
              </a:ext>
            </a:extLst>
          </p:cNvPr>
          <p:cNvSpPr>
            <a:spLocks noGrp="1"/>
          </p:cNvSpPr>
          <p:nvPr/>
        </p:nvSpPr>
        <p:spPr>
          <a:xfrm>
            <a:off x="45339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Typed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E0969C-844F-472D-AC3A-B45C31E8DD82}"/>
              </a:ext>
            </a:extLst>
          </p:cNvPr>
          <p:cNvSpPr>
            <a:spLocks noGrp="1"/>
          </p:cNvSpPr>
          <p:nvPr/>
        </p:nvSpPr>
        <p:spPr>
          <a:xfrm>
            <a:off x="59626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A2FBA3-7E04-44AC-89CC-ED32323E9AB5}"/>
              </a:ext>
            </a:extLst>
          </p:cNvPr>
          <p:cNvSpPr>
            <a:spLocks noGrp="1"/>
          </p:cNvSpPr>
          <p:nvPr/>
        </p:nvSpPr>
        <p:spPr>
          <a:xfrm>
            <a:off x="59436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77410E14-952D-4045-93F8-759B8DE05E2D}"/>
              </a:ext>
            </a:extLst>
          </p:cNvPr>
          <p:cNvSpPr>
            <a:spLocks noGrp="1"/>
          </p:cNvSpPr>
          <p:nvPr/>
        </p:nvSpPr>
        <p:spPr>
          <a:xfrm>
            <a:off x="62103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48D7B90-4AD4-4F78-8328-5578528D8D1E}"/>
              </a:ext>
            </a:extLst>
          </p:cNvPr>
          <p:cNvSpPr>
            <a:spLocks noGrp="1"/>
          </p:cNvSpPr>
          <p:nvPr/>
        </p:nvSpPr>
        <p:spPr>
          <a:xfrm>
            <a:off x="6400800" y="2286000"/>
            <a:ext cx="152400" cy="152400"/>
          </a:xfrm>
          <a:prstGeom prst="ellipse">
            <a:avLst/>
          </a:prstGeom>
          <a:solidFill>
            <a:srgbClr val="178B98"/>
          </a:solidFill>
          <a:ln w="0">
            <a:solidFill>
              <a:srgbClr val="178B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AEA525-58AE-464F-AA05-F4A84B7CE7F6}"/>
              </a:ext>
            </a:extLst>
          </p:cNvPr>
          <p:cNvSpPr>
            <a:spLocks noGrp="1"/>
          </p:cNvSpPr>
          <p:nvPr/>
        </p:nvSpPr>
        <p:spPr>
          <a:xfrm>
            <a:off x="64008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ACT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F45A35-A9B5-4D5C-AC67-8B9F93C4D8AC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Local SDK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C3D773-192D-4BC5-8D7C-8E0FC0ADC69E}"/>
              </a:ext>
            </a:extLst>
          </p:cNvPr>
          <p:cNvSpPr>
            <a:spLocks noGrp="1"/>
          </p:cNvSpPr>
          <p:nvPr/>
        </p:nvSpPr>
        <p:spPr>
          <a:xfrm>
            <a:off x="78295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4E65A1-74AF-42C3-A372-5F900A24A0E7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33001C92-216E-43D6-B542-E3B5F93C64CB}"/>
              </a:ext>
            </a:extLst>
          </p:cNvPr>
          <p:cNvSpPr>
            <a:spLocks noGrp="1"/>
          </p:cNvSpPr>
          <p:nvPr/>
        </p:nvSpPr>
        <p:spPr>
          <a:xfrm>
            <a:off x="80772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E23F5B3C-68A9-421A-A951-1DCD55D6A1B3}"/>
              </a:ext>
            </a:extLst>
          </p:cNvPr>
          <p:cNvSpPr>
            <a:spLocks noGrp="1"/>
          </p:cNvSpPr>
          <p:nvPr/>
        </p:nvSpPr>
        <p:spPr>
          <a:xfrm>
            <a:off x="8267700" y="2286000"/>
            <a:ext cx="152400" cy="152400"/>
          </a:xfrm>
          <a:prstGeom prst="ellipse">
            <a:avLst/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EAD59F-C1E7-454F-BFD5-481631325226}"/>
              </a:ext>
            </a:extLst>
          </p:cNvPr>
          <p:cNvSpPr>
            <a:spLocks noGrp="1"/>
          </p:cNvSpPr>
          <p:nvPr/>
        </p:nvSpPr>
        <p:spPr>
          <a:xfrm>
            <a:off x="82677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PROVE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C4E9F36-1D84-435D-A95D-2300AFDC0585}"/>
              </a:ext>
            </a:extLst>
          </p:cNvPr>
          <p:cNvSpPr>
            <a:spLocks noGrp="1"/>
          </p:cNvSpPr>
          <p:nvPr/>
        </p:nvSpPr>
        <p:spPr>
          <a:xfrm>
            <a:off x="82677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Verifier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915B0B-A0C4-47DB-A1CA-43AF4AE6C67F}"/>
              </a:ext>
            </a:extLst>
          </p:cNvPr>
          <p:cNvSpPr>
            <a:spLocks noGrp="1"/>
          </p:cNvSpPr>
          <p:nvPr/>
        </p:nvSpPr>
        <p:spPr>
          <a:xfrm>
            <a:off x="9696450" y="2743200"/>
            <a:ext cx="38100" cy="28575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5BAC7B-A838-4A14-BE80-7A0CDC746395}"/>
              </a:ext>
            </a:extLst>
          </p:cNvPr>
          <p:cNvSpPr>
            <a:spLocks noGrp="1"/>
          </p:cNvSpPr>
          <p:nvPr/>
        </p:nvSpPr>
        <p:spPr>
          <a:xfrm>
            <a:off x="9677400" y="25717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542"/>
          </a:bodyPr>
          <a:lstStyle/>
          <a:p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A37177B1-E265-4F98-B710-F1B1FDD88526}"/>
              </a:ext>
            </a:extLst>
          </p:cNvPr>
          <p:cNvSpPr>
            <a:spLocks noGrp="1"/>
          </p:cNvSpPr>
          <p:nvPr/>
        </p:nvSpPr>
        <p:spPr>
          <a:xfrm>
            <a:off x="9944100" y="2095500"/>
            <a:ext cx="1562100" cy="1333500"/>
          </a:xfrm>
          <a:prstGeom prst="roundRect">
            <a:avLst>
              <a:gd name="adj" fmla="val 8571"/>
            </a:avLst>
          </a:prstGeom>
          <a:solidFill>
            <a:srgbClr val="071628"/>
          </a:solidFill>
          <a:ln w="9525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B3B62D2F-DE9B-4541-A5AB-6DAB947E1B01}"/>
              </a:ext>
            </a:extLst>
          </p:cNvPr>
          <p:cNvSpPr>
            <a:spLocks noGrp="1"/>
          </p:cNvSpPr>
          <p:nvPr/>
        </p:nvSpPr>
        <p:spPr>
          <a:xfrm>
            <a:off x="10134600" y="2286000"/>
            <a:ext cx="152400" cy="152400"/>
          </a:xfrm>
          <a:prstGeom prst="ellipse">
            <a:avLst/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318E005-75CD-42B6-BB0B-8913137E0DEC}"/>
              </a:ext>
            </a:extLst>
          </p:cNvPr>
          <p:cNvSpPr>
            <a:spLocks noGrp="1"/>
          </p:cNvSpPr>
          <p:nvPr/>
        </p:nvSpPr>
        <p:spPr>
          <a:xfrm>
            <a:off x="10134600" y="2571750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TRACE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E9E1E7F-3EE9-4FA1-A382-4B8FE35ADB5A}"/>
              </a:ext>
            </a:extLst>
          </p:cNvPr>
          <p:cNvSpPr>
            <a:spLocks noGrp="1"/>
          </p:cNvSpPr>
          <p:nvPr/>
        </p:nvSpPr>
        <p:spPr>
          <a:xfrm>
            <a:off x="10134600" y="29718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Redacted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1E00D7B3-848D-455F-A2AA-17EB5FF16162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390900" cy="142875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9525">
            <a:solidFill>
              <a:srgbClr val="CA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697E97B-A4A7-49DA-8CBD-0832DCCE5F5F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A0E2629-855A-46AF-83B3-64D61BEAF3AE}"/>
              </a:ext>
            </a:extLst>
          </p:cNvPr>
          <p:cNvSpPr>
            <a:spLocks noGrp="1"/>
          </p:cNvSpPr>
          <p:nvPr/>
        </p:nvSpPr>
        <p:spPr>
          <a:xfrm>
            <a:off x="1333500" y="42576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Exactly one target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D8504F2-9B8D-4EC2-96A8-5578B68A8874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2971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Ambiguity rejects the action; selector memory is earned only after proof.</a:t>
            </a: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ACAA958E-794E-4329-86DD-29D469CB8314}"/>
              </a:ext>
            </a:extLst>
          </p:cNvPr>
          <p:cNvSpPr>
            <a:spLocks noGrp="1"/>
          </p:cNvSpPr>
          <p:nvPr/>
        </p:nvSpPr>
        <p:spPr>
          <a:xfrm>
            <a:off x="4305300" y="4095750"/>
            <a:ext cx="3390900" cy="142875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9525">
            <a:solidFill>
              <a:srgbClr val="CA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1BF249E-CD7B-4432-96F2-D480988B58C2}"/>
              </a:ext>
            </a:extLst>
          </p:cNvPr>
          <p:cNvSpPr>
            <a:spLocks noGrp="1"/>
          </p:cNvSpPr>
          <p:nvPr/>
        </p:nvSpPr>
        <p:spPr>
          <a:xfrm>
            <a:off x="4514850" y="428625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496F8B9-9430-46B3-A575-6C754AF199EF}"/>
              </a:ext>
            </a:extLst>
          </p:cNvPr>
          <p:cNvSpPr>
            <a:spLocks noGrp="1"/>
          </p:cNvSpPr>
          <p:nvPr/>
        </p:nvSpPr>
        <p:spPr>
          <a:xfrm>
            <a:off x="5029200" y="42576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One local recovery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2134EAE-0B0C-43C4-BA90-733E8608EC3E}"/>
              </a:ext>
            </a:extLst>
          </p:cNvPr>
          <p:cNvSpPr>
            <a:spLocks noGrp="1"/>
          </p:cNvSpPr>
          <p:nvPr/>
        </p:nvSpPr>
        <p:spPr>
          <a:xfrm>
            <a:off x="4514850" y="4762500"/>
            <a:ext cx="2971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Then an optional slow planner—only if the routing profile still has budget.</a:t>
            </a:r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338ED44A-6DA6-4B3C-A386-38A7321CA9DE}"/>
              </a:ext>
            </a:extLst>
          </p:cNvPr>
          <p:cNvSpPr>
            <a:spLocks noGrp="1"/>
          </p:cNvSpPr>
          <p:nvPr/>
        </p:nvSpPr>
        <p:spPr>
          <a:xfrm>
            <a:off x="8001000" y="4095750"/>
            <a:ext cx="3390900" cy="142875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 w="9525">
            <a:solidFill>
              <a:srgbClr val="CA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33FDDBD-FD92-462C-83DA-29C86F2FFA5F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8A1A553-51AB-4C9E-B1ED-921C0C42AD4B}"/>
              </a:ext>
            </a:extLst>
          </p:cNvPr>
          <p:cNvSpPr>
            <a:spLocks noGrp="1"/>
          </p:cNvSpPr>
          <p:nvPr/>
        </p:nvSpPr>
        <p:spPr>
          <a:xfrm>
            <a:off x="8724900" y="42576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Evidence before learning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9835B47-6B32-42F7-9C44-76F258CFE136}"/>
              </a:ext>
            </a:extLst>
          </p:cNvPr>
          <p:cNvSpPr>
            <a:spLocks noGrp="1"/>
          </p:cNvSpPr>
          <p:nvPr/>
        </p:nvSpPr>
        <p:spPr>
          <a:xfrm>
            <a:off x="8210550" y="4762500"/>
            <a:ext cx="2971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Verified task IDs and unseen-UI holdout gate skill promotion.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1AA5EC8-A055-4946-9415-A68093172DB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browser-plan-v1 schema, target resolver, multipath controller, verifier, trace, and learning code.</a:t>
            </a:r>
          </a:p>
        </p:txBody>
      </p:sp>
    </p:spTree>
    <p:extLst>
      <p:ext uri="{BB962C8B-B14F-4D97-AF65-F5344CB8AC3E}">
        <p14:creationId xmlns:p14="http://schemas.microsoft.com/office/powerpoint/2010/main" val="21345529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6C53CF6A-651D-44DC-A5ED-E1F08AED0D5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PROJECT HIGHLIGHTS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FE651A-03D8-4196-AB53-EB805958382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Four engineering choices define LHIC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47E613-6F89-48A6-AE31-12994A80C9A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BF05BE-CD50-4F20-9DCA-670334D9850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The project is differentiated by constraints that survive changes in planner or interface.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81EEC4EE-43B5-4B9F-ADBE-1E32EC30234B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0143808-DD66-4CBA-9303-47C1D55F8D84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8F10C-5EF9-4AB9-AEB2-FE6E289A9485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F617B0-7594-4480-97F8-4E7BEF3BE6FA}"/>
              </a:ext>
            </a:extLst>
          </p:cNvPr>
          <p:cNvSpPr>
            <a:spLocks noGrp="1"/>
          </p:cNvSpPr>
          <p:nvPr/>
        </p:nvSpPr>
        <p:spPr>
          <a:xfrm>
            <a:off x="1676400" y="214312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Verifier-first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BE5A9E-7154-4D54-AB71-F3E713A491FC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Every step states its postcondition before execution. Missing evidence fails closed.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5F68DE94-8F53-425F-9C66-71F5A2D8EE21}"/>
              </a:ext>
            </a:extLst>
          </p:cNvPr>
          <p:cNvSpPr>
            <a:spLocks noGrp="1"/>
          </p:cNvSpPr>
          <p:nvPr/>
        </p:nvSpPr>
        <p:spPr>
          <a:xfrm>
            <a:off x="6134100" y="1905000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96A94797-C46D-4D5B-AFE1-57F029FFFF52}"/>
              </a:ext>
            </a:extLst>
          </p:cNvPr>
          <p:cNvSpPr>
            <a:spLocks noGrp="1"/>
          </p:cNvSpPr>
          <p:nvPr/>
        </p:nvSpPr>
        <p:spPr>
          <a:xfrm>
            <a:off x="6134100" y="190500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759E20"/>
          </a:solidFill>
          <a:ln w="0">
            <a:solidFill>
              <a:srgbClr val="759E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CB574C-A07A-440B-949F-8872FE17D013}"/>
              </a:ext>
            </a:extLst>
          </p:cNvPr>
          <p:cNvSpPr>
            <a:spLocks noGrp="1"/>
          </p:cNvSpPr>
          <p:nvPr/>
        </p:nvSpPr>
        <p:spPr>
          <a:xfrm>
            <a:off x="6457950" y="217170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761A93-C8A2-4E2C-88FD-DD25D36E9F7D}"/>
              </a:ext>
            </a:extLst>
          </p:cNvPr>
          <p:cNvSpPr>
            <a:spLocks noGrp="1"/>
          </p:cNvSpPr>
          <p:nvPr/>
        </p:nvSpPr>
        <p:spPr>
          <a:xfrm>
            <a:off x="7200900" y="214312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Exact human authority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AB67BB-C6B8-411D-A58A-ED7301375869}"/>
              </a:ext>
            </a:extLst>
          </p:cNvPr>
          <p:cNvSpPr>
            <a:spLocks noGrp="1"/>
          </p:cNvSpPr>
          <p:nvPr/>
        </p:nvSpPr>
        <p:spPr>
          <a:xfrm>
            <a:off x="6457950" y="2743200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Approval hashes the entire action, expires quickly, and cannot be replayed.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453E216-8E23-4E3E-9531-DD042ACD8C46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EE7DDB4F-D338-43E7-9DE2-6C840E0EA6D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3980C6"/>
          </a:solidFill>
          <a:ln w="0">
            <a:solidFill>
              <a:srgbClr val="3980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8F34B7-F17A-4AC2-9E17-E9E9AA47113E}"/>
              </a:ext>
            </a:extLst>
          </p:cNvPr>
          <p:cNvSpPr>
            <a:spLocks noGrp="1"/>
          </p:cNvSpPr>
          <p:nvPr/>
        </p:nvSpPr>
        <p:spPr>
          <a:xfrm>
            <a:off x="933450" y="41338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2FD0CA-C773-4293-AC34-0DE7B82D63BC}"/>
              </a:ext>
            </a:extLst>
          </p:cNvPr>
          <p:cNvSpPr>
            <a:spLocks noGrp="1"/>
          </p:cNvSpPr>
          <p:nvPr/>
        </p:nvSpPr>
        <p:spPr>
          <a:xfrm>
            <a:off x="1676400" y="41052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Semantic resilience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C0CA63-79B9-4938-9491-AEC6B8469B17}"/>
              </a:ext>
            </a:extLst>
          </p:cNvPr>
          <p:cNvSpPr>
            <a:spLocks noGrp="1"/>
          </p:cNvSpPr>
          <p:nvPr/>
        </p:nvSpPr>
        <p:spPr>
          <a:xfrm>
            <a:off x="933450" y="4705350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DOM and accessibility targets must resolve uniquely; verified history can heal selectors.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E235A3CF-9034-4F2E-9A1D-0D7728B412DF}"/>
              </a:ext>
            </a:extLst>
          </p:cNvPr>
          <p:cNvSpPr>
            <a:spLocks noGrp="1"/>
          </p:cNvSpPr>
          <p:nvPr/>
        </p:nvSpPr>
        <p:spPr>
          <a:xfrm>
            <a:off x="6134100" y="3867150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0E440B4C-C51D-401D-B317-268CB35AF58A}"/>
              </a:ext>
            </a:extLst>
          </p:cNvPr>
          <p:cNvSpPr>
            <a:spLocks noGrp="1"/>
          </p:cNvSpPr>
          <p:nvPr/>
        </p:nvSpPr>
        <p:spPr>
          <a:xfrm>
            <a:off x="6134100" y="386715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E22D96-76C4-466E-A959-339EF7DF291C}"/>
              </a:ext>
            </a:extLst>
          </p:cNvPr>
          <p:cNvSpPr>
            <a:spLocks noGrp="1"/>
          </p:cNvSpPr>
          <p:nvPr/>
        </p:nvSpPr>
        <p:spPr>
          <a:xfrm>
            <a:off x="6457950" y="4133850"/>
            <a:ext cx="59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C154BD-FC54-41CC-BB47-3E160131792B}"/>
              </a:ext>
            </a:extLst>
          </p:cNvPr>
          <p:cNvSpPr>
            <a:spLocks noGrp="1"/>
          </p:cNvSpPr>
          <p:nvPr/>
        </p:nvSpPr>
        <p:spPr>
          <a:xfrm>
            <a:off x="7200900" y="41052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Evidence-gated learning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D8A3B6-9105-484A-963A-88BB1AA5C3D2}"/>
              </a:ext>
            </a:extLst>
          </p:cNvPr>
          <p:cNvSpPr>
            <a:spLocks noGrp="1"/>
          </p:cNvSpPr>
          <p:nvPr/>
        </p:nvSpPr>
        <p:spPr>
          <a:xfrm>
            <a:off x="6457950" y="4705350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Three independent verified task IDs plus an unseen-UI holdout are required.</a:t>
            </a: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7D3871AA-C5C5-4A51-8D07-76EE0AC45176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2152650" cy="304800"/>
          </a:xfrm>
          <a:prstGeom prst="roundRect">
            <a:avLst>
              <a:gd name="adj" fmla="val 37500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8AF86EE-7AED-497A-8890-1819EEF929ED}"/>
              </a:ext>
            </a:extLst>
          </p:cNvPr>
          <p:cNvSpPr>
            <a:spLocks noGrp="1"/>
          </p:cNvSpPr>
          <p:nvPr/>
        </p:nvSpPr>
        <p:spPr>
          <a:xfrm>
            <a:off x="704850" y="6019800"/>
            <a:ext cx="1962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PLUS: HARDENED TRACES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431D1FAA-57AF-4E3E-80F6-B8A87D30511D}"/>
              </a:ext>
            </a:extLst>
          </p:cNvPr>
          <p:cNvSpPr>
            <a:spLocks noGrp="1"/>
          </p:cNvSpPr>
          <p:nvPr/>
        </p:nvSpPr>
        <p:spPr>
          <a:xfrm>
            <a:off x="2895600" y="5953125"/>
            <a:ext cx="2609850" cy="304800"/>
          </a:xfrm>
          <a:prstGeom prst="roundRect">
            <a:avLst>
              <a:gd name="adj" fmla="val 37500"/>
            </a:avLst>
          </a:prstGeom>
          <a:solidFill>
            <a:srgbClr val="E4F7F9"/>
          </a:solidFill>
          <a:ln w="0">
            <a:solidFill>
              <a:srgbClr val="E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7B3B1C-0138-4F1B-8346-D29131A0E2EE}"/>
              </a:ext>
            </a:extLst>
          </p:cNvPr>
          <p:cNvSpPr>
            <a:spLocks noGrp="1"/>
          </p:cNvSpPr>
          <p:nvPr/>
        </p:nvSpPr>
        <p:spPr>
          <a:xfrm>
            <a:off x="2990850" y="6019800"/>
            <a:ext cx="2419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F9A"/>
                </a:solidFill>
                <a:latin typeface="Aharoni"/>
                <a:ea typeface="Aharoni"/>
                <a:cs typeface="Aharoni"/>
              </a:rPr>
              <a:t>MULTIPLE OPERATOR SURFACES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81D4E1E9-E25C-4420-A58D-54F49D1F8CAA}"/>
              </a:ext>
            </a:extLst>
          </p:cNvPr>
          <p:cNvSpPr>
            <a:spLocks noGrp="1"/>
          </p:cNvSpPr>
          <p:nvPr/>
        </p:nvSpPr>
        <p:spPr>
          <a:xfrm>
            <a:off x="5638800" y="5953125"/>
            <a:ext cx="238125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0">
            <a:solidFill>
              <a:srgbClr val="F0F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C983CE-9999-46E3-A286-9759B2D05050}"/>
              </a:ext>
            </a:extLst>
          </p:cNvPr>
          <p:cNvSpPr>
            <a:spLocks noGrp="1"/>
          </p:cNvSpPr>
          <p:nvPr/>
        </p:nvSpPr>
        <p:spPr>
          <a:xfrm>
            <a:off x="5734050" y="60198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LOCAL-FIRST SKILL MEMORY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59C055-9066-450F-AF13-1124E442BC1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security, trace, memory, selector resolver, and schema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883988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0C4FFF16-21EE-43D6-BB06-476441B5696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CONTROLLED PROOF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286E6C-49D3-4E8E-9153-BF621532AEB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The current checkout passed its full local evidence suite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DB1F94-923C-4BE8-ADE5-BDB92799C3E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98148D-205E-4C54-A9A7-5420D215AA8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Internal regression evidence—not an external market or state-of-the-art claim.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294F1345-10FD-4674-8464-93303718068D}"/>
              </a:ext>
            </a:extLst>
          </p:cNvPr>
          <p:cNvSpPr>
            <a:spLocks noGrp="1"/>
          </p:cNvSpPr>
          <p:nvPr/>
        </p:nvSpPr>
        <p:spPr>
          <a:xfrm>
            <a:off x="9620250" y="1200150"/>
            <a:ext cx="184785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9525">
            <a:solidFill>
              <a:srgbClr val="AFCB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267B8E-0CCC-4E29-A752-0921916BFDAC}"/>
              </a:ext>
            </a:extLst>
          </p:cNvPr>
          <p:cNvSpPr>
            <a:spLocks noGrp="1"/>
          </p:cNvSpPr>
          <p:nvPr/>
        </p:nvSpPr>
        <p:spPr>
          <a:xfrm>
            <a:off x="9715500" y="1266825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CONTROLLED LOCAL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CA4F1F57-1671-4A43-A86D-69F88F03EA23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2533650" cy="2324100"/>
          </a:xfrm>
          <a:prstGeom prst="roundRect">
            <a:avLst>
              <a:gd name="adj" fmla="val 49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37D1B-3269-4571-BCFD-6AD17E5C9B2E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buNone/>
              <a:defRPr sz="28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341/341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63447D-DD37-4237-8E27-D8C25871CCCF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TESTS PASSED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8AB908-014E-4A3C-B8B3-9304EC86A753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93 test files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13F80F31-4659-49C7-93DB-105B053A904A}"/>
              </a:ext>
            </a:extLst>
          </p:cNvPr>
          <p:cNvSpPr>
            <a:spLocks noGrp="1"/>
          </p:cNvSpPr>
          <p:nvPr/>
        </p:nvSpPr>
        <p:spPr>
          <a:xfrm>
            <a:off x="3314700" y="1962150"/>
            <a:ext cx="2533650" cy="2324100"/>
          </a:xfrm>
          <a:prstGeom prst="roundRect">
            <a:avLst>
              <a:gd name="adj" fmla="val 49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98AB3C-E728-42A6-84B0-685C6F61E8AD}"/>
              </a:ext>
            </a:extLst>
          </p:cNvPr>
          <p:cNvSpPr>
            <a:spLocks noGrp="1"/>
          </p:cNvSpPr>
          <p:nvPr/>
        </p:nvSpPr>
        <p:spPr>
          <a:xfrm>
            <a:off x="3543300" y="222885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buNone/>
              <a:defRPr sz="31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100%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0448B1-F622-4E2D-80D4-501C7FFC1FCD}"/>
              </a:ext>
            </a:extLst>
          </p:cNvPr>
          <p:cNvSpPr>
            <a:spLocks noGrp="1"/>
          </p:cNvSpPr>
          <p:nvPr/>
        </p:nvSpPr>
        <p:spPr>
          <a:xfrm>
            <a:off x="3543300" y="30289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TASK SUCCESS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5608FD-499F-4184-A916-A3942137F946}"/>
              </a:ext>
            </a:extLst>
          </p:cNvPr>
          <p:cNvSpPr>
            <a:spLocks noGrp="1"/>
          </p:cNvSpPr>
          <p:nvPr/>
        </p:nvSpPr>
        <p:spPr>
          <a:xfrm>
            <a:off x="3543300" y="33909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300 executions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1CBB74D-B5BB-44A5-982D-64B4AD6D7CDD}"/>
              </a:ext>
            </a:extLst>
          </p:cNvPr>
          <p:cNvSpPr>
            <a:spLocks noGrp="1"/>
          </p:cNvSpPr>
          <p:nvPr/>
        </p:nvSpPr>
        <p:spPr>
          <a:xfrm>
            <a:off x="6019800" y="1962150"/>
            <a:ext cx="2533650" cy="2324100"/>
          </a:xfrm>
          <a:prstGeom prst="roundRect">
            <a:avLst>
              <a:gd name="adj" fmla="val 49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5CD2B1-4913-41D7-A2D9-2A7E8F17D5CF}"/>
              </a:ext>
            </a:extLst>
          </p:cNvPr>
          <p:cNvSpPr>
            <a:spLocks noGrp="1"/>
          </p:cNvSpPr>
          <p:nvPr/>
        </p:nvSpPr>
        <p:spPr>
          <a:xfrm>
            <a:off x="6248400" y="222885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buNone/>
              <a:defRPr sz="31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774 ms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A5BFBF-D07F-4F70-BD8E-781B98236056}"/>
              </a:ext>
            </a:extLst>
          </p:cNvPr>
          <p:cNvSpPr>
            <a:spLocks noGrp="1"/>
          </p:cNvSpPr>
          <p:nvPr/>
        </p:nvSpPr>
        <p:spPr>
          <a:xfrm>
            <a:off x="6248400" y="30289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P95 LATENCY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E3F8B3-0E1D-4064-9E69-BB91D3CE6FC2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60 fixtures × 5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7FE596A-8BC0-4E7E-BA0E-92AF9A408112}"/>
              </a:ext>
            </a:extLst>
          </p:cNvPr>
          <p:cNvSpPr>
            <a:spLocks noGrp="1"/>
          </p:cNvSpPr>
          <p:nvPr/>
        </p:nvSpPr>
        <p:spPr>
          <a:xfrm>
            <a:off x="8724900" y="1962150"/>
            <a:ext cx="2533650" cy="2324100"/>
          </a:xfrm>
          <a:prstGeom prst="roundRect">
            <a:avLst>
              <a:gd name="adj" fmla="val 49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771FAC-9605-4C00-962A-397B139B2873}"/>
              </a:ext>
            </a:extLst>
          </p:cNvPr>
          <p:cNvSpPr>
            <a:spLocks noGrp="1"/>
          </p:cNvSpPr>
          <p:nvPr/>
        </p:nvSpPr>
        <p:spPr>
          <a:xfrm>
            <a:off x="8953500" y="222885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buNone/>
              <a:defRPr sz="31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18EEA5-A97A-433E-9629-C1C8F77A4066}"/>
              </a:ext>
            </a:extLst>
          </p:cNvPr>
          <p:cNvSpPr>
            <a:spLocks noGrp="1"/>
          </p:cNvSpPr>
          <p:nvPr/>
        </p:nvSpPr>
        <p:spPr>
          <a:xfrm>
            <a:off x="8953500" y="30289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MODEL + MCP CALLS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1FA071-6B25-4ADD-B677-B3AA9C0C0314}"/>
              </a:ext>
            </a:extLst>
          </p:cNvPr>
          <p:cNvSpPr>
            <a:spLocks noGrp="1"/>
          </p:cNvSpPr>
          <p:nvPr/>
        </p:nvSpPr>
        <p:spPr>
          <a:xfrm>
            <a:off x="8953500" y="33909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per Fast Path task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AE7B371E-7CAB-4EAA-8238-6B3428F8D33D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744200" cy="1066800"/>
          </a:xfrm>
          <a:prstGeom prst="roundRect">
            <a:avLst>
              <a:gd name="adj" fmla="val 10714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E2D2A9F-9374-40CC-985D-5BB9E3A9289B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100%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355610-5CDA-4E4E-98F3-349B7B5ACC7D}"/>
              </a:ext>
            </a:extLst>
          </p:cNvPr>
          <p:cNvSpPr>
            <a:spLocks noGrp="1"/>
          </p:cNvSpPr>
          <p:nvPr/>
        </p:nvSpPr>
        <p:spPr>
          <a:xfrm>
            <a:off x="81915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structured actions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22E0B5-D0F7-4BD0-85DD-675231EAE2BD}"/>
              </a:ext>
            </a:extLst>
          </p:cNvPr>
          <p:cNvSpPr>
            <a:spLocks noGrp="1"/>
          </p:cNvSpPr>
          <p:nvPr/>
        </p:nvSpPr>
        <p:spPr>
          <a:xfrm>
            <a:off x="2571750" y="4905375"/>
            <a:ext cx="9525" cy="628650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D33E169-0DD5-4E4B-8626-6A30EED36F48}"/>
              </a:ext>
            </a:extLst>
          </p:cNvPr>
          <p:cNvSpPr>
            <a:spLocks noGrp="1"/>
          </p:cNvSpPr>
          <p:nvPr/>
        </p:nvSpPr>
        <p:spPr>
          <a:xfrm>
            <a:off x="289560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6EB965-D5B0-42FE-8B22-D8CBFF8E0D53}"/>
              </a:ext>
            </a:extLst>
          </p:cNvPr>
          <p:cNvSpPr>
            <a:spLocks noGrp="1"/>
          </p:cNvSpPr>
          <p:nvPr/>
        </p:nvSpPr>
        <p:spPr>
          <a:xfrm>
            <a:off x="289560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raw coordinates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368E037-C81A-4649-BD6A-2E556EB6D63B}"/>
              </a:ext>
            </a:extLst>
          </p:cNvPr>
          <p:cNvSpPr>
            <a:spLocks noGrp="1"/>
          </p:cNvSpPr>
          <p:nvPr/>
        </p:nvSpPr>
        <p:spPr>
          <a:xfrm>
            <a:off x="4648200" y="4905375"/>
            <a:ext cx="9525" cy="628650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EF022A-9ABA-4ACA-B46C-FC009A2B2DAF}"/>
              </a:ext>
            </a:extLst>
          </p:cNvPr>
          <p:cNvSpPr>
            <a:spLocks noGrp="1"/>
          </p:cNvSpPr>
          <p:nvPr/>
        </p:nvSpPr>
        <p:spPr>
          <a:xfrm>
            <a:off x="497205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100%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D68E23A-F36D-465D-83C1-050B1873535E}"/>
              </a:ext>
            </a:extLst>
          </p:cNvPr>
          <p:cNvSpPr>
            <a:spLocks noGrp="1"/>
          </p:cNvSpPr>
          <p:nvPr/>
        </p:nvSpPr>
        <p:spPr>
          <a:xfrm>
            <a:off x="497205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verifier pass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865F92-EFC4-4857-BABE-31211DEF5DD3}"/>
              </a:ext>
            </a:extLst>
          </p:cNvPr>
          <p:cNvSpPr>
            <a:spLocks noGrp="1"/>
          </p:cNvSpPr>
          <p:nvPr/>
        </p:nvSpPr>
        <p:spPr>
          <a:xfrm>
            <a:off x="6724650" y="4905375"/>
            <a:ext cx="9525" cy="628650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1A698CF-D18E-4A84-B38F-5D5B667A6BC5}"/>
              </a:ext>
            </a:extLst>
          </p:cNvPr>
          <p:cNvSpPr>
            <a:spLocks noGrp="1"/>
          </p:cNvSpPr>
          <p:nvPr/>
        </p:nvSpPr>
        <p:spPr>
          <a:xfrm>
            <a:off x="704850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A1483E6-E56E-40B4-9701-AA8964C6BD5B}"/>
              </a:ext>
            </a:extLst>
          </p:cNvPr>
          <p:cNvSpPr>
            <a:spLocks noGrp="1"/>
          </p:cNvSpPr>
          <p:nvPr/>
        </p:nvSpPr>
        <p:spPr>
          <a:xfrm>
            <a:off x="704850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false-positive success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304D5C-8515-4EB8-9EE9-F74745119CB6}"/>
              </a:ext>
            </a:extLst>
          </p:cNvPr>
          <p:cNvSpPr>
            <a:spLocks noGrp="1"/>
          </p:cNvSpPr>
          <p:nvPr/>
        </p:nvSpPr>
        <p:spPr>
          <a:xfrm>
            <a:off x="8801100" y="4905375"/>
            <a:ext cx="9525" cy="628650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D4682B6-5BCB-4369-AEEB-53C636ABDD15}"/>
              </a:ext>
            </a:extLst>
          </p:cNvPr>
          <p:cNvSpPr>
            <a:spLocks noGrp="1"/>
          </p:cNvSpPr>
          <p:nvPr/>
        </p:nvSpPr>
        <p:spPr>
          <a:xfrm>
            <a:off x="9124950" y="49149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1987A94-0955-4160-836A-C4E131A451C8}"/>
              </a:ext>
            </a:extLst>
          </p:cNvPr>
          <p:cNvSpPr>
            <a:spLocks noGrp="1"/>
          </p:cNvSpPr>
          <p:nvPr/>
        </p:nvSpPr>
        <p:spPr>
          <a:xfrm>
            <a:off x="9124950" y="5286375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human intervention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AE1D78B-A52E-4861-B255-B51C5AEA7AA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npm run bench:internal, executed 20 Jul 2026 • local fixture regression • all configured gates passed.</a:t>
            </a:r>
          </a:p>
        </p:txBody>
      </p:sp>
    </p:spTree>
    <p:extLst>
      <p:ext uri="{BB962C8B-B14F-4D97-AF65-F5344CB8AC3E}">
        <p14:creationId xmlns:p14="http://schemas.microsoft.com/office/powerpoint/2010/main" val="41437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5BEF1D0-30B6-43AF-AFFA-8A55C3A3218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RESILIENCE SIGNAL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779FFE-74E4-497F-86FF-485A6F5C332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Semantic targeting survived the controlled selector ablation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6004BD-E471-4561-B0B6-2800043BD87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537401-F530-437E-BBAF-3CA586D87F13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A deliberately limited static selector baseline is useful for regression contrast—not market comparison.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2717440E-6AD7-4CE6-B95D-ED71014E3AD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6191250" cy="39433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7" name="Chart"/>
          <p:cNvGraphicFramePr/>
          <p:nvPr/>
        </p:nvGraphicFramePr>
        <p:xfrm>
          <a:off x="1009650" y="2209800"/>
          <a:ext cx="5410200" cy="310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圓角矩形 6">
            <a:extLst>
              <a:ext uri="{FF2B5EF4-FFF2-40B4-BE49-F238E27FC236}">
                <a16:creationId xmlns:a16="http://schemas.microsoft.com/office/drawing/2014/main" id="{D4622C2F-2CFF-4AD3-9ED0-5B32FADF2412}"/>
              </a:ext>
            </a:extLst>
          </p:cNvPr>
          <p:cNvSpPr>
            <a:spLocks noGrp="1"/>
          </p:cNvSpPr>
          <p:nvPr/>
        </p:nvSpPr>
        <p:spPr>
          <a:xfrm>
            <a:off x="7200900" y="1809750"/>
            <a:ext cx="4152900" cy="1676400"/>
          </a:xfrm>
          <a:prstGeom prst="roundRect">
            <a:avLst>
              <a:gd name="adj" fmla="val 6818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1F36DE-4498-4BA8-8D0F-3A39327D42AA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3695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buNone/>
              <a:defRPr sz="31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+80 pp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EB4695-EBFB-4A4D-BF5E-19733F4BA51E}"/>
              </a:ext>
            </a:extLst>
          </p:cNvPr>
          <p:cNvSpPr>
            <a:spLocks noGrp="1"/>
          </p:cNvSpPr>
          <p:nvPr/>
        </p:nvSpPr>
        <p:spPr>
          <a:xfrm>
            <a:off x="7429500" y="2647950"/>
            <a:ext cx="369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CONTROLLED DELTA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B083CA-A701-4CD1-A7A5-06CD962AC05A}"/>
              </a:ext>
            </a:extLst>
          </p:cNvPr>
          <p:cNvSpPr>
            <a:spLocks noGrp="1"/>
          </p:cNvSpPr>
          <p:nvPr/>
        </p:nvSpPr>
        <p:spPr>
          <a:xfrm>
            <a:off x="7429500" y="2990850"/>
            <a:ext cx="3695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100% semantic route vs 20% intentionally limited static selector route.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8F6D7C0-77CA-4C88-B2CE-48F4276C40AE}"/>
              </a:ext>
            </a:extLst>
          </p:cNvPr>
          <p:cNvSpPr>
            <a:spLocks noGrp="1"/>
          </p:cNvSpPr>
          <p:nvPr/>
        </p:nvSpPr>
        <p:spPr>
          <a:xfrm>
            <a:off x="7200900" y="3714750"/>
            <a:ext cx="41529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396903-FF4E-48AD-B882-42C68F4EF41A}"/>
              </a:ext>
            </a:extLst>
          </p:cNvPr>
          <p:cNvSpPr>
            <a:spLocks noGrp="1"/>
          </p:cNvSpPr>
          <p:nvPr/>
        </p:nvSpPr>
        <p:spPr>
          <a:xfrm>
            <a:off x="7467600" y="39814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What this does prove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51A3CC4C-89D0-4232-9B6C-36CC5393A1D9}"/>
              </a:ext>
            </a:extLst>
          </p:cNvPr>
          <p:cNvSpPr>
            <a:spLocks noGrp="1"/>
          </p:cNvSpPr>
          <p:nvPr/>
        </p:nvSpPr>
        <p:spPr>
          <a:xfrm>
            <a:off x="7467600" y="4505325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B2890-B504-415B-9B5D-448F86238B00}"/>
              </a:ext>
            </a:extLst>
          </p:cNvPr>
          <p:cNvSpPr>
            <a:spLocks noGrp="1"/>
          </p:cNvSpPr>
          <p:nvPr/>
        </p:nvSpPr>
        <p:spPr>
          <a:xfrm>
            <a:off x="7677150" y="4429125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Semantic resolution is wired into execution.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5CAEE155-5494-446C-BBCD-CA8336D3B06E}"/>
              </a:ext>
            </a:extLst>
          </p:cNvPr>
          <p:cNvSpPr>
            <a:spLocks noGrp="1"/>
          </p:cNvSpPr>
          <p:nvPr/>
        </p:nvSpPr>
        <p:spPr>
          <a:xfrm>
            <a:off x="7467600" y="4991100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F6084F-898A-4426-9BC2-CA3393941B0B}"/>
              </a:ext>
            </a:extLst>
          </p:cNvPr>
          <p:cNvSpPr>
            <a:spLocks noGrp="1"/>
          </p:cNvSpPr>
          <p:nvPr/>
        </p:nvSpPr>
        <p:spPr>
          <a:xfrm>
            <a:off x="7677150" y="4914900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Healing preserves verifier evidence.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526DCC9B-7BFA-4D4A-9E34-A05C53D22408}"/>
              </a:ext>
            </a:extLst>
          </p:cNvPr>
          <p:cNvSpPr>
            <a:spLocks noGrp="1"/>
          </p:cNvSpPr>
          <p:nvPr/>
        </p:nvSpPr>
        <p:spPr>
          <a:xfrm>
            <a:off x="7467600" y="5334000"/>
            <a:ext cx="3143250" cy="304800"/>
          </a:xfrm>
          <a:prstGeom prst="roundRect">
            <a:avLst>
              <a:gd name="adj" fmla="val 37500"/>
            </a:avLst>
          </a:prstGeom>
          <a:solidFill>
            <a:srgbClr val="FFF3E4"/>
          </a:solidFill>
          <a:ln w="9525">
            <a:solidFill>
              <a:srgbClr val="E9C2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4D51A3-923B-4F43-8FB1-BA771A29BF1E}"/>
              </a:ext>
            </a:extLst>
          </p:cNvPr>
          <p:cNvSpPr>
            <a:spLocks noGrp="1"/>
          </p:cNvSpPr>
          <p:nvPr/>
        </p:nvSpPr>
        <p:spPr>
          <a:xfrm>
            <a:off x="7562850" y="540067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750" b="1" i="0">
                <a:solidFill>
                  <a:srgbClr val="A4641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46415"/>
                </a:solidFill>
                <a:latin typeface="Aharoni"/>
                <a:ea typeface="Aharoni"/>
                <a:cs typeface="Aharoni"/>
              </a:rPr>
              <a:t>NO EXTERNAL-SUBMISSION ELIGIBILITY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D5C7EB-01DF-4721-99B4-0E141DEA927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npm run bench:simulate, seed 20260715 • controlled ablation • externalSubmissionEligible=false.</a:t>
            </a:r>
          </a:p>
        </p:txBody>
      </p:sp>
    </p:spTree>
    <p:extLst>
      <p:ext uri="{BB962C8B-B14F-4D97-AF65-F5344CB8AC3E}">
        <p14:creationId xmlns:p14="http://schemas.microsoft.com/office/powerpoint/2010/main" val="108615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781C2EE8-E176-4999-961D-DC30B2B92E7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SAFETY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DFFA62-8E04-4FE2-B61D-D72E9C8B166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Trust is enforced in the execution layer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72B034-A727-439A-90A5-A6B1C3B419A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4B3416-6534-4D16-BD97-0AECEF38684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Network, authority, evidence, and provider controls reinforce each other.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E934152-4D7B-4D43-B787-7D13C18B42C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371850" cy="3695700"/>
          </a:xfrm>
          <a:prstGeom prst="roundRect">
            <a:avLst>
              <a:gd name="adj" fmla="val 3390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42D0000-F9A9-4D24-AADE-94BB732A9555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71450" cy="17145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0A4106-3BBF-45DC-B998-FDBC39B4A69E}"/>
              </a:ext>
            </a:extLst>
          </p:cNvPr>
          <p:cNvSpPr>
            <a:spLocks noGrp="1"/>
          </p:cNvSpPr>
          <p:nvPr/>
        </p:nvSpPr>
        <p:spPr>
          <a:xfrm>
            <a:off x="1181100" y="20859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NETWORK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C944A1-D32D-4A11-9ECE-4E5F84530397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8384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Reject private targets, credentialed URLs, unsafe redirects, and invalid protocols.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C4D993-8BAA-4DE5-988D-6CA98E1CEEA6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2838450" cy="9525"/>
          </a:xfrm>
          <a:prstGeom prst="rect">
            <a:avLst/>
          </a:prstGeom>
          <a:solidFill>
            <a:srgbClr val="34506F"/>
          </a:solidFill>
          <a:ln w="0">
            <a:solidFill>
              <a:srgbClr val="3450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5D833B2F-5877-4F18-ABA9-7C7D83488B87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A5C0EA-C8CD-4BE2-A203-3048599FD931}"/>
              </a:ext>
            </a:extLst>
          </p:cNvPr>
          <p:cNvSpPr>
            <a:spLocks noGrp="1"/>
          </p:cNvSpPr>
          <p:nvPr/>
        </p:nvSpPr>
        <p:spPr>
          <a:xfrm>
            <a:off x="1085850" y="41148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DNS + redirect checks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64A7FBD0-E293-4F31-892A-C63FED858F47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4C233D-5C0A-4492-8DFE-40F7F7F6C93E}"/>
              </a:ext>
            </a:extLst>
          </p:cNvPr>
          <p:cNvSpPr>
            <a:spLocks noGrp="1"/>
          </p:cNvSpPr>
          <p:nvPr/>
        </p:nvSpPr>
        <p:spPr>
          <a:xfrm>
            <a:off x="1085850" y="45148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Origin / protocol policy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ED050349-4230-4AB7-9E51-AD35C4F5E945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76200" cy="76200"/>
          </a:xfrm>
          <a:prstGeom prst="ellipse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6C53F3-0202-4061-A624-EE2B7FDA953D}"/>
              </a:ext>
            </a:extLst>
          </p:cNvPr>
          <p:cNvSpPr>
            <a:spLocks noGrp="1"/>
          </p:cNvSpPr>
          <p:nvPr/>
        </p:nvSpPr>
        <p:spPr>
          <a:xfrm>
            <a:off x="1085850" y="49149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No browser coordinates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543DC8D7-C924-4C9C-946D-3724EE4EFB39}"/>
              </a:ext>
            </a:extLst>
          </p:cNvPr>
          <p:cNvSpPr>
            <a:spLocks noGrp="1"/>
          </p:cNvSpPr>
          <p:nvPr/>
        </p:nvSpPr>
        <p:spPr>
          <a:xfrm>
            <a:off x="4305300" y="1866900"/>
            <a:ext cx="3371850" cy="3695700"/>
          </a:xfrm>
          <a:prstGeom prst="roundRect">
            <a:avLst>
              <a:gd name="adj" fmla="val 3390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F0526E89-8C39-453F-A177-36A82A04154F}"/>
              </a:ext>
            </a:extLst>
          </p:cNvPr>
          <p:cNvSpPr>
            <a:spLocks noGrp="1"/>
          </p:cNvSpPr>
          <p:nvPr/>
        </p:nvSpPr>
        <p:spPr>
          <a:xfrm>
            <a:off x="4572000" y="2133600"/>
            <a:ext cx="171450" cy="171450"/>
          </a:xfrm>
          <a:prstGeom prst="ellipse">
            <a:avLst/>
          </a:prstGeom>
          <a:solidFill>
            <a:srgbClr val="B9F34A"/>
          </a:solidFill>
          <a:ln w="0">
            <a:solidFill>
              <a:srgbClr val="B9F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14D709-D25F-4158-A6AF-089276C560FF}"/>
              </a:ext>
            </a:extLst>
          </p:cNvPr>
          <p:cNvSpPr>
            <a:spLocks noGrp="1"/>
          </p:cNvSpPr>
          <p:nvPr/>
        </p:nvSpPr>
        <p:spPr>
          <a:xfrm>
            <a:off x="4876800" y="20859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AUTHORITY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97E84FF-FBBA-4004-92E0-A434CA386DC9}"/>
              </a:ext>
            </a:extLst>
          </p:cNvPr>
          <p:cNvSpPr>
            <a:spLocks noGrp="1"/>
          </p:cNvSpPr>
          <p:nvPr/>
        </p:nvSpPr>
        <p:spPr>
          <a:xfrm>
            <a:off x="4572000" y="2647950"/>
            <a:ext cx="28384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Bind approval to the exact action. Expire it quickly. Reject every replay.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F871ED-6F0C-4CCB-B52C-86794852F490}"/>
              </a:ext>
            </a:extLst>
          </p:cNvPr>
          <p:cNvSpPr>
            <a:spLocks noGrp="1"/>
          </p:cNvSpPr>
          <p:nvPr/>
        </p:nvSpPr>
        <p:spPr>
          <a:xfrm>
            <a:off x="4572000" y="3905250"/>
            <a:ext cx="2838450" cy="9525"/>
          </a:xfrm>
          <a:prstGeom prst="rect">
            <a:avLst/>
          </a:prstGeom>
          <a:solidFill>
            <a:srgbClr val="34506F"/>
          </a:solidFill>
          <a:ln w="0">
            <a:solidFill>
              <a:srgbClr val="3450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5AE07B2D-182D-4D9B-826E-DBBB40EF5606}"/>
              </a:ext>
            </a:extLst>
          </p:cNvPr>
          <p:cNvSpPr>
            <a:spLocks noGrp="1"/>
          </p:cNvSpPr>
          <p:nvPr/>
        </p:nvSpPr>
        <p:spPr>
          <a:xfrm>
            <a:off x="4572000" y="4191000"/>
            <a:ext cx="76200" cy="76200"/>
          </a:xfrm>
          <a:prstGeom prst="ellipse">
            <a:avLst/>
          </a:prstGeom>
          <a:solidFill>
            <a:srgbClr val="B9F34A"/>
          </a:solidFill>
          <a:ln w="0">
            <a:solidFill>
              <a:srgbClr val="B9F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9406FB-35C4-441C-B7CA-FDEF297AFAEC}"/>
              </a:ext>
            </a:extLst>
          </p:cNvPr>
          <p:cNvSpPr>
            <a:spLocks noGrp="1"/>
          </p:cNvSpPr>
          <p:nvPr/>
        </p:nvSpPr>
        <p:spPr>
          <a:xfrm>
            <a:off x="4781550" y="41148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Ed25519 in production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4B6C928B-04F1-40D7-8ACA-64124632D46C}"/>
              </a:ext>
            </a:extLst>
          </p:cNvPr>
          <p:cNvSpPr>
            <a:spLocks noGrp="1"/>
          </p:cNvSpPr>
          <p:nvPr/>
        </p:nvSpPr>
        <p:spPr>
          <a:xfrm>
            <a:off x="4572000" y="4591050"/>
            <a:ext cx="76200" cy="76200"/>
          </a:xfrm>
          <a:prstGeom prst="ellipse">
            <a:avLst/>
          </a:prstGeom>
          <a:solidFill>
            <a:srgbClr val="B9F34A"/>
          </a:solidFill>
          <a:ln w="0">
            <a:solidFill>
              <a:srgbClr val="B9F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7AEBE8-ABDC-4E15-9F6E-DCCA428B2D93}"/>
              </a:ext>
            </a:extLst>
          </p:cNvPr>
          <p:cNvSpPr>
            <a:spLocks noGrp="1"/>
          </p:cNvSpPr>
          <p:nvPr/>
        </p:nvSpPr>
        <p:spPr>
          <a:xfrm>
            <a:off x="4781550" y="45148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≤ 5 minute lifetime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8FDC404-1CC6-4036-9C26-A99F63D8E233}"/>
              </a:ext>
            </a:extLst>
          </p:cNvPr>
          <p:cNvSpPr>
            <a:spLocks noGrp="1"/>
          </p:cNvSpPr>
          <p:nvPr/>
        </p:nvSpPr>
        <p:spPr>
          <a:xfrm>
            <a:off x="4572000" y="4991100"/>
            <a:ext cx="76200" cy="76200"/>
          </a:xfrm>
          <a:prstGeom prst="ellipse">
            <a:avLst/>
          </a:prstGeom>
          <a:solidFill>
            <a:srgbClr val="B9F34A"/>
          </a:solidFill>
          <a:ln w="0">
            <a:solidFill>
              <a:srgbClr val="B9F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38CB3A-7B49-4FC5-9D2A-6773BE6E07E3}"/>
              </a:ext>
            </a:extLst>
          </p:cNvPr>
          <p:cNvSpPr>
            <a:spLocks noGrp="1"/>
          </p:cNvSpPr>
          <p:nvPr/>
        </p:nvSpPr>
        <p:spPr>
          <a:xfrm>
            <a:off x="4781550" y="49149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Atomic one-time marker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BAE4D266-26F0-47DB-A0D1-2D3AFCBFA5E2}"/>
              </a:ext>
            </a:extLst>
          </p:cNvPr>
          <p:cNvSpPr>
            <a:spLocks noGrp="1"/>
          </p:cNvSpPr>
          <p:nvPr/>
        </p:nvSpPr>
        <p:spPr>
          <a:xfrm>
            <a:off x="8001000" y="1866900"/>
            <a:ext cx="3371850" cy="3695700"/>
          </a:xfrm>
          <a:prstGeom prst="roundRect">
            <a:avLst>
              <a:gd name="adj" fmla="val 3390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7655730-62C5-4A3C-87A6-A373DD48219F}"/>
              </a:ext>
            </a:extLst>
          </p:cNvPr>
          <p:cNvSpPr>
            <a:spLocks noGrp="1"/>
          </p:cNvSpPr>
          <p:nvPr/>
        </p:nvSpPr>
        <p:spPr>
          <a:xfrm>
            <a:off x="8267700" y="2133600"/>
            <a:ext cx="171450" cy="17145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D1255E-1CEC-4E8D-AFE5-D793A5CC504D}"/>
              </a:ext>
            </a:extLst>
          </p:cNvPr>
          <p:cNvSpPr>
            <a:spLocks noGrp="1"/>
          </p:cNvSpPr>
          <p:nvPr/>
        </p:nvSpPr>
        <p:spPr>
          <a:xfrm>
            <a:off x="8572500" y="20859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EVIDENCE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A66729-DAE9-4AFA-B6CB-15933240536F}"/>
              </a:ext>
            </a:extLst>
          </p:cNvPr>
          <p:cNvSpPr>
            <a:spLocks noGrp="1"/>
          </p:cNvSpPr>
          <p:nvPr/>
        </p:nvSpPr>
        <p:spPr>
          <a:xfrm>
            <a:off x="8267700" y="2647950"/>
            <a:ext cx="28384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Do not report success without the declared postcondition and a redacted trace.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BD199D-389F-408E-8286-37D40C9FA9DC}"/>
              </a:ext>
            </a:extLst>
          </p:cNvPr>
          <p:cNvSpPr>
            <a:spLocks noGrp="1"/>
          </p:cNvSpPr>
          <p:nvPr/>
        </p:nvSpPr>
        <p:spPr>
          <a:xfrm>
            <a:off x="8267700" y="3905250"/>
            <a:ext cx="2838450" cy="9525"/>
          </a:xfrm>
          <a:prstGeom prst="rect">
            <a:avLst/>
          </a:prstGeom>
          <a:solidFill>
            <a:srgbClr val="34506F"/>
          </a:solidFill>
          <a:ln w="0">
            <a:solidFill>
              <a:srgbClr val="3450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C294534D-10C0-4A5A-93DC-B365196B1E5E}"/>
              </a:ext>
            </a:extLst>
          </p:cNvPr>
          <p:cNvSpPr>
            <a:spLocks noGrp="1"/>
          </p:cNvSpPr>
          <p:nvPr/>
        </p:nvSpPr>
        <p:spPr>
          <a:xfrm>
            <a:off x="8267700" y="4191000"/>
            <a:ext cx="76200" cy="7620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40FC95A-0052-4F7B-BB85-BC6A1382302C}"/>
              </a:ext>
            </a:extLst>
          </p:cNvPr>
          <p:cNvSpPr>
            <a:spLocks noGrp="1"/>
          </p:cNvSpPr>
          <p:nvPr/>
        </p:nvSpPr>
        <p:spPr>
          <a:xfrm>
            <a:off x="8477250" y="41148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Verifier is mandatory</a:t>
            </a: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2EAE7ACC-16CE-4E51-BD49-BD4E0283A887}"/>
              </a:ext>
            </a:extLst>
          </p:cNvPr>
          <p:cNvSpPr>
            <a:spLocks noGrp="1"/>
          </p:cNvSpPr>
          <p:nvPr/>
        </p:nvSpPr>
        <p:spPr>
          <a:xfrm>
            <a:off x="8267700" y="4591050"/>
            <a:ext cx="76200" cy="7620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99EBDA6-C728-43EE-91F6-2ABABA28B55A}"/>
              </a:ext>
            </a:extLst>
          </p:cNvPr>
          <p:cNvSpPr>
            <a:spLocks noGrp="1"/>
          </p:cNvSpPr>
          <p:nvPr/>
        </p:nvSpPr>
        <p:spPr>
          <a:xfrm>
            <a:off x="8477250" y="45148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PII + action values redacted</a:t>
            </a: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57921194-AA79-4D8B-B352-BAD839FB5406}"/>
              </a:ext>
            </a:extLst>
          </p:cNvPr>
          <p:cNvSpPr>
            <a:spLocks noGrp="1"/>
          </p:cNvSpPr>
          <p:nvPr/>
        </p:nvSpPr>
        <p:spPr>
          <a:xfrm>
            <a:off x="8267700" y="4991100"/>
            <a:ext cx="76200" cy="76200"/>
          </a:xfrm>
          <a:prstGeom prst="ellipse">
            <a:avLst/>
          </a:prstGeom>
          <a:solidFill>
            <a:srgbClr val="8E7BFF"/>
          </a:solidFill>
          <a:ln w="0">
            <a:solidFill>
              <a:srgbClr val="8E7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81B20AA-268B-45BE-92D6-55A9C0579A04}"/>
              </a:ext>
            </a:extLst>
          </p:cNvPr>
          <p:cNvSpPr>
            <a:spLocks noGrp="1"/>
          </p:cNvSpPr>
          <p:nvPr/>
        </p:nvSpPr>
        <p:spPr>
          <a:xfrm>
            <a:off x="8477250" y="49149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Secure trace creation</a:t>
            </a: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1BDC28F8-070D-4E76-93AF-0CBB7DF17E6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744200" cy="400050"/>
          </a:xfrm>
          <a:prstGeom prst="roundRect">
            <a:avLst>
              <a:gd name="adj" fmla="val 28571"/>
            </a:avLst>
          </a:prstGeom>
          <a:solidFill>
            <a:srgbClr val="122E4E"/>
          </a:solidFill>
          <a:ln w="0">
            <a:solidFill>
              <a:srgbClr val="122E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F1930DB-0523-4FDF-A257-BD08D20A2379}"/>
              </a:ext>
            </a:extLst>
          </p:cNvPr>
          <p:cNvSpPr>
            <a:spLocks noGrp="1"/>
          </p:cNvSpPr>
          <p:nvPr/>
        </p:nvSpPr>
        <p:spPr>
          <a:xfrm>
            <a:off x="819150" y="6010275"/>
            <a:ext cx="10325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Optional models can suggest actions. They cannot expand budget, bypass policy, approve themselves, or redefine success.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36ED85-2AB2-4B49-82E8-39F8C2BB03C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F94AD"/>
                </a:solidFill>
                <a:latin typeface="Aharoni"/>
                <a:ea typeface="Aharoni"/>
                <a:cs typeface="Aharoni"/>
              </a:rPr>
              <a:t>Source: security/approval/replay, production browser guards, trace redaction, verifier, and OpenAI planner code.</a:t>
            </a:r>
          </a:p>
        </p:txBody>
      </p:sp>
    </p:spTree>
    <p:extLst>
      <p:ext uri="{BB962C8B-B14F-4D97-AF65-F5344CB8AC3E}">
        <p14:creationId xmlns:p14="http://schemas.microsoft.com/office/powerpoint/2010/main" val="505336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F4F401A1-21D2-4A27-9E24-F1FA576713A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SKILL MEMORY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23468F-3995-4573-81D5-1D32CDDC53D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Learning is earned through independent proof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F85E38-00F4-47AD-83D8-8CA2FCC0163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B60556-BC43-4BEC-BE29-59A453487B8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LHIC does not promote a successful trace directly into the Fast Path.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D54BA2-4648-48A4-916D-71D65A75A235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9620250" cy="28575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ED7A31A-3ED9-4F18-B6F2-98E60CC85241}"/>
              </a:ext>
            </a:extLst>
          </p:cNvPr>
          <p:cNvSpPr>
            <a:spLocks noGrp="1"/>
          </p:cNvSpPr>
          <p:nvPr/>
        </p:nvSpPr>
        <p:spPr>
          <a:xfrm>
            <a:off x="1314450" y="2981325"/>
            <a:ext cx="323850" cy="323850"/>
          </a:xfrm>
          <a:prstGeom prst="ellipse">
            <a:avLst/>
          </a:prstGeom>
          <a:solidFill>
            <a:srgbClr val="22C7D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E66300-D0FB-483B-BD21-07B3EB9F592A}"/>
              </a:ext>
            </a:extLst>
          </p:cNvPr>
          <p:cNvSpPr>
            <a:spLocks noGrp="1"/>
          </p:cNvSpPr>
          <p:nvPr/>
        </p:nvSpPr>
        <p:spPr>
          <a:xfrm>
            <a:off x="1323975" y="3067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85E744-90ED-4838-B013-B7BEBC8F1F36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Verified run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56F692-76C4-41C4-9911-058DAB27776D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Task succeeds with declared postcondition evidence.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4C4F94-E468-4D9C-88C4-53C4AB97727C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RUN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7E0E74D-3121-439A-A78B-7188039F237C}"/>
              </a:ext>
            </a:extLst>
          </p:cNvPr>
          <p:cNvSpPr>
            <a:spLocks noGrp="1"/>
          </p:cNvSpPr>
          <p:nvPr/>
        </p:nvSpPr>
        <p:spPr>
          <a:xfrm>
            <a:off x="4314825" y="2981325"/>
            <a:ext cx="323850" cy="323850"/>
          </a:xfrm>
          <a:prstGeom prst="ellipse">
            <a:avLst/>
          </a:prstGeom>
          <a:solidFill>
            <a:srgbClr val="3980C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2FA102-DE46-4FA3-B09B-4036FBE15063}"/>
              </a:ext>
            </a:extLst>
          </p:cNvPr>
          <p:cNvSpPr>
            <a:spLocks noGrp="1"/>
          </p:cNvSpPr>
          <p:nvPr/>
        </p:nvSpPr>
        <p:spPr>
          <a:xfrm>
            <a:off x="4324350" y="3067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144719-5A1B-4E3E-8E44-B62544ECBE38}"/>
              </a:ext>
            </a:extLst>
          </p:cNvPr>
          <p:cNvSpPr>
            <a:spLocks noGrp="1"/>
          </p:cNvSpPr>
          <p:nvPr/>
        </p:nvSpPr>
        <p:spPr>
          <a:xfrm>
            <a:off x="4048125" y="36385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Independent repetition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378A78-9BE4-4E7F-82B2-B8ABC925692B}"/>
              </a:ext>
            </a:extLst>
          </p:cNvPr>
          <p:cNvSpPr>
            <a:spLocks noGrp="1"/>
          </p:cNvSpPr>
          <p:nvPr/>
        </p:nvSpPr>
        <p:spPr>
          <a:xfrm>
            <a:off x="4048125" y="407670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Three distinct verified task IDs are required.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10DF8B-E6CD-42D6-BBEB-41FF801FB98E}"/>
              </a:ext>
            </a:extLst>
          </p:cNvPr>
          <p:cNvSpPr>
            <a:spLocks noGrp="1"/>
          </p:cNvSpPr>
          <p:nvPr/>
        </p:nvSpPr>
        <p:spPr>
          <a:xfrm>
            <a:off x="4143375" y="2476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GATE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B669F60-A6E8-4BB1-9F6B-88E58A22F280}"/>
              </a:ext>
            </a:extLst>
          </p:cNvPr>
          <p:cNvSpPr>
            <a:spLocks noGrp="1"/>
          </p:cNvSpPr>
          <p:nvPr/>
        </p:nvSpPr>
        <p:spPr>
          <a:xfrm>
            <a:off x="7315200" y="2981325"/>
            <a:ext cx="323850" cy="323850"/>
          </a:xfrm>
          <a:prstGeom prst="ellipse">
            <a:avLst/>
          </a:prstGeom>
          <a:solidFill>
            <a:srgbClr val="8E7B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AFDF61-32CB-4D9E-A059-04AEF2AC8E6D}"/>
              </a:ext>
            </a:extLst>
          </p:cNvPr>
          <p:cNvSpPr>
            <a:spLocks noGrp="1"/>
          </p:cNvSpPr>
          <p:nvPr/>
        </p:nvSpPr>
        <p:spPr>
          <a:xfrm>
            <a:off x="7324725" y="3067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97AF50-2800-4461-B860-0E0AE0209776}"/>
              </a:ext>
            </a:extLst>
          </p:cNvPr>
          <p:cNvSpPr>
            <a:spLocks noGrp="1"/>
          </p:cNvSpPr>
          <p:nvPr/>
        </p:nvSpPr>
        <p:spPr>
          <a:xfrm>
            <a:off x="7048500" y="36385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Unseen-UI holdout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73C6A4-8C06-478C-84B2-C709926A68FE}"/>
              </a:ext>
            </a:extLst>
          </p:cNvPr>
          <p:cNvSpPr>
            <a:spLocks noGrp="1"/>
          </p:cNvSpPr>
          <p:nvPr/>
        </p:nvSpPr>
        <p:spPr>
          <a:xfrm>
            <a:off x="7048500" y="407670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Offline test must use a new UI fingerprint.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7B2C85-433D-42A9-8E67-423298EFC263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GATE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ACE70217-E856-4167-9190-7E4943B11E19}"/>
              </a:ext>
            </a:extLst>
          </p:cNvPr>
          <p:cNvSpPr>
            <a:spLocks noGrp="1"/>
          </p:cNvSpPr>
          <p:nvPr/>
        </p:nvSpPr>
        <p:spPr>
          <a:xfrm>
            <a:off x="10315575" y="2981325"/>
            <a:ext cx="323850" cy="323850"/>
          </a:xfrm>
          <a:prstGeom prst="ellipse">
            <a:avLst/>
          </a:prstGeom>
          <a:solidFill>
            <a:srgbClr val="759E2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E8AB066-C0CD-4D6A-9883-43D021B22E57}"/>
              </a:ext>
            </a:extLst>
          </p:cNvPr>
          <p:cNvSpPr>
            <a:spLocks noGrp="1"/>
          </p:cNvSpPr>
          <p:nvPr/>
        </p:nvSpPr>
        <p:spPr>
          <a:xfrm>
            <a:off x="10325100" y="3067050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5E9671-0666-4E0A-B692-26D737DB85AB}"/>
              </a:ext>
            </a:extLst>
          </p:cNvPr>
          <p:cNvSpPr>
            <a:spLocks noGrp="1"/>
          </p:cNvSpPr>
          <p:nvPr/>
        </p:nvSpPr>
        <p:spPr>
          <a:xfrm>
            <a:off x="10048875" y="3638550"/>
            <a:ext cx="2076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Promoted skill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B70D3E-9E8B-4F65-BF4D-272853FA34C8}"/>
              </a:ext>
            </a:extLst>
          </p:cNvPr>
          <p:cNvSpPr>
            <a:spLocks noGrp="1"/>
          </p:cNvSpPr>
          <p:nvPr/>
        </p:nvSpPr>
        <p:spPr>
          <a:xfrm>
            <a:off x="10048875" y="407670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Only redacted/hash provenance enters memory.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515EA5-85E3-4EEB-B2F2-025931B5B51B}"/>
              </a:ext>
            </a:extLst>
          </p:cNvPr>
          <p:cNvSpPr>
            <a:spLocks noGrp="1"/>
          </p:cNvSpPr>
          <p:nvPr/>
        </p:nvSpPr>
        <p:spPr>
          <a:xfrm>
            <a:off x="10144125" y="2476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FAST PATH ELIGIBLE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0145634C-B133-47E0-B889-3095E2E007D4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744200" cy="666750"/>
          </a:xfrm>
          <a:prstGeom prst="roundRect">
            <a:avLst>
              <a:gd name="adj" fmla="val 17143"/>
            </a:avLst>
          </a:prstGeom>
          <a:solidFill>
            <a:srgbClr val="F0F8DF"/>
          </a:solidFill>
          <a:ln w="9525">
            <a:solidFill>
              <a:srgbClr val="D7E7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3848F4-06FF-4216-9D90-2F908614FD06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10210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619" lnSpcReduction="10000"/>
          </a:bodyPr>
          <a:lstStyle/>
          <a:p>
            <a:pPr algn="ctr">
              <a:buNone/>
              <a:defRPr sz="1350" b="1" i="0">
                <a:solidFill>
                  <a:srgbClr val="4E6E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E6E16"/>
                </a:solidFill>
                <a:latin typeface="Aharoni"/>
                <a:ea typeface="Aharoni"/>
                <a:cs typeface="Aharoni"/>
              </a:rPr>
              <a:t>Promotion stays blocked until every evidence gate passes—and network synchronization is completed before runtime, never during the Fast Path.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179E16B-D9F2-44BC-AD84-B71A59D0014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learning gate, skill store, shared-skill eligibility, and selector-memory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02984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C1BC6A78-D4A8-411F-8640-3CAEBD5C6FD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PRODUCT SURFACES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882892-CB0A-4C27-8CDC-47B11570B13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One runtime. Four operator surfaces.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9B538-11A3-4E42-A611-2A5DDA37BE4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6EC6F2-5748-436E-A6D3-BF9157350F25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The repository is broader than a demo script.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1AED14-A538-4AA6-8E4C-30CF5B6CB15F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F20D3-17F3-4515-8910-2A3026F834F0}"/>
              </a:ext>
            </a:extLst>
          </p:cNvPr>
          <p:cNvSpPr>
            <a:spLocks noGrp="1"/>
          </p:cNvSpPr>
          <p:nvPr/>
        </p:nvSpPr>
        <p:spPr>
          <a:xfrm>
            <a:off x="1162050" y="20574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Desktop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89D25B-37D1-4A62-B583-EEFEAC444781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Electron/React operator console, approvals, dashboard, release UX.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F7B7FA-2E36-4C24-92E1-CEA8A77CD8AE}"/>
              </a:ext>
            </a:extLst>
          </p:cNvPr>
          <p:cNvSpPr>
            <a:spLocks noGrp="1"/>
          </p:cNvSpPr>
          <p:nvPr/>
        </p:nvSpPr>
        <p:spPr>
          <a:xfrm>
            <a:off x="1162050" y="2857500"/>
            <a:ext cx="4000500" cy="9525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57B2C8-1AFE-47FC-A911-A80443706D76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B9DCE9-6FF9-4E25-8713-A866540B5A09}"/>
              </a:ext>
            </a:extLst>
          </p:cNvPr>
          <p:cNvSpPr>
            <a:spLocks noGrp="1"/>
          </p:cNvSpPr>
          <p:nvPr/>
        </p:nvSpPr>
        <p:spPr>
          <a:xfrm>
            <a:off x="1162050" y="295275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CLI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B15EAF-E8EE-46C9-8014-26CD4C52F7DC}"/>
              </a:ext>
            </a:extLst>
          </p:cNvPr>
          <p:cNvSpPr>
            <a:spLocks noGrp="1"/>
          </p:cNvSpPr>
          <p:nvPr/>
        </p:nvSpPr>
        <p:spPr>
          <a:xfrm>
            <a:off x="1162050" y="32670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Task execution, inspection, benchmarks, packaging, and operator workflows.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2E562B-4A1E-4801-B33A-963D1084DD0D}"/>
              </a:ext>
            </a:extLst>
          </p:cNvPr>
          <p:cNvSpPr>
            <a:spLocks noGrp="1"/>
          </p:cNvSpPr>
          <p:nvPr/>
        </p:nvSpPr>
        <p:spPr>
          <a:xfrm>
            <a:off x="1162050" y="3752850"/>
            <a:ext cx="4000500" cy="9525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60E91C-18C8-4B66-A066-FB0FECEEB331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CA4D24-9E91-4A22-BD94-F3AABDC50995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MCP server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C587EA-4756-48B3-9CD7-1736FA103AA5}"/>
              </a:ext>
            </a:extLst>
          </p:cNvPr>
          <p:cNvSpPr>
            <a:spLocks noGrp="1"/>
          </p:cNvSpPr>
          <p:nvPr/>
        </p:nvSpPr>
        <p:spPr>
          <a:xfrm>
            <a:off x="1162050" y="41624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Slow-path and external-agent adapter—explicitly outside Fast Path.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4BF139-FD5C-4882-983D-5A735F873C31}"/>
              </a:ext>
            </a:extLst>
          </p:cNvPr>
          <p:cNvSpPr>
            <a:spLocks noGrp="1"/>
          </p:cNvSpPr>
          <p:nvPr/>
        </p:nvSpPr>
        <p:spPr>
          <a:xfrm>
            <a:off x="1162050" y="4648200"/>
            <a:ext cx="4000500" cy="9525"/>
          </a:xfrm>
          <a:prstGeom prst="rect">
            <a:avLst/>
          </a:prstGeom>
          <a:solidFill>
            <a:srgbClr val="D6DEE8"/>
          </a:solidFill>
          <a:ln w="0">
            <a:solidFill>
              <a:srgbClr val="D6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C3839F-1E97-4B6E-8E76-9E500DCE9B83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F92C19-87BC-435A-8102-6DC81AC2AB16}"/>
              </a:ext>
            </a:extLst>
          </p:cNvPr>
          <p:cNvSpPr>
            <a:spLocks noGrp="1"/>
          </p:cNvSpPr>
          <p:nvPr/>
        </p:nvSpPr>
        <p:spPr>
          <a:xfrm>
            <a:off x="1162050" y="474345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Shared skills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8ECBD1-17A6-4C06-8AD7-26FFDFCE8A53}"/>
              </a:ext>
            </a:extLst>
          </p:cNvPr>
          <p:cNvSpPr>
            <a:spLocks noGrp="1"/>
          </p:cNvSpPr>
          <p:nvPr/>
        </p:nvSpPr>
        <p:spPr>
          <a:xfrm>
            <a:off x="1162050" y="50577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Appwrite-backed control plane with local cache before runtime.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F078CFD0-D731-4EB7-8EE6-E06421708A01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276350" cy="304800"/>
          </a:xfrm>
          <a:prstGeom prst="roundRect">
            <a:avLst>
              <a:gd name="adj" fmla="val 37500"/>
            </a:avLst>
          </a:prstGeom>
          <a:solidFill>
            <a:srgbClr val="071628"/>
          </a:solidFill>
          <a:ln w="0">
            <a:solidFill>
              <a:srgbClr val="07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8C2E08-9D24-4855-9419-5A1C7283492A}"/>
              </a:ext>
            </a:extLst>
          </p:cNvPr>
          <p:cNvSpPr>
            <a:spLocks noGrp="1"/>
          </p:cNvSpPr>
          <p:nvPr/>
        </p:nvSpPr>
        <p:spPr>
          <a:xfrm>
            <a:off x="704850" y="601027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12 PACKAGES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D2B6AE1A-0F05-4F33-BFDD-6F2D9EAD2849}"/>
              </a:ext>
            </a:extLst>
          </p:cNvPr>
          <p:cNvSpPr>
            <a:spLocks noGrp="1"/>
          </p:cNvSpPr>
          <p:nvPr/>
        </p:nvSpPr>
        <p:spPr>
          <a:xfrm>
            <a:off x="2000250" y="5943600"/>
            <a:ext cx="1028700" cy="304800"/>
          </a:xfrm>
          <a:prstGeom prst="roundRect">
            <a:avLst>
              <a:gd name="adj" fmla="val 37500"/>
            </a:avLst>
          </a:prstGeom>
          <a:solidFill>
            <a:srgbClr val="E4F7F9"/>
          </a:solidFill>
          <a:ln w="0">
            <a:solidFill>
              <a:srgbClr val="E4F7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387072-25B0-41B3-9B8F-76A2EEDB956D}"/>
              </a:ext>
            </a:extLst>
          </p:cNvPr>
          <p:cNvSpPr>
            <a:spLocks noGrp="1"/>
          </p:cNvSpPr>
          <p:nvPr/>
        </p:nvSpPr>
        <p:spPr>
          <a:xfrm>
            <a:off x="2095500" y="6010275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25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68F9A"/>
                </a:solidFill>
                <a:latin typeface="Aharoni"/>
                <a:ea typeface="Aharoni"/>
                <a:cs typeface="Aharoni"/>
              </a:rPr>
              <a:t>4 APPS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E589B95A-D91A-4989-999B-C278CD122A5A}"/>
              </a:ext>
            </a:extLst>
          </p:cNvPr>
          <p:cNvSpPr>
            <a:spLocks noGrp="1"/>
          </p:cNvSpPr>
          <p:nvPr/>
        </p:nvSpPr>
        <p:spPr>
          <a:xfrm>
            <a:off x="3143250" y="5943600"/>
            <a:ext cx="116205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0">
            <a:solidFill>
              <a:srgbClr val="F0F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053425-F1C8-4D43-8C8B-DC5962CC6E9F}"/>
              </a:ext>
            </a:extLst>
          </p:cNvPr>
          <p:cNvSpPr>
            <a:spLocks noGrp="1"/>
          </p:cNvSpPr>
          <p:nvPr/>
        </p:nvSpPr>
        <p:spPr>
          <a:xfrm>
            <a:off x="3238500" y="6010275"/>
            <a:ext cx="971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286 FILES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FEACD58A-6802-47F0-BE1B-5F3D3891A18A}"/>
              </a:ext>
            </a:extLst>
          </p:cNvPr>
          <p:cNvSpPr>
            <a:spLocks noGrp="1"/>
          </p:cNvSpPr>
          <p:nvPr/>
        </p:nvSpPr>
        <p:spPr>
          <a:xfrm>
            <a:off x="5734050" y="609600"/>
            <a:ext cx="5791200" cy="5429250"/>
          </a:xfrm>
          <a:prstGeom prst="roundRect">
            <a:avLst>
              <a:gd name="adj" fmla="val 2807"/>
            </a:avLst>
          </a:prstGeom>
          <a:solidFill>
            <a:srgbClr val="071628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圖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0" y="1791891"/>
            <a:ext cx="5448300" cy="3064669"/>
          </a:xfrm>
          <a:prstGeom prst="roundRect">
            <a:avLst>
              <a:gd name="adj" fmla="val 2247"/>
            </a:avLst>
          </a:prstGeom>
        </p:spPr>
      </p:pic>
      <p:sp>
        <p:nvSpPr>
          <p:cNvPr id="28" name="圓角矩形 27">
            <a:extLst>
              <a:ext uri="{FF2B5EF4-FFF2-40B4-BE49-F238E27FC236}">
                <a16:creationId xmlns:a16="http://schemas.microsoft.com/office/drawing/2014/main" id="{F66BB2A6-A112-42C4-920E-DF0717550597}"/>
              </a:ext>
            </a:extLst>
          </p:cNvPr>
          <p:cNvSpPr>
            <a:spLocks noGrp="1"/>
          </p:cNvSpPr>
          <p:nvPr/>
        </p:nvSpPr>
        <p:spPr>
          <a:xfrm>
            <a:off x="8648700" y="876300"/>
            <a:ext cx="2533650" cy="304800"/>
          </a:xfrm>
          <a:prstGeom prst="roundRect">
            <a:avLst>
              <a:gd name="adj" fmla="val 37500"/>
            </a:avLst>
          </a:prstGeom>
          <a:solidFill>
            <a:srgbClr val="0B1B31"/>
          </a:solidFill>
          <a:ln w="9525">
            <a:solidFill>
              <a:srgbClr val="3450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39DD4E-B954-4B58-9708-DADE5F0FCE00}"/>
              </a:ext>
            </a:extLst>
          </p:cNvPr>
          <p:cNvSpPr>
            <a:spLocks noGrp="1"/>
          </p:cNvSpPr>
          <p:nvPr/>
        </p:nvSpPr>
        <p:spPr>
          <a:xfrm>
            <a:off x="8743950" y="942975"/>
            <a:ext cx="2343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7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DESKTOP OPERATOR CONSOLE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4C7C90-937B-47CC-8EEF-6357B338831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apps/desktop, apps/cli, apps/mcp-server, shared-skills package, and Appwrite service.</a:t>
            </a:r>
          </a:p>
        </p:txBody>
      </p:sp>
    </p:spTree>
    <p:extLst>
      <p:ext uri="{BB962C8B-B14F-4D97-AF65-F5344CB8AC3E}">
        <p14:creationId xmlns:p14="http://schemas.microsoft.com/office/powerpoint/2010/main" val="1157471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42ADC48-7A8A-4D73-8ECB-0C4AED0146C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MATURITY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0027DB-F21D-4159-8EC6-01C539FEE82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6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The core path is ahead of external proof and distribution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454383-19EF-40D0-A1E3-D96E5795744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966F45-1A48-46B5-8114-991A0CC9240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A useful release conversation distinguishes implemented behavior from integration-ready and gated work.</a:t>
            </a:r>
          </a:p>
        </p:txBody>
      </p:sp>
      <p:graphicFrame>
        <p:nvGraphicFramePr>
          <p:cNvPr id="15" name="表格 12"/>
          <p:cNvGraphicFramePr/>
          <p:nvPr/>
        </p:nvGraphicFramePr>
        <p:xfrm>
          <a:off x="609600" y="1809750"/>
          <a:ext cx="10744200" cy="3619497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07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</a:rPr>
                        <a:t>Capability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</a:rPr>
                        <a:t>Assessment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</a:rPr>
                        <a:t>Evidence / remaining work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Fast Path browser execution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759E20"/>
                          </a:solidFill>
                          <a:latin typeface="Aharoni"/>
                          <a:ea typeface="Aharoni"/>
                          <a:cs typeface="Aharoni"/>
                        </a:rPr>
                        <a:t>IMPLEMENTED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Direct SDK, policy, verifier, trace, tests</a:t>
                      </a:r>
                    </a:p>
                  </a:txBody>
                  <a:tcPr marL="114300" marR="114300" marT="85725" marB="8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Security + approvals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759E20"/>
                          </a:solidFill>
                          <a:latin typeface="Aharoni"/>
                          <a:ea typeface="Aharoni"/>
                          <a:cs typeface="Aharoni"/>
                        </a:rPr>
                        <a:t>IMPLEMENTED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Exact-action signing, replay checks, redaction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Desktop control center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80C6"/>
                          </a:solidFill>
                          <a:latin typeface="Aharoni"/>
                          <a:ea typeface="Aharoni"/>
                          <a:cs typeface="Aharoni"/>
                        </a:rPr>
                        <a:t>EVOLVING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Build passes; distribution evidence still gated</a:t>
                      </a:r>
                    </a:p>
                  </a:txBody>
                  <a:tcPr marL="114300" marR="114300" marT="85725" marB="8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BrowserPool / workflows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80C6"/>
                          </a:solidFill>
                          <a:latin typeface="Aharoni"/>
                          <a:ea typeface="Aharoni"/>
                          <a:cs typeface="Aharoni"/>
                        </a:rPr>
                        <a:t>INTEGRATION-READY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Caller owns lifecycle, workers, secrets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External benchmark publication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69A37"/>
                          </a:solidFill>
                          <a:latin typeface="Aharoni"/>
                          <a:ea typeface="Aharoni"/>
                          <a:cs typeface="Aharoni"/>
                        </a:rPr>
                        <a:t>GATED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No eligible public submission result</a:t>
                      </a:r>
                    </a:p>
                  </a:txBody>
                  <a:tcPr marL="114300" marR="114300" marT="85725" marB="8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Screenshot/custom verifiers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69A37"/>
                          </a:solidFill>
                          <a:latin typeface="Aharoni"/>
                          <a:ea typeface="Aharoni"/>
                          <a:cs typeface="Aharoni"/>
                        </a:rPr>
                        <a:t>KNOWN GAP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Not available in verifier v0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圓角矩形 5">
            <a:extLst>
              <a:ext uri="{FF2B5EF4-FFF2-40B4-BE49-F238E27FC236}">
                <a16:creationId xmlns:a16="http://schemas.microsoft.com/office/drawing/2014/main" id="{DA090BA1-4656-46CF-9D0F-3CB5F55CDBFD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744200" cy="495300"/>
          </a:xfrm>
          <a:prstGeom prst="roundRect">
            <a:avLst>
              <a:gd name="adj" fmla="val 23077"/>
            </a:avLst>
          </a:prstGeom>
          <a:solidFill>
            <a:srgbClr val="FFF3E4"/>
          </a:solidFill>
          <a:ln w="9525">
            <a:solidFill>
              <a:srgbClr val="E9C2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7881C3-7281-4D96-B24D-699A9C31E6C1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1036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 i="0">
                <a:solidFill>
                  <a:srgbClr val="88551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85513"/>
                </a:solidFill>
                <a:latin typeface="Aharoni"/>
                <a:ea typeface="Aharoni"/>
                <a:cs typeface="Aharoni"/>
              </a:rPr>
              <a:t>Release truth is split: npm latest 0.1.1; local docs describe 0.1.2 CLI RC and desktop 0.1.4 development build.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740C3A-9CC6-40E6-A245-22CF3C9AA32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28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local source/tests, release-status and production-readiness docs; npm registry metadata observed 20 Jul 2026.</a:t>
            </a:r>
          </a:p>
        </p:txBody>
      </p:sp>
    </p:spTree>
    <p:extLst>
      <p:ext uri="{BB962C8B-B14F-4D97-AF65-F5344CB8AC3E}">
        <p14:creationId xmlns:p14="http://schemas.microsoft.com/office/powerpoint/2010/main" val="1721277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E9C49E6-238F-48B0-8DBA-A70ACD5D1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2C7D7"/>
          </a:solidFill>
          <a:ln w="0">
            <a:solidFill>
              <a:srgbClr val="22C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C136C-C034-48F2-81D8-BD848ADCDBE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THE POSITION TO OWN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E0D2D0-4D13-4DD9-9A72-45F2C4609EA5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5429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Local execution</a:t>
            </a:r>
          </a:p>
          <a:p>
            <a:pPr algn="l"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with proof.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9791EA-D854-492E-A6BB-29370CF3D4BB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5238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BECC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ECCDE"/>
                </a:solidFill>
                <a:latin typeface="Aharoni"/>
                <a:ea typeface="Aharoni"/>
                <a:cs typeface="Aharoni"/>
              </a:rPr>
              <a:t>LHIC is strongest as a secure execution substrate—where policy, human authority, deterministic automation, verification, and audit evidence decide what actually happened.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D0E25745-F9E2-4E9C-B89D-15F88F2F1693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371600" cy="304800"/>
          </a:xfrm>
          <a:prstGeom prst="roundRect">
            <a:avLst>
              <a:gd name="adj" fmla="val 37500"/>
            </a:avLst>
          </a:prstGeom>
          <a:solidFill>
            <a:srgbClr val="1D3150"/>
          </a:solidFill>
          <a:ln w="9525">
            <a:solidFill>
              <a:srgbClr val="4F63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3C6DAD-3FF1-4279-B647-5C060C0F7411}"/>
              </a:ext>
            </a:extLst>
          </p:cNvPr>
          <p:cNvSpPr>
            <a:spLocks noGrp="1"/>
          </p:cNvSpPr>
          <p:nvPr/>
        </p:nvSpPr>
        <p:spPr>
          <a:xfrm>
            <a:off x="781050" y="5210175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25" b="1" i="0">
                <a:solidFill>
                  <a:srgbClr val="B7C6D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7C6D8"/>
                </a:solidFill>
                <a:latin typeface="Aharoni"/>
                <a:ea typeface="Aharoni"/>
                <a:cs typeface="Aharoni"/>
              </a:rPr>
              <a:t>NO SOTA CLAIM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C9E81147-B7BF-4E44-A394-9AC736F61F67}"/>
              </a:ext>
            </a:extLst>
          </p:cNvPr>
          <p:cNvSpPr>
            <a:spLocks noGrp="1"/>
          </p:cNvSpPr>
          <p:nvPr/>
        </p:nvSpPr>
        <p:spPr>
          <a:xfrm>
            <a:off x="2190750" y="5143500"/>
            <a:ext cx="2324100" cy="304800"/>
          </a:xfrm>
          <a:prstGeom prst="roundRect">
            <a:avLst>
              <a:gd name="adj" fmla="val 37500"/>
            </a:avLst>
          </a:prstGeom>
          <a:solidFill>
            <a:srgbClr val="F0F8DF"/>
          </a:solidFill>
          <a:ln w="0">
            <a:solidFill>
              <a:srgbClr val="F0F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439330-847F-4A7E-BA75-9D56B2E4676C}"/>
              </a:ext>
            </a:extLst>
          </p:cNvPr>
          <p:cNvSpPr>
            <a:spLocks noGrp="1"/>
          </p:cNvSpPr>
          <p:nvPr/>
        </p:nvSpPr>
        <p:spPr>
          <a:xfrm>
            <a:off x="2286000" y="5210175"/>
            <a:ext cx="2133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STRONG INTERNAL INVARIANTS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6FD122-AC85-42B6-B1DB-683EE9E7CA2B}"/>
              </a:ext>
            </a:extLst>
          </p:cNvPr>
          <p:cNvSpPr>
            <a:spLocks noGrp="1"/>
          </p:cNvSpPr>
          <p:nvPr/>
        </p:nvSpPr>
        <p:spPr>
          <a:xfrm>
            <a:off x="6705600" y="762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NEXT 90 DAYS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B53E6978-E094-4DD2-91A0-E3885D94E071}"/>
              </a:ext>
            </a:extLst>
          </p:cNvPr>
          <p:cNvSpPr>
            <a:spLocks noGrp="1"/>
          </p:cNvSpPr>
          <p:nvPr/>
        </p:nvSpPr>
        <p:spPr>
          <a:xfrm>
            <a:off x="6515100" y="1333500"/>
            <a:ext cx="4838700" cy="1200150"/>
          </a:xfrm>
          <a:prstGeom prst="roundRect">
            <a:avLst>
              <a:gd name="adj" fmla="val 9524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361440-C9BA-447D-A36E-02E59074978A}"/>
              </a:ext>
            </a:extLst>
          </p:cNvPr>
          <p:cNvSpPr>
            <a:spLocks noGrp="1"/>
          </p:cNvSpPr>
          <p:nvPr/>
        </p:nvSpPr>
        <p:spPr>
          <a:xfrm>
            <a:off x="6762750" y="15716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A4078D-D80C-488E-9E66-3CE2EAF14A2B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External evaluation pack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18B6E7-D1E3-499D-BFB6-BA039EA833BA}"/>
              </a:ext>
            </a:extLst>
          </p:cNvPr>
          <p:cNvSpPr>
            <a:spLocks noGrp="1"/>
          </p:cNvSpPr>
          <p:nvPr/>
        </p:nvSpPr>
        <p:spPr>
          <a:xfrm>
            <a:off x="7391400" y="192405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Pinned BrowserGym/WorkArena harness, traces, and failure taxonomy.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B10A04B4-2606-44ED-B388-6F7C775E0E26}"/>
              </a:ext>
            </a:extLst>
          </p:cNvPr>
          <p:cNvSpPr>
            <a:spLocks noGrp="1"/>
          </p:cNvSpPr>
          <p:nvPr/>
        </p:nvSpPr>
        <p:spPr>
          <a:xfrm>
            <a:off x="6515100" y="2762250"/>
            <a:ext cx="4838700" cy="1200150"/>
          </a:xfrm>
          <a:prstGeom prst="roundRect">
            <a:avLst>
              <a:gd name="adj" fmla="val 9524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805F92-28FB-49B1-A830-568F6B33F39D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2935A8-99BB-4FCA-B4EB-ADFB1A1BF734}"/>
              </a:ext>
            </a:extLst>
          </p:cNvPr>
          <p:cNvSpPr>
            <a:spLocks noGrp="1"/>
          </p:cNvSpPr>
          <p:nvPr/>
        </p:nvSpPr>
        <p:spPr>
          <a:xfrm>
            <a:off x="7391400" y="29718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Verifier challenge set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469259-68F3-4813-9099-1FA31ABF094A}"/>
              </a:ext>
            </a:extLst>
          </p:cNvPr>
          <p:cNvSpPr>
            <a:spLocks noGrp="1"/>
          </p:cNvSpPr>
          <p:nvPr/>
        </p:nvSpPr>
        <p:spPr>
          <a:xfrm>
            <a:off x="7391400" y="335280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False-positive and false-negative tests by postcondition family.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52BE5E79-7116-49CC-9B0E-5873E9499B8A}"/>
              </a:ext>
            </a:extLst>
          </p:cNvPr>
          <p:cNvSpPr>
            <a:spLocks noGrp="1"/>
          </p:cNvSpPr>
          <p:nvPr/>
        </p:nvSpPr>
        <p:spPr>
          <a:xfrm>
            <a:off x="6515100" y="4191000"/>
            <a:ext cx="4838700" cy="1200150"/>
          </a:xfrm>
          <a:prstGeom prst="roundRect">
            <a:avLst>
              <a:gd name="adj" fmla="val 9524"/>
            </a:avLst>
          </a:prstGeom>
          <a:solidFill>
            <a:srgbClr val="0D2340"/>
          </a:solidFill>
          <a:ln w="9525">
            <a:solidFill>
              <a:srgbClr val="2940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10B0CE-F0B9-4351-9FA1-0D5B96BA6F75}"/>
              </a:ext>
            </a:extLst>
          </p:cNvPr>
          <p:cNvSpPr>
            <a:spLocks noGrp="1"/>
          </p:cNvSpPr>
          <p:nvPr/>
        </p:nvSpPr>
        <p:spPr>
          <a:xfrm>
            <a:off x="6762750" y="44291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37FE32-8FF4-4717-ABD2-42CE06A0D897}"/>
              </a:ext>
            </a:extLst>
          </p:cNvPr>
          <p:cNvSpPr>
            <a:spLocks noGrp="1"/>
          </p:cNvSpPr>
          <p:nvPr/>
        </p:nvSpPr>
        <p:spPr>
          <a:xfrm>
            <a:off x="7391400" y="44005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Harmonized release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8958A0-954E-4095-8FF0-C6CA1532EB08}"/>
              </a:ext>
            </a:extLst>
          </p:cNvPr>
          <p:cNvSpPr>
            <a:spLocks noGrp="1"/>
          </p:cNvSpPr>
          <p:nvPr/>
        </p:nvSpPr>
        <p:spPr>
          <a:xfrm>
            <a:off x="7391400" y="478155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One version matrix plus signed/notarized desktop evidence.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4071FC-2FD8-486D-9D96-96CF63DD6449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F94AD"/>
                </a:solidFill>
                <a:latin typeface="Aharoni"/>
                <a:ea typeface="Aharoni"/>
                <a:cs typeface="Aharoni"/>
              </a:rPr>
              <a:t>Deep research based on the current working tree • 20 July 2026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397112-5658-4CB4-89F7-B97824A97F44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F94AD"/>
                </a:solidFill>
                <a:latin typeface="Aharoni"/>
                <a:ea typeface="Aharoni"/>
                <a:cs typeface="Aharon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1025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1945</Words>
  <Application>Microsoft Macintosh PowerPoint</Application>
  <DocSecurity>0</DocSecurity>
  <PresentationFormat>寬螢幕</PresentationFormat>
  <Paragraphs>339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Aharoni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 cheng</cp:lastModifiedBy>
  <cp:revision>3</cp:revision>
  <dcterms:created xsi:type="dcterms:W3CDTF">2026-07-20T12:24:41Z</dcterms:created>
  <dcterms:modified xsi:type="dcterms:W3CDTF">2026-07-21T19:00:46Z</dcterms:modified>
</cp:coreProperties>
</file>